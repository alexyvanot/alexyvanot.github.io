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1"/>
  </p:notesMasterIdLst>
  <p:sldIdLst>
    <p:sldId id="256" r:id="rId2"/>
    <p:sldId id="257" r:id="rId3"/>
    <p:sldId id="258" r:id="rId4"/>
    <p:sldId id="259" r:id="rId5"/>
    <p:sldId id="260" r:id="rId6"/>
    <p:sldId id="303" r:id="rId7"/>
    <p:sldId id="304" r:id="rId8"/>
    <p:sldId id="301" r:id="rId9"/>
    <p:sldId id="302" r:id="rId10"/>
    <p:sldId id="261" r:id="rId11"/>
    <p:sldId id="262" r:id="rId12"/>
    <p:sldId id="263" r:id="rId13"/>
    <p:sldId id="264" r:id="rId14"/>
    <p:sldId id="265" r:id="rId15"/>
    <p:sldId id="266" r:id="rId16"/>
    <p:sldId id="267" r:id="rId17"/>
    <p:sldId id="268" r:id="rId18"/>
    <p:sldId id="269" r:id="rId19"/>
    <p:sldId id="270" r:id="rId20"/>
    <p:sldId id="276" r:id="rId21"/>
    <p:sldId id="300" r:id="rId22"/>
    <p:sldId id="271" r:id="rId23"/>
    <p:sldId id="272" r:id="rId24"/>
    <p:sldId id="273" r:id="rId25"/>
    <p:sldId id="274" r:id="rId26"/>
    <p:sldId id="275" r:id="rId27"/>
    <p:sldId id="277" r:id="rId28"/>
    <p:sldId id="278" r:id="rId29"/>
    <p:sldId id="279" r:id="rId30"/>
    <p:sldId id="299" r:id="rId31"/>
    <p:sldId id="280" r:id="rId32"/>
    <p:sldId id="281" r:id="rId33"/>
    <p:sldId id="282" r:id="rId34"/>
    <p:sldId id="283" r:id="rId35"/>
    <p:sldId id="284" r:id="rId36"/>
    <p:sldId id="285" r:id="rId37"/>
    <p:sldId id="286" r:id="rId38"/>
    <p:sldId id="298" r:id="rId39"/>
    <p:sldId id="287" r:id="rId40"/>
    <p:sldId id="288" r:id="rId41"/>
    <p:sldId id="289" r:id="rId42"/>
    <p:sldId id="290" r:id="rId43"/>
    <p:sldId id="291" r:id="rId44"/>
    <p:sldId id="292" r:id="rId45"/>
    <p:sldId id="293" r:id="rId46"/>
    <p:sldId id="294" r:id="rId47"/>
    <p:sldId id="295" r:id="rId48"/>
    <p:sldId id="296" r:id="rId49"/>
    <p:sldId id="29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06E1F-0B07-382D-D33E-4E3BAC4875AB}" v="24" dt="2026-07-22T22:57:43.163"/>
    <p1510:client id="{24CA24CA-0025-CB27-AD7E-012F4669656B}" v="29" dt="2026-07-23T06:48:24.109"/>
    <p1510:client id="{322686DB-0F3F-41B0-DE74-973EE8BCF32D}" v="35" dt="2026-07-22T23:28:07.432"/>
    <p1510:client id="{54A01310-F8AA-1F0E-30D2-2DEBF6ACEB54}" v="4" dt="2026-07-23T05:50:01.568"/>
    <p1510:client id="{6CC445D0-051E-4BE0-9A63-6358DF4EFF88}" v="2" dt="2026-07-23T08:18:49.612"/>
    <p1510:client id="{7AB33B4A-9DEE-E2EE-A141-8F1084DCA9BF}" v="194" dt="2026-07-22T17:41:45.560"/>
    <p1510:client id="{9293237D-A30C-AE25-511F-319EBEFC9480}" v="308" dt="2026-07-23T05:40:15.3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52" y="5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856285-CEDB-48D7-8B17-FEF1DE8FE991}"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6028B9F1-2774-43AB-AA04-BB5B00BE9C91}">
      <dgm:prSet/>
      <dgm:spPr/>
      <dgm:t>
        <a:bodyPr/>
        <a:lstStyle/>
        <a:p>
          <a:r>
            <a:rPr lang="en-US"/>
            <a:t>I.  Le socle technique</a:t>
          </a:r>
        </a:p>
      </dgm:t>
    </dgm:pt>
    <dgm:pt modelId="{521A4382-218A-4EF5-B360-E66E94D5EBC4}" type="parTrans" cxnId="{C4B5DED3-4369-4A95-8D14-D7248B6C2E28}">
      <dgm:prSet/>
      <dgm:spPr/>
      <dgm:t>
        <a:bodyPr/>
        <a:lstStyle/>
        <a:p>
          <a:endParaRPr lang="en-US"/>
        </a:p>
      </dgm:t>
    </dgm:pt>
    <dgm:pt modelId="{2E235976-99A6-407A-B9F4-0C28BEF2DB98}" type="sibTrans" cxnId="{C4B5DED3-4369-4A95-8D14-D7248B6C2E28}">
      <dgm:prSet/>
      <dgm:spPr/>
      <dgm:t>
        <a:bodyPr/>
        <a:lstStyle/>
        <a:p>
          <a:endParaRPr lang="en-US"/>
        </a:p>
      </dgm:t>
    </dgm:pt>
    <dgm:pt modelId="{403B5632-E975-4065-B60C-AF800153E2C3}">
      <dgm:prSet/>
      <dgm:spPr/>
      <dgm:t>
        <a:bodyPr/>
        <a:lstStyle/>
        <a:p>
          <a:r>
            <a:rPr lang="en-US"/>
            <a:t>A. Mes compétences techniques</a:t>
          </a:r>
        </a:p>
      </dgm:t>
    </dgm:pt>
    <dgm:pt modelId="{277993A3-A020-4BCD-A46F-26EB35A27B06}" type="parTrans" cxnId="{AB0F8CCD-C900-4F6B-B962-63375F405142}">
      <dgm:prSet/>
      <dgm:spPr/>
      <dgm:t>
        <a:bodyPr/>
        <a:lstStyle/>
        <a:p>
          <a:endParaRPr lang="en-US"/>
        </a:p>
      </dgm:t>
    </dgm:pt>
    <dgm:pt modelId="{BCA80774-9EA2-4E59-BEA6-2839B2B672EB}" type="sibTrans" cxnId="{AB0F8CCD-C900-4F6B-B962-63375F405142}">
      <dgm:prSet/>
      <dgm:spPr/>
      <dgm:t>
        <a:bodyPr/>
        <a:lstStyle/>
        <a:p>
          <a:endParaRPr lang="en-US"/>
        </a:p>
      </dgm:t>
    </dgm:pt>
    <dgm:pt modelId="{98A71770-0BC1-4E5D-8C3A-EA59DF6C7EB4}">
      <dgm:prSet/>
      <dgm:spPr/>
      <dgm:t>
        <a:bodyPr/>
        <a:lstStyle/>
        <a:p>
          <a:r>
            <a:rPr lang="en-US"/>
            <a:t>B. L'exigence de qualité</a:t>
          </a:r>
        </a:p>
      </dgm:t>
    </dgm:pt>
    <dgm:pt modelId="{DFC23BD3-CCB0-447C-A7DB-7AE9689958DD}" type="parTrans" cxnId="{E8773496-6075-416A-8982-D7CB3B87B684}">
      <dgm:prSet/>
      <dgm:spPr/>
      <dgm:t>
        <a:bodyPr/>
        <a:lstStyle/>
        <a:p>
          <a:endParaRPr lang="en-US"/>
        </a:p>
      </dgm:t>
    </dgm:pt>
    <dgm:pt modelId="{2D947947-23A8-4904-B31A-DB2F3E79BF16}" type="sibTrans" cxnId="{E8773496-6075-416A-8982-D7CB3B87B684}">
      <dgm:prSet/>
      <dgm:spPr/>
      <dgm:t>
        <a:bodyPr/>
        <a:lstStyle/>
        <a:p>
          <a:endParaRPr lang="en-US"/>
        </a:p>
      </dgm:t>
    </dgm:pt>
    <dgm:pt modelId="{89FC8F86-4A3D-4B12-9C1F-BFCC8683E340}">
      <dgm:prSet/>
      <dgm:spPr/>
      <dgm:t>
        <a:bodyPr/>
        <a:lstStyle/>
        <a:p>
          <a:r>
            <a:rPr lang="en-US"/>
            <a:t>II.  La dimension humaine</a:t>
          </a:r>
        </a:p>
      </dgm:t>
    </dgm:pt>
    <dgm:pt modelId="{C806AED1-EFC2-493B-BFE6-A31987FF6D43}" type="parTrans" cxnId="{7269CCD6-6131-4B53-A64E-73A6D58F6F61}">
      <dgm:prSet/>
      <dgm:spPr/>
      <dgm:t>
        <a:bodyPr/>
        <a:lstStyle/>
        <a:p>
          <a:endParaRPr lang="en-US"/>
        </a:p>
      </dgm:t>
    </dgm:pt>
    <dgm:pt modelId="{D1E3FAC1-0E38-4088-BCEA-414CE9AFE594}" type="sibTrans" cxnId="{7269CCD6-6131-4B53-A64E-73A6D58F6F61}">
      <dgm:prSet/>
      <dgm:spPr/>
      <dgm:t>
        <a:bodyPr/>
        <a:lstStyle/>
        <a:p>
          <a:endParaRPr lang="en-US"/>
        </a:p>
      </dgm:t>
    </dgm:pt>
    <dgm:pt modelId="{C7D1D6C6-2168-4A53-A5CB-AB764FCE51A7}">
      <dgm:prSet/>
      <dgm:spPr/>
      <dgm:t>
        <a:bodyPr/>
        <a:lstStyle/>
        <a:p>
          <a:r>
            <a:rPr lang="en-US"/>
            <a:t>A. Analyse du besoin</a:t>
          </a:r>
        </a:p>
      </dgm:t>
    </dgm:pt>
    <dgm:pt modelId="{477FAD50-3C0B-4A89-9B72-D58949D70F6C}" type="parTrans" cxnId="{6225E8D2-043C-448D-A17E-5ACEEA87289F}">
      <dgm:prSet/>
      <dgm:spPr/>
      <dgm:t>
        <a:bodyPr/>
        <a:lstStyle/>
        <a:p>
          <a:endParaRPr lang="en-US"/>
        </a:p>
      </dgm:t>
    </dgm:pt>
    <dgm:pt modelId="{0DD2136E-4D28-4F2F-8530-35CE14CEFBFF}" type="sibTrans" cxnId="{6225E8D2-043C-448D-A17E-5ACEEA87289F}">
      <dgm:prSet/>
      <dgm:spPr/>
      <dgm:t>
        <a:bodyPr/>
        <a:lstStyle/>
        <a:p>
          <a:endParaRPr lang="en-US"/>
        </a:p>
      </dgm:t>
    </dgm:pt>
    <dgm:pt modelId="{BED744BB-2826-4748-9348-624E17C02F61}">
      <dgm:prSet/>
      <dgm:spPr/>
      <dgm:t>
        <a:bodyPr/>
        <a:lstStyle/>
        <a:p>
          <a:r>
            <a:rPr lang="en-US"/>
            <a:t>B. Gestion de projet et agilité</a:t>
          </a:r>
        </a:p>
      </dgm:t>
    </dgm:pt>
    <dgm:pt modelId="{B5FA0416-2C7B-44C2-A016-CE44FED89D27}" type="parTrans" cxnId="{6F7B4C9E-FC42-4C4D-921C-0D323F56F611}">
      <dgm:prSet/>
      <dgm:spPr/>
      <dgm:t>
        <a:bodyPr/>
        <a:lstStyle/>
        <a:p>
          <a:endParaRPr lang="en-US"/>
        </a:p>
      </dgm:t>
    </dgm:pt>
    <dgm:pt modelId="{8D817F90-FC50-43F8-82A6-57FBE83CCA6A}" type="sibTrans" cxnId="{6F7B4C9E-FC42-4C4D-921C-0D323F56F611}">
      <dgm:prSet/>
      <dgm:spPr/>
      <dgm:t>
        <a:bodyPr/>
        <a:lstStyle/>
        <a:p>
          <a:endParaRPr lang="en-US"/>
        </a:p>
      </dgm:t>
    </dgm:pt>
    <dgm:pt modelId="{20EE01C5-8A58-4ED3-A6EA-AE2028CA3A51}">
      <dgm:prSet/>
      <dgm:spPr/>
      <dgm:t>
        <a:bodyPr/>
        <a:lstStyle/>
        <a:p>
          <a:r>
            <a:rPr lang="en-US"/>
            <a:t>C. Projet d'interconnexion</a:t>
          </a:r>
        </a:p>
      </dgm:t>
    </dgm:pt>
    <dgm:pt modelId="{D8C7FD78-3C11-4584-9730-F4C3B6E34E06}" type="parTrans" cxnId="{34282088-0A6B-4348-9BE2-C67D0A94A89A}">
      <dgm:prSet/>
      <dgm:spPr/>
      <dgm:t>
        <a:bodyPr/>
        <a:lstStyle/>
        <a:p>
          <a:endParaRPr lang="en-US"/>
        </a:p>
      </dgm:t>
    </dgm:pt>
    <dgm:pt modelId="{EBF91260-6E45-4C31-AB14-ECFD6E19CD13}" type="sibTrans" cxnId="{34282088-0A6B-4348-9BE2-C67D0A94A89A}">
      <dgm:prSet/>
      <dgm:spPr/>
      <dgm:t>
        <a:bodyPr/>
        <a:lstStyle/>
        <a:p>
          <a:endParaRPr lang="en-US"/>
        </a:p>
      </dgm:t>
    </dgm:pt>
    <dgm:pt modelId="{6717D02F-9FB5-4CA6-B117-2860C0A7E2FA}">
      <dgm:prSet/>
      <dgm:spPr/>
      <dgm:t>
        <a:bodyPr/>
        <a:lstStyle/>
        <a:p>
          <a:r>
            <a:rPr lang="en-US"/>
            <a:t>III.  Arbitrer et décider</a:t>
          </a:r>
        </a:p>
      </dgm:t>
    </dgm:pt>
    <dgm:pt modelId="{50484584-ABF0-48ED-98CC-246A22955C77}" type="parTrans" cxnId="{521DD702-54BC-40B7-957E-B7A293B3492E}">
      <dgm:prSet/>
      <dgm:spPr/>
      <dgm:t>
        <a:bodyPr/>
        <a:lstStyle/>
        <a:p>
          <a:endParaRPr lang="en-US"/>
        </a:p>
      </dgm:t>
    </dgm:pt>
    <dgm:pt modelId="{3CB35AF1-8555-47FC-8C3C-DE063ADC045E}" type="sibTrans" cxnId="{521DD702-54BC-40B7-957E-B7A293B3492E}">
      <dgm:prSet/>
      <dgm:spPr/>
      <dgm:t>
        <a:bodyPr/>
        <a:lstStyle/>
        <a:p>
          <a:endParaRPr lang="en-US"/>
        </a:p>
      </dgm:t>
    </dgm:pt>
    <dgm:pt modelId="{A4E34E3C-7964-4C74-840B-C8104CEAC929}">
      <dgm:prSet/>
      <dgm:spPr/>
      <dgm:t>
        <a:bodyPr/>
        <a:lstStyle/>
        <a:p>
          <a:r>
            <a:rPr lang="en-US"/>
            <a:t>A. L'étude de faisabilité</a:t>
          </a:r>
        </a:p>
      </dgm:t>
    </dgm:pt>
    <dgm:pt modelId="{1D835B7F-E675-4003-99B3-B3415410B7C4}" type="parTrans" cxnId="{96BB29AA-4ACD-4A75-9A34-364A850ECCFB}">
      <dgm:prSet/>
      <dgm:spPr/>
      <dgm:t>
        <a:bodyPr/>
        <a:lstStyle/>
        <a:p>
          <a:endParaRPr lang="en-US"/>
        </a:p>
      </dgm:t>
    </dgm:pt>
    <dgm:pt modelId="{294A6829-40BB-416B-A7A5-1E16B8BD60DB}" type="sibTrans" cxnId="{96BB29AA-4ACD-4A75-9A34-364A850ECCFB}">
      <dgm:prSet/>
      <dgm:spPr/>
      <dgm:t>
        <a:bodyPr/>
        <a:lstStyle/>
        <a:p>
          <a:endParaRPr lang="en-US"/>
        </a:p>
      </dgm:t>
    </dgm:pt>
    <dgm:pt modelId="{55BA2CC3-9B27-4D4A-90F6-FBA834C10D01}">
      <dgm:prSet/>
      <dgm:spPr/>
      <dgm:t>
        <a:bodyPr/>
        <a:lstStyle/>
        <a:p>
          <a:r>
            <a:rPr lang="en-US"/>
            <a:t>B. Décider de façon responsable</a:t>
          </a:r>
        </a:p>
      </dgm:t>
    </dgm:pt>
    <dgm:pt modelId="{1DD779D2-E14F-4F0B-8B3F-B9885B440A6D}" type="parTrans" cxnId="{0FCBC043-421D-4070-ABC6-9E1ED849E6E8}">
      <dgm:prSet/>
      <dgm:spPr/>
      <dgm:t>
        <a:bodyPr/>
        <a:lstStyle/>
        <a:p>
          <a:endParaRPr lang="en-US"/>
        </a:p>
      </dgm:t>
    </dgm:pt>
    <dgm:pt modelId="{30F529B2-A0C3-495C-A53A-4A79A2ABC170}" type="sibTrans" cxnId="{0FCBC043-421D-4070-ABC6-9E1ED849E6E8}">
      <dgm:prSet/>
      <dgm:spPr/>
      <dgm:t>
        <a:bodyPr/>
        <a:lstStyle/>
        <a:p>
          <a:endParaRPr lang="en-US"/>
        </a:p>
      </dgm:t>
    </dgm:pt>
    <dgm:pt modelId="{44217BC8-E130-49D7-B33B-809F4FC2C740}">
      <dgm:prSet/>
      <dgm:spPr/>
      <dgm:t>
        <a:bodyPr/>
        <a:lstStyle/>
        <a:p>
          <a:r>
            <a:rPr lang="en-US"/>
            <a:t>IV.  Une approche durable</a:t>
          </a:r>
        </a:p>
      </dgm:t>
    </dgm:pt>
    <dgm:pt modelId="{420524D2-FD88-4117-8708-0FB94FDA13A8}" type="parTrans" cxnId="{9E7E1238-C668-4B45-8896-9FCC94EE526F}">
      <dgm:prSet/>
      <dgm:spPr/>
      <dgm:t>
        <a:bodyPr/>
        <a:lstStyle/>
        <a:p>
          <a:endParaRPr lang="en-US"/>
        </a:p>
      </dgm:t>
    </dgm:pt>
    <dgm:pt modelId="{2D95CDA8-D5DF-4C32-B3D5-1FF4EE8AB2FC}" type="sibTrans" cxnId="{9E7E1238-C668-4B45-8896-9FCC94EE526F}">
      <dgm:prSet/>
      <dgm:spPr/>
      <dgm:t>
        <a:bodyPr/>
        <a:lstStyle/>
        <a:p>
          <a:endParaRPr lang="en-US"/>
        </a:p>
      </dgm:t>
    </dgm:pt>
    <dgm:pt modelId="{60D6942F-C35B-449D-8296-A8D4FDF08141}">
      <dgm:prSet/>
      <dgm:spPr/>
      <dgm:t>
        <a:bodyPr/>
        <a:lstStyle/>
        <a:p>
          <a:r>
            <a:rPr lang="en-US"/>
            <a:t>A. Sobriété numérique</a:t>
          </a:r>
        </a:p>
      </dgm:t>
    </dgm:pt>
    <dgm:pt modelId="{CDBDAB0D-43C6-4183-A207-C40F5A059A79}" type="parTrans" cxnId="{5CD9ADDA-1DC0-4838-A018-867B92BEFBAC}">
      <dgm:prSet/>
      <dgm:spPr/>
      <dgm:t>
        <a:bodyPr/>
        <a:lstStyle/>
        <a:p>
          <a:endParaRPr lang="en-US"/>
        </a:p>
      </dgm:t>
    </dgm:pt>
    <dgm:pt modelId="{91944A14-5767-45D0-834B-5AEB50F3FB93}" type="sibTrans" cxnId="{5CD9ADDA-1DC0-4838-A018-867B92BEFBAC}">
      <dgm:prSet/>
      <dgm:spPr/>
      <dgm:t>
        <a:bodyPr/>
        <a:lstStyle/>
        <a:p>
          <a:endParaRPr lang="en-US"/>
        </a:p>
      </dgm:t>
    </dgm:pt>
    <dgm:pt modelId="{FD0714FB-E765-4C06-9551-9A780E78870C}">
      <dgm:prSet/>
      <dgm:spPr/>
      <dgm:t>
        <a:bodyPr/>
        <a:lstStyle/>
        <a:p>
          <a:r>
            <a:rPr lang="en-US"/>
            <a:t>B. L'approche cyclique</a:t>
          </a:r>
        </a:p>
      </dgm:t>
    </dgm:pt>
    <dgm:pt modelId="{D3BF30F0-6302-4287-BE25-8605849FD59E}" type="parTrans" cxnId="{EF232057-AA77-4EF7-AB1E-298278A18C2B}">
      <dgm:prSet/>
      <dgm:spPr/>
      <dgm:t>
        <a:bodyPr/>
        <a:lstStyle/>
        <a:p>
          <a:endParaRPr lang="en-US"/>
        </a:p>
      </dgm:t>
    </dgm:pt>
    <dgm:pt modelId="{74615D93-6E88-46F3-8654-08B09A19B7DE}" type="sibTrans" cxnId="{EF232057-AA77-4EF7-AB1E-298278A18C2B}">
      <dgm:prSet/>
      <dgm:spPr/>
      <dgm:t>
        <a:bodyPr/>
        <a:lstStyle/>
        <a:p>
          <a:endParaRPr lang="en-US"/>
        </a:p>
      </dgm:t>
    </dgm:pt>
    <dgm:pt modelId="{FE4545E5-A798-4FFC-ADCE-F16A0665EB9D}" type="pres">
      <dgm:prSet presAssocID="{F2856285-CEDB-48D7-8B17-FEF1DE8FE991}" presName="linear" presStyleCnt="0">
        <dgm:presLayoutVars>
          <dgm:dir/>
          <dgm:animLvl val="lvl"/>
          <dgm:resizeHandles val="exact"/>
        </dgm:presLayoutVars>
      </dgm:prSet>
      <dgm:spPr/>
    </dgm:pt>
    <dgm:pt modelId="{1AEAF246-3413-45D0-B5C0-51D85BE0556E}" type="pres">
      <dgm:prSet presAssocID="{6028B9F1-2774-43AB-AA04-BB5B00BE9C91}" presName="parentLin" presStyleCnt="0"/>
      <dgm:spPr/>
    </dgm:pt>
    <dgm:pt modelId="{4B27703A-528F-4769-8CA0-7921115A1341}" type="pres">
      <dgm:prSet presAssocID="{6028B9F1-2774-43AB-AA04-BB5B00BE9C91}" presName="parentLeftMargin" presStyleLbl="node1" presStyleIdx="0" presStyleCnt="4"/>
      <dgm:spPr/>
    </dgm:pt>
    <dgm:pt modelId="{C4BF63BD-BA80-4F22-81B4-BBAD7987A747}" type="pres">
      <dgm:prSet presAssocID="{6028B9F1-2774-43AB-AA04-BB5B00BE9C91}" presName="parentText" presStyleLbl="node1" presStyleIdx="0" presStyleCnt="4">
        <dgm:presLayoutVars>
          <dgm:chMax val="0"/>
          <dgm:bulletEnabled val="1"/>
        </dgm:presLayoutVars>
      </dgm:prSet>
      <dgm:spPr/>
    </dgm:pt>
    <dgm:pt modelId="{D2062EEC-F2BD-4DC5-8E06-21B77F326DEB}" type="pres">
      <dgm:prSet presAssocID="{6028B9F1-2774-43AB-AA04-BB5B00BE9C91}" presName="negativeSpace" presStyleCnt="0"/>
      <dgm:spPr/>
    </dgm:pt>
    <dgm:pt modelId="{C3DF6E9D-26E8-40DE-9FF3-FEAB93797801}" type="pres">
      <dgm:prSet presAssocID="{6028B9F1-2774-43AB-AA04-BB5B00BE9C91}" presName="childText" presStyleLbl="conFgAcc1" presStyleIdx="0" presStyleCnt="4">
        <dgm:presLayoutVars>
          <dgm:bulletEnabled val="1"/>
        </dgm:presLayoutVars>
      </dgm:prSet>
      <dgm:spPr/>
    </dgm:pt>
    <dgm:pt modelId="{9820228C-7C79-4B30-B791-811FD874FB0D}" type="pres">
      <dgm:prSet presAssocID="{2E235976-99A6-407A-B9F4-0C28BEF2DB98}" presName="spaceBetweenRectangles" presStyleCnt="0"/>
      <dgm:spPr/>
    </dgm:pt>
    <dgm:pt modelId="{E9483CC8-0B10-41ED-873D-7E8EC6886853}" type="pres">
      <dgm:prSet presAssocID="{89FC8F86-4A3D-4B12-9C1F-BFCC8683E340}" presName="parentLin" presStyleCnt="0"/>
      <dgm:spPr/>
    </dgm:pt>
    <dgm:pt modelId="{E819AFD9-0488-41D3-A9DE-CE2171C4BB37}" type="pres">
      <dgm:prSet presAssocID="{89FC8F86-4A3D-4B12-9C1F-BFCC8683E340}" presName="parentLeftMargin" presStyleLbl="node1" presStyleIdx="0" presStyleCnt="4"/>
      <dgm:spPr/>
    </dgm:pt>
    <dgm:pt modelId="{7082C8B9-B5E6-4771-9D42-D1F62E5AD95D}" type="pres">
      <dgm:prSet presAssocID="{89FC8F86-4A3D-4B12-9C1F-BFCC8683E340}" presName="parentText" presStyleLbl="node1" presStyleIdx="1" presStyleCnt="4">
        <dgm:presLayoutVars>
          <dgm:chMax val="0"/>
          <dgm:bulletEnabled val="1"/>
        </dgm:presLayoutVars>
      </dgm:prSet>
      <dgm:spPr/>
    </dgm:pt>
    <dgm:pt modelId="{BB666F37-81A7-4E39-8FF1-52C2DBB2831B}" type="pres">
      <dgm:prSet presAssocID="{89FC8F86-4A3D-4B12-9C1F-BFCC8683E340}" presName="negativeSpace" presStyleCnt="0"/>
      <dgm:spPr/>
    </dgm:pt>
    <dgm:pt modelId="{27F4C142-492C-45AE-BFE7-D047F9F6F0A3}" type="pres">
      <dgm:prSet presAssocID="{89FC8F86-4A3D-4B12-9C1F-BFCC8683E340}" presName="childText" presStyleLbl="conFgAcc1" presStyleIdx="1" presStyleCnt="4">
        <dgm:presLayoutVars>
          <dgm:bulletEnabled val="1"/>
        </dgm:presLayoutVars>
      </dgm:prSet>
      <dgm:spPr/>
    </dgm:pt>
    <dgm:pt modelId="{72E8C34B-4F6C-4963-AD31-647CAB100908}" type="pres">
      <dgm:prSet presAssocID="{D1E3FAC1-0E38-4088-BCEA-414CE9AFE594}" presName="spaceBetweenRectangles" presStyleCnt="0"/>
      <dgm:spPr/>
    </dgm:pt>
    <dgm:pt modelId="{637CA31A-428B-46BE-86AA-56B397715207}" type="pres">
      <dgm:prSet presAssocID="{6717D02F-9FB5-4CA6-B117-2860C0A7E2FA}" presName="parentLin" presStyleCnt="0"/>
      <dgm:spPr/>
    </dgm:pt>
    <dgm:pt modelId="{8C661295-799B-4086-9C43-6E8CDE44508F}" type="pres">
      <dgm:prSet presAssocID="{6717D02F-9FB5-4CA6-B117-2860C0A7E2FA}" presName="parentLeftMargin" presStyleLbl="node1" presStyleIdx="1" presStyleCnt="4"/>
      <dgm:spPr/>
    </dgm:pt>
    <dgm:pt modelId="{E39A99BE-264A-4FFE-9C45-6F32A4D925CF}" type="pres">
      <dgm:prSet presAssocID="{6717D02F-9FB5-4CA6-B117-2860C0A7E2FA}" presName="parentText" presStyleLbl="node1" presStyleIdx="2" presStyleCnt="4">
        <dgm:presLayoutVars>
          <dgm:chMax val="0"/>
          <dgm:bulletEnabled val="1"/>
        </dgm:presLayoutVars>
      </dgm:prSet>
      <dgm:spPr/>
    </dgm:pt>
    <dgm:pt modelId="{EE5F476F-C8D7-4C52-AE5C-DD63E7EAE1D5}" type="pres">
      <dgm:prSet presAssocID="{6717D02F-9FB5-4CA6-B117-2860C0A7E2FA}" presName="negativeSpace" presStyleCnt="0"/>
      <dgm:spPr/>
    </dgm:pt>
    <dgm:pt modelId="{0C2D0FC2-3789-4BED-9151-B569D76C1643}" type="pres">
      <dgm:prSet presAssocID="{6717D02F-9FB5-4CA6-B117-2860C0A7E2FA}" presName="childText" presStyleLbl="conFgAcc1" presStyleIdx="2" presStyleCnt="4">
        <dgm:presLayoutVars>
          <dgm:bulletEnabled val="1"/>
        </dgm:presLayoutVars>
      </dgm:prSet>
      <dgm:spPr/>
    </dgm:pt>
    <dgm:pt modelId="{0B91E30D-6BA8-409F-A162-FD3D5C6BA256}" type="pres">
      <dgm:prSet presAssocID="{3CB35AF1-8555-47FC-8C3C-DE063ADC045E}" presName="spaceBetweenRectangles" presStyleCnt="0"/>
      <dgm:spPr/>
    </dgm:pt>
    <dgm:pt modelId="{64387EFF-4E56-4F31-B48A-83DD224E8ED9}" type="pres">
      <dgm:prSet presAssocID="{44217BC8-E130-49D7-B33B-809F4FC2C740}" presName="parentLin" presStyleCnt="0"/>
      <dgm:spPr/>
    </dgm:pt>
    <dgm:pt modelId="{B51D3BC4-6C04-44E0-AC43-09F2206A57A2}" type="pres">
      <dgm:prSet presAssocID="{44217BC8-E130-49D7-B33B-809F4FC2C740}" presName="parentLeftMargin" presStyleLbl="node1" presStyleIdx="2" presStyleCnt="4"/>
      <dgm:spPr/>
    </dgm:pt>
    <dgm:pt modelId="{97467E21-77F3-4040-A68B-3834CB8AFAF1}" type="pres">
      <dgm:prSet presAssocID="{44217BC8-E130-49D7-B33B-809F4FC2C740}" presName="parentText" presStyleLbl="node1" presStyleIdx="3" presStyleCnt="4">
        <dgm:presLayoutVars>
          <dgm:chMax val="0"/>
          <dgm:bulletEnabled val="1"/>
        </dgm:presLayoutVars>
      </dgm:prSet>
      <dgm:spPr/>
    </dgm:pt>
    <dgm:pt modelId="{5AC4A1C4-E134-4FB5-BEEA-BD293D7BF690}" type="pres">
      <dgm:prSet presAssocID="{44217BC8-E130-49D7-B33B-809F4FC2C740}" presName="negativeSpace" presStyleCnt="0"/>
      <dgm:spPr/>
    </dgm:pt>
    <dgm:pt modelId="{F47A7B56-2ED7-4CBF-ABCB-8FD41DC0597D}" type="pres">
      <dgm:prSet presAssocID="{44217BC8-E130-49D7-B33B-809F4FC2C740}" presName="childText" presStyleLbl="conFgAcc1" presStyleIdx="3" presStyleCnt="4">
        <dgm:presLayoutVars>
          <dgm:bulletEnabled val="1"/>
        </dgm:presLayoutVars>
      </dgm:prSet>
      <dgm:spPr/>
    </dgm:pt>
  </dgm:ptLst>
  <dgm:cxnLst>
    <dgm:cxn modelId="{6A7EF500-3CC5-488F-8CB3-D2B228F5B622}" type="presOf" srcId="{BED744BB-2826-4748-9348-624E17C02F61}" destId="{27F4C142-492C-45AE-BFE7-D047F9F6F0A3}" srcOrd="0" destOrd="1" presId="urn:microsoft.com/office/officeart/2005/8/layout/list1"/>
    <dgm:cxn modelId="{521DD702-54BC-40B7-957E-B7A293B3492E}" srcId="{F2856285-CEDB-48D7-8B17-FEF1DE8FE991}" destId="{6717D02F-9FB5-4CA6-B117-2860C0A7E2FA}" srcOrd="2" destOrd="0" parTransId="{50484584-ABF0-48ED-98CC-246A22955C77}" sibTransId="{3CB35AF1-8555-47FC-8C3C-DE063ADC045E}"/>
    <dgm:cxn modelId="{7D15610C-9441-429D-BD9F-313B1969492A}" type="presOf" srcId="{6717D02F-9FB5-4CA6-B117-2860C0A7E2FA}" destId="{8C661295-799B-4086-9C43-6E8CDE44508F}" srcOrd="0" destOrd="0" presId="urn:microsoft.com/office/officeart/2005/8/layout/list1"/>
    <dgm:cxn modelId="{59101817-70F6-4B52-A87E-6D9C62077DE1}" type="presOf" srcId="{55BA2CC3-9B27-4D4A-90F6-FBA834C10D01}" destId="{0C2D0FC2-3789-4BED-9151-B569D76C1643}" srcOrd="0" destOrd="1" presId="urn:microsoft.com/office/officeart/2005/8/layout/list1"/>
    <dgm:cxn modelId="{B14CF01D-47C7-46B8-B363-C132887C9672}" type="presOf" srcId="{60D6942F-C35B-449D-8296-A8D4FDF08141}" destId="{F47A7B56-2ED7-4CBF-ABCB-8FD41DC0597D}" srcOrd="0" destOrd="0" presId="urn:microsoft.com/office/officeart/2005/8/layout/list1"/>
    <dgm:cxn modelId="{449D1521-4586-461A-82EC-9064573048D3}" type="presOf" srcId="{403B5632-E975-4065-B60C-AF800153E2C3}" destId="{C3DF6E9D-26E8-40DE-9FF3-FEAB93797801}" srcOrd="0" destOrd="0" presId="urn:microsoft.com/office/officeart/2005/8/layout/list1"/>
    <dgm:cxn modelId="{2D14D924-CBCF-4937-A817-CA0B692DA9AF}" type="presOf" srcId="{6028B9F1-2774-43AB-AA04-BB5B00BE9C91}" destId="{4B27703A-528F-4769-8CA0-7921115A1341}" srcOrd="0" destOrd="0" presId="urn:microsoft.com/office/officeart/2005/8/layout/list1"/>
    <dgm:cxn modelId="{2D2ECC34-D801-4D4B-9293-A6C5954F14DB}" type="presOf" srcId="{89FC8F86-4A3D-4B12-9C1F-BFCC8683E340}" destId="{E819AFD9-0488-41D3-A9DE-CE2171C4BB37}" srcOrd="0" destOrd="0" presId="urn:microsoft.com/office/officeart/2005/8/layout/list1"/>
    <dgm:cxn modelId="{9E7E1238-C668-4B45-8896-9FCC94EE526F}" srcId="{F2856285-CEDB-48D7-8B17-FEF1DE8FE991}" destId="{44217BC8-E130-49D7-B33B-809F4FC2C740}" srcOrd="3" destOrd="0" parTransId="{420524D2-FD88-4117-8708-0FB94FDA13A8}" sibTransId="{2D95CDA8-D5DF-4C32-B3D5-1FF4EE8AB2FC}"/>
    <dgm:cxn modelId="{7C9AF738-CAA0-4122-B4B1-8F567C74DABF}" type="presOf" srcId="{6028B9F1-2774-43AB-AA04-BB5B00BE9C91}" destId="{C4BF63BD-BA80-4F22-81B4-BBAD7987A747}" srcOrd="1" destOrd="0" presId="urn:microsoft.com/office/officeart/2005/8/layout/list1"/>
    <dgm:cxn modelId="{B9D07739-8A0F-4FD0-8AFD-67D29B67BE48}" type="presOf" srcId="{C7D1D6C6-2168-4A53-A5CB-AB764FCE51A7}" destId="{27F4C142-492C-45AE-BFE7-D047F9F6F0A3}" srcOrd="0" destOrd="0" presId="urn:microsoft.com/office/officeart/2005/8/layout/list1"/>
    <dgm:cxn modelId="{0FCBC043-421D-4070-ABC6-9E1ED849E6E8}" srcId="{6717D02F-9FB5-4CA6-B117-2860C0A7E2FA}" destId="{55BA2CC3-9B27-4D4A-90F6-FBA834C10D01}" srcOrd="1" destOrd="0" parTransId="{1DD779D2-E14F-4F0B-8B3F-B9885B440A6D}" sibTransId="{30F529B2-A0C3-495C-A53A-4A79A2ABC170}"/>
    <dgm:cxn modelId="{EF232057-AA77-4EF7-AB1E-298278A18C2B}" srcId="{44217BC8-E130-49D7-B33B-809F4FC2C740}" destId="{FD0714FB-E765-4C06-9551-9A780E78870C}" srcOrd="1" destOrd="0" parTransId="{D3BF30F0-6302-4287-BE25-8605849FD59E}" sibTransId="{74615D93-6E88-46F3-8654-08B09A19B7DE}"/>
    <dgm:cxn modelId="{F8C2687B-F740-46BD-A534-F3C546E2C4E9}" type="presOf" srcId="{A4E34E3C-7964-4C74-840B-C8104CEAC929}" destId="{0C2D0FC2-3789-4BED-9151-B569D76C1643}" srcOrd="0" destOrd="0" presId="urn:microsoft.com/office/officeart/2005/8/layout/list1"/>
    <dgm:cxn modelId="{C190057F-95D8-48C2-B3D1-A66817693C70}" type="presOf" srcId="{98A71770-0BC1-4E5D-8C3A-EA59DF6C7EB4}" destId="{C3DF6E9D-26E8-40DE-9FF3-FEAB93797801}" srcOrd="0" destOrd="1" presId="urn:microsoft.com/office/officeart/2005/8/layout/list1"/>
    <dgm:cxn modelId="{34AE9784-2D82-4565-B311-7ED4FA939EF6}" type="presOf" srcId="{20EE01C5-8A58-4ED3-A6EA-AE2028CA3A51}" destId="{27F4C142-492C-45AE-BFE7-D047F9F6F0A3}" srcOrd="0" destOrd="2" presId="urn:microsoft.com/office/officeart/2005/8/layout/list1"/>
    <dgm:cxn modelId="{34282088-0A6B-4348-9BE2-C67D0A94A89A}" srcId="{89FC8F86-4A3D-4B12-9C1F-BFCC8683E340}" destId="{20EE01C5-8A58-4ED3-A6EA-AE2028CA3A51}" srcOrd="2" destOrd="0" parTransId="{D8C7FD78-3C11-4584-9730-F4C3B6E34E06}" sibTransId="{EBF91260-6E45-4C31-AB14-ECFD6E19CD13}"/>
    <dgm:cxn modelId="{B194D38D-856E-4A48-843D-E4A5DA847EFA}" type="presOf" srcId="{F2856285-CEDB-48D7-8B17-FEF1DE8FE991}" destId="{FE4545E5-A798-4FFC-ADCE-F16A0665EB9D}" srcOrd="0" destOrd="0" presId="urn:microsoft.com/office/officeart/2005/8/layout/list1"/>
    <dgm:cxn modelId="{E8773496-6075-416A-8982-D7CB3B87B684}" srcId="{6028B9F1-2774-43AB-AA04-BB5B00BE9C91}" destId="{98A71770-0BC1-4E5D-8C3A-EA59DF6C7EB4}" srcOrd="1" destOrd="0" parTransId="{DFC23BD3-CCB0-447C-A7DB-7AE9689958DD}" sibTransId="{2D947947-23A8-4904-B31A-DB2F3E79BF16}"/>
    <dgm:cxn modelId="{6F7B4C9E-FC42-4C4D-921C-0D323F56F611}" srcId="{89FC8F86-4A3D-4B12-9C1F-BFCC8683E340}" destId="{BED744BB-2826-4748-9348-624E17C02F61}" srcOrd="1" destOrd="0" parTransId="{B5FA0416-2C7B-44C2-A016-CE44FED89D27}" sibTransId="{8D817F90-FC50-43F8-82A6-57FBE83CCA6A}"/>
    <dgm:cxn modelId="{96BB29AA-4ACD-4A75-9A34-364A850ECCFB}" srcId="{6717D02F-9FB5-4CA6-B117-2860C0A7E2FA}" destId="{A4E34E3C-7964-4C74-840B-C8104CEAC929}" srcOrd="0" destOrd="0" parTransId="{1D835B7F-E675-4003-99B3-B3415410B7C4}" sibTransId="{294A6829-40BB-416B-A7A5-1E16B8BD60DB}"/>
    <dgm:cxn modelId="{AE402FAA-3EB8-4E7D-978D-D0593B679DE0}" type="presOf" srcId="{6717D02F-9FB5-4CA6-B117-2860C0A7E2FA}" destId="{E39A99BE-264A-4FFE-9C45-6F32A4D925CF}" srcOrd="1" destOrd="0" presId="urn:microsoft.com/office/officeart/2005/8/layout/list1"/>
    <dgm:cxn modelId="{BEE3E6B4-2DCC-4E21-AD06-DC63B53A0E11}" type="presOf" srcId="{FD0714FB-E765-4C06-9551-9A780E78870C}" destId="{F47A7B56-2ED7-4CBF-ABCB-8FD41DC0597D}" srcOrd="0" destOrd="1" presId="urn:microsoft.com/office/officeart/2005/8/layout/list1"/>
    <dgm:cxn modelId="{88618BBB-0AAE-4C97-BFAD-0582A82A8C70}" type="presOf" srcId="{44217BC8-E130-49D7-B33B-809F4FC2C740}" destId="{97467E21-77F3-4040-A68B-3834CB8AFAF1}" srcOrd="1" destOrd="0" presId="urn:microsoft.com/office/officeart/2005/8/layout/list1"/>
    <dgm:cxn modelId="{AB0F8CCD-C900-4F6B-B962-63375F405142}" srcId="{6028B9F1-2774-43AB-AA04-BB5B00BE9C91}" destId="{403B5632-E975-4065-B60C-AF800153E2C3}" srcOrd="0" destOrd="0" parTransId="{277993A3-A020-4BCD-A46F-26EB35A27B06}" sibTransId="{BCA80774-9EA2-4E59-BEA6-2839B2B672EB}"/>
    <dgm:cxn modelId="{B6AAD1D0-990B-4F29-8B86-2E9E4C36D07E}" type="presOf" srcId="{44217BC8-E130-49D7-B33B-809F4FC2C740}" destId="{B51D3BC4-6C04-44E0-AC43-09F2206A57A2}" srcOrd="0" destOrd="0" presId="urn:microsoft.com/office/officeart/2005/8/layout/list1"/>
    <dgm:cxn modelId="{6225E8D2-043C-448D-A17E-5ACEEA87289F}" srcId="{89FC8F86-4A3D-4B12-9C1F-BFCC8683E340}" destId="{C7D1D6C6-2168-4A53-A5CB-AB764FCE51A7}" srcOrd="0" destOrd="0" parTransId="{477FAD50-3C0B-4A89-9B72-D58949D70F6C}" sibTransId="{0DD2136E-4D28-4F2F-8530-35CE14CEFBFF}"/>
    <dgm:cxn modelId="{C4B5DED3-4369-4A95-8D14-D7248B6C2E28}" srcId="{F2856285-CEDB-48D7-8B17-FEF1DE8FE991}" destId="{6028B9F1-2774-43AB-AA04-BB5B00BE9C91}" srcOrd="0" destOrd="0" parTransId="{521A4382-218A-4EF5-B360-E66E94D5EBC4}" sibTransId="{2E235976-99A6-407A-B9F4-0C28BEF2DB98}"/>
    <dgm:cxn modelId="{7269CCD6-6131-4B53-A64E-73A6D58F6F61}" srcId="{F2856285-CEDB-48D7-8B17-FEF1DE8FE991}" destId="{89FC8F86-4A3D-4B12-9C1F-BFCC8683E340}" srcOrd="1" destOrd="0" parTransId="{C806AED1-EFC2-493B-BFE6-A31987FF6D43}" sibTransId="{D1E3FAC1-0E38-4088-BCEA-414CE9AFE594}"/>
    <dgm:cxn modelId="{5CD9ADDA-1DC0-4838-A018-867B92BEFBAC}" srcId="{44217BC8-E130-49D7-B33B-809F4FC2C740}" destId="{60D6942F-C35B-449D-8296-A8D4FDF08141}" srcOrd="0" destOrd="0" parTransId="{CDBDAB0D-43C6-4183-A207-C40F5A059A79}" sibTransId="{91944A14-5767-45D0-834B-5AEB50F3FB93}"/>
    <dgm:cxn modelId="{7CFAF6F2-862A-43AD-A67C-924C1FA955CD}" type="presOf" srcId="{89FC8F86-4A3D-4B12-9C1F-BFCC8683E340}" destId="{7082C8B9-B5E6-4771-9D42-D1F62E5AD95D}" srcOrd="1" destOrd="0" presId="urn:microsoft.com/office/officeart/2005/8/layout/list1"/>
    <dgm:cxn modelId="{A1CF236B-9DF2-4B46-8383-C7AC63643F33}" type="presParOf" srcId="{FE4545E5-A798-4FFC-ADCE-F16A0665EB9D}" destId="{1AEAF246-3413-45D0-B5C0-51D85BE0556E}" srcOrd="0" destOrd="0" presId="urn:microsoft.com/office/officeart/2005/8/layout/list1"/>
    <dgm:cxn modelId="{EC17B690-7A48-4DDD-8471-9C5DC83244F4}" type="presParOf" srcId="{1AEAF246-3413-45D0-B5C0-51D85BE0556E}" destId="{4B27703A-528F-4769-8CA0-7921115A1341}" srcOrd="0" destOrd="0" presId="urn:microsoft.com/office/officeart/2005/8/layout/list1"/>
    <dgm:cxn modelId="{DF3E8513-E296-4D53-989F-AA9EBC96936E}" type="presParOf" srcId="{1AEAF246-3413-45D0-B5C0-51D85BE0556E}" destId="{C4BF63BD-BA80-4F22-81B4-BBAD7987A747}" srcOrd="1" destOrd="0" presId="urn:microsoft.com/office/officeart/2005/8/layout/list1"/>
    <dgm:cxn modelId="{74419F8D-3EA4-468B-867B-AAE0011B3CE1}" type="presParOf" srcId="{FE4545E5-A798-4FFC-ADCE-F16A0665EB9D}" destId="{D2062EEC-F2BD-4DC5-8E06-21B77F326DEB}" srcOrd="1" destOrd="0" presId="urn:microsoft.com/office/officeart/2005/8/layout/list1"/>
    <dgm:cxn modelId="{3887F7A6-9DE4-462C-8F65-F22501AD2D5A}" type="presParOf" srcId="{FE4545E5-A798-4FFC-ADCE-F16A0665EB9D}" destId="{C3DF6E9D-26E8-40DE-9FF3-FEAB93797801}" srcOrd="2" destOrd="0" presId="urn:microsoft.com/office/officeart/2005/8/layout/list1"/>
    <dgm:cxn modelId="{ED196F8E-DAFE-4370-BBCA-806BB2815309}" type="presParOf" srcId="{FE4545E5-A798-4FFC-ADCE-F16A0665EB9D}" destId="{9820228C-7C79-4B30-B791-811FD874FB0D}" srcOrd="3" destOrd="0" presId="urn:microsoft.com/office/officeart/2005/8/layout/list1"/>
    <dgm:cxn modelId="{7082C038-A040-4F06-962A-CE322BEB2B2F}" type="presParOf" srcId="{FE4545E5-A798-4FFC-ADCE-F16A0665EB9D}" destId="{E9483CC8-0B10-41ED-873D-7E8EC6886853}" srcOrd="4" destOrd="0" presId="urn:microsoft.com/office/officeart/2005/8/layout/list1"/>
    <dgm:cxn modelId="{73DADB7B-E874-436A-A8B9-3AD9933C6202}" type="presParOf" srcId="{E9483CC8-0B10-41ED-873D-7E8EC6886853}" destId="{E819AFD9-0488-41D3-A9DE-CE2171C4BB37}" srcOrd="0" destOrd="0" presId="urn:microsoft.com/office/officeart/2005/8/layout/list1"/>
    <dgm:cxn modelId="{03460002-7DF8-4680-B449-E284202BA2AE}" type="presParOf" srcId="{E9483CC8-0B10-41ED-873D-7E8EC6886853}" destId="{7082C8B9-B5E6-4771-9D42-D1F62E5AD95D}" srcOrd="1" destOrd="0" presId="urn:microsoft.com/office/officeart/2005/8/layout/list1"/>
    <dgm:cxn modelId="{12D1CB2D-583F-4E49-8999-C3F75B41CB6B}" type="presParOf" srcId="{FE4545E5-A798-4FFC-ADCE-F16A0665EB9D}" destId="{BB666F37-81A7-4E39-8FF1-52C2DBB2831B}" srcOrd="5" destOrd="0" presId="urn:microsoft.com/office/officeart/2005/8/layout/list1"/>
    <dgm:cxn modelId="{2139BDCB-6E2C-4A66-B550-107823BFA1ED}" type="presParOf" srcId="{FE4545E5-A798-4FFC-ADCE-F16A0665EB9D}" destId="{27F4C142-492C-45AE-BFE7-D047F9F6F0A3}" srcOrd="6" destOrd="0" presId="urn:microsoft.com/office/officeart/2005/8/layout/list1"/>
    <dgm:cxn modelId="{52A25D59-91BF-4893-9822-6052FFD7925B}" type="presParOf" srcId="{FE4545E5-A798-4FFC-ADCE-F16A0665EB9D}" destId="{72E8C34B-4F6C-4963-AD31-647CAB100908}" srcOrd="7" destOrd="0" presId="urn:microsoft.com/office/officeart/2005/8/layout/list1"/>
    <dgm:cxn modelId="{D543AAFD-DF1B-4F8A-BFAF-80414EEC0E1C}" type="presParOf" srcId="{FE4545E5-A798-4FFC-ADCE-F16A0665EB9D}" destId="{637CA31A-428B-46BE-86AA-56B397715207}" srcOrd="8" destOrd="0" presId="urn:microsoft.com/office/officeart/2005/8/layout/list1"/>
    <dgm:cxn modelId="{3FC9BD33-72BA-4380-A801-C48922BBF506}" type="presParOf" srcId="{637CA31A-428B-46BE-86AA-56B397715207}" destId="{8C661295-799B-4086-9C43-6E8CDE44508F}" srcOrd="0" destOrd="0" presId="urn:microsoft.com/office/officeart/2005/8/layout/list1"/>
    <dgm:cxn modelId="{69A313B6-07CC-4534-937F-420C3B935675}" type="presParOf" srcId="{637CA31A-428B-46BE-86AA-56B397715207}" destId="{E39A99BE-264A-4FFE-9C45-6F32A4D925CF}" srcOrd="1" destOrd="0" presId="urn:microsoft.com/office/officeart/2005/8/layout/list1"/>
    <dgm:cxn modelId="{1EEC6650-A196-4287-A62B-3623C6C26AB1}" type="presParOf" srcId="{FE4545E5-A798-4FFC-ADCE-F16A0665EB9D}" destId="{EE5F476F-C8D7-4C52-AE5C-DD63E7EAE1D5}" srcOrd="9" destOrd="0" presId="urn:microsoft.com/office/officeart/2005/8/layout/list1"/>
    <dgm:cxn modelId="{F43CFDEE-1E8A-4DEF-B50A-9193B2CF924C}" type="presParOf" srcId="{FE4545E5-A798-4FFC-ADCE-F16A0665EB9D}" destId="{0C2D0FC2-3789-4BED-9151-B569D76C1643}" srcOrd="10" destOrd="0" presId="urn:microsoft.com/office/officeart/2005/8/layout/list1"/>
    <dgm:cxn modelId="{F962D0A6-D26C-41E8-BB7B-CDAA161A93E8}" type="presParOf" srcId="{FE4545E5-A798-4FFC-ADCE-F16A0665EB9D}" destId="{0B91E30D-6BA8-409F-A162-FD3D5C6BA256}" srcOrd="11" destOrd="0" presId="urn:microsoft.com/office/officeart/2005/8/layout/list1"/>
    <dgm:cxn modelId="{33927CA2-5635-4379-B654-C231DDDA3880}" type="presParOf" srcId="{FE4545E5-A798-4FFC-ADCE-F16A0665EB9D}" destId="{64387EFF-4E56-4F31-B48A-83DD224E8ED9}" srcOrd="12" destOrd="0" presId="urn:microsoft.com/office/officeart/2005/8/layout/list1"/>
    <dgm:cxn modelId="{D1E44145-9AB1-4E33-AC7A-F9A6BD3C2BB3}" type="presParOf" srcId="{64387EFF-4E56-4F31-B48A-83DD224E8ED9}" destId="{B51D3BC4-6C04-44E0-AC43-09F2206A57A2}" srcOrd="0" destOrd="0" presId="urn:microsoft.com/office/officeart/2005/8/layout/list1"/>
    <dgm:cxn modelId="{5BD57E3B-1EF9-47D9-A891-98B8EADAE201}" type="presParOf" srcId="{64387EFF-4E56-4F31-B48A-83DD224E8ED9}" destId="{97467E21-77F3-4040-A68B-3834CB8AFAF1}" srcOrd="1" destOrd="0" presId="urn:microsoft.com/office/officeart/2005/8/layout/list1"/>
    <dgm:cxn modelId="{C3CD1732-4533-4252-AA07-FD81E227BEAC}" type="presParOf" srcId="{FE4545E5-A798-4FFC-ADCE-F16A0665EB9D}" destId="{5AC4A1C4-E134-4FB5-BEEA-BD293D7BF690}" srcOrd="13" destOrd="0" presId="urn:microsoft.com/office/officeart/2005/8/layout/list1"/>
    <dgm:cxn modelId="{81D6C5B7-CDEF-40F8-A9D9-55A2DBB02E56}" type="presParOf" srcId="{FE4545E5-A798-4FFC-ADCE-F16A0665EB9D}" destId="{F47A7B56-2ED7-4CBF-ABCB-8FD41DC0597D}"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055786-B6E4-4FD3-A49E-61D0111EB1CF}"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33987841-2AD3-406A-8B6B-752BD0DEE7C7}">
      <dgm:prSet/>
      <dgm:spPr/>
      <dgm:t>
        <a:bodyPr/>
        <a:lstStyle/>
        <a:p>
          <a:r>
            <a:rPr lang="en-US"/>
            <a:t>La dette technique : un concept reconnu du génie logiciel (Ward Cunningham, 1992)</a:t>
          </a:r>
        </a:p>
      </dgm:t>
    </dgm:pt>
    <dgm:pt modelId="{FDEB7336-E272-4561-996F-8AA421AD9A47}" type="parTrans" cxnId="{5A0F8E91-D7FC-4F4C-B91C-57D147B24E85}">
      <dgm:prSet/>
      <dgm:spPr/>
      <dgm:t>
        <a:bodyPr/>
        <a:lstStyle/>
        <a:p>
          <a:endParaRPr lang="en-US"/>
        </a:p>
      </dgm:t>
    </dgm:pt>
    <dgm:pt modelId="{1BC960EF-C43B-4D4A-8496-AFAE18972F4F}" type="sibTrans" cxnId="{5A0F8E91-D7FC-4F4C-B91C-57D147B24E85}">
      <dgm:prSet/>
      <dgm:spPr/>
      <dgm:t>
        <a:bodyPr/>
        <a:lstStyle/>
        <a:p>
          <a:endParaRPr lang="en-US"/>
        </a:p>
      </dgm:t>
    </dgm:pt>
    <dgm:pt modelId="{9996FB0C-AA56-4ACB-B7C7-0EE08DCEA9CA}">
      <dgm:prSet/>
      <dgm:spPr/>
      <dgm:t>
        <a:bodyPr/>
        <a:lstStyle/>
        <a:p>
          <a:r>
            <a:rPr lang="en-US"/>
            <a:t>Un défaut de qualité non corrigé aujourd'hui coûte plus cher à corriger demain</a:t>
          </a:r>
        </a:p>
      </dgm:t>
    </dgm:pt>
    <dgm:pt modelId="{FC8E5EEA-5658-4593-8DE8-345A388B2ED2}" type="parTrans" cxnId="{9127CC1A-CFC9-46E8-9ED3-777A2095B851}">
      <dgm:prSet/>
      <dgm:spPr/>
      <dgm:t>
        <a:bodyPr/>
        <a:lstStyle/>
        <a:p>
          <a:endParaRPr lang="en-US"/>
        </a:p>
      </dgm:t>
    </dgm:pt>
    <dgm:pt modelId="{3F6D2221-FE81-49D2-9963-7322D2506125}" type="sibTrans" cxnId="{9127CC1A-CFC9-46E8-9ED3-777A2095B851}">
      <dgm:prSet/>
      <dgm:spPr/>
      <dgm:t>
        <a:bodyPr/>
        <a:lstStyle/>
        <a:p>
          <a:endParaRPr lang="en-US"/>
        </a:p>
      </dgm:t>
    </dgm:pt>
    <dgm:pt modelId="{ED8C1675-52EE-4D3B-9C34-DD41DE726862}" type="pres">
      <dgm:prSet presAssocID="{87055786-B6E4-4FD3-A49E-61D0111EB1CF}" presName="Name0" presStyleCnt="0">
        <dgm:presLayoutVars>
          <dgm:dir/>
          <dgm:animLvl val="lvl"/>
          <dgm:resizeHandles val="exact"/>
        </dgm:presLayoutVars>
      </dgm:prSet>
      <dgm:spPr/>
    </dgm:pt>
    <dgm:pt modelId="{BC82690E-E740-4A41-B39F-BEAADC6C56ED}" type="pres">
      <dgm:prSet presAssocID="{9996FB0C-AA56-4ACB-B7C7-0EE08DCEA9CA}" presName="boxAndChildren" presStyleCnt="0"/>
      <dgm:spPr/>
    </dgm:pt>
    <dgm:pt modelId="{3CDF831F-D69D-46E5-96B4-A2B7E7A0F13B}" type="pres">
      <dgm:prSet presAssocID="{9996FB0C-AA56-4ACB-B7C7-0EE08DCEA9CA}" presName="parentTextBox" presStyleLbl="node1" presStyleIdx="0" presStyleCnt="2"/>
      <dgm:spPr/>
    </dgm:pt>
    <dgm:pt modelId="{AFC54AAF-6672-4802-BC39-106440BCDA0C}" type="pres">
      <dgm:prSet presAssocID="{1BC960EF-C43B-4D4A-8496-AFAE18972F4F}" presName="sp" presStyleCnt="0"/>
      <dgm:spPr/>
    </dgm:pt>
    <dgm:pt modelId="{6A5D371C-5F54-485D-9EC2-4736E8A30FAD}" type="pres">
      <dgm:prSet presAssocID="{33987841-2AD3-406A-8B6B-752BD0DEE7C7}" presName="arrowAndChildren" presStyleCnt="0"/>
      <dgm:spPr/>
    </dgm:pt>
    <dgm:pt modelId="{B6A7AB1C-4182-41D1-9823-D4BFF0C75306}" type="pres">
      <dgm:prSet presAssocID="{33987841-2AD3-406A-8B6B-752BD0DEE7C7}" presName="parentTextArrow" presStyleLbl="node1" presStyleIdx="1" presStyleCnt="2"/>
      <dgm:spPr/>
    </dgm:pt>
  </dgm:ptLst>
  <dgm:cxnLst>
    <dgm:cxn modelId="{9127CC1A-CFC9-46E8-9ED3-777A2095B851}" srcId="{87055786-B6E4-4FD3-A49E-61D0111EB1CF}" destId="{9996FB0C-AA56-4ACB-B7C7-0EE08DCEA9CA}" srcOrd="1" destOrd="0" parTransId="{FC8E5EEA-5658-4593-8DE8-345A388B2ED2}" sibTransId="{3F6D2221-FE81-49D2-9963-7322D2506125}"/>
    <dgm:cxn modelId="{12648475-5B58-4AB7-A292-E0817FB355CF}" type="presOf" srcId="{87055786-B6E4-4FD3-A49E-61D0111EB1CF}" destId="{ED8C1675-52EE-4D3B-9C34-DD41DE726862}" srcOrd="0" destOrd="0" presId="urn:microsoft.com/office/officeart/2005/8/layout/process4"/>
    <dgm:cxn modelId="{5A0F8E91-D7FC-4F4C-B91C-57D147B24E85}" srcId="{87055786-B6E4-4FD3-A49E-61D0111EB1CF}" destId="{33987841-2AD3-406A-8B6B-752BD0DEE7C7}" srcOrd="0" destOrd="0" parTransId="{FDEB7336-E272-4561-996F-8AA421AD9A47}" sibTransId="{1BC960EF-C43B-4D4A-8496-AFAE18972F4F}"/>
    <dgm:cxn modelId="{D893F0B8-22F9-48F2-902C-17C0FD8379F4}" type="presOf" srcId="{9996FB0C-AA56-4ACB-B7C7-0EE08DCEA9CA}" destId="{3CDF831F-D69D-46E5-96B4-A2B7E7A0F13B}" srcOrd="0" destOrd="0" presId="urn:microsoft.com/office/officeart/2005/8/layout/process4"/>
    <dgm:cxn modelId="{3501DDBE-4D2D-4B5E-B9CF-9ABD067F8342}" type="presOf" srcId="{33987841-2AD3-406A-8B6B-752BD0DEE7C7}" destId="{B6A7AB1C-4182-41D1-9823-D4BFF0C75306}" srcOrd="0" destOrd="0" presId="urn:microsoft.com/office/officeart/2005/8/layout/process4"/>
    <dgm:cxn modelId="{138E9853-B80F-4C28-A730-71BD4F826352}" type="presParOf" srcId="{ED8C1675-52EE-4D3B-9C34-DD41DE726862}" destId="{BC82690E-E740-4A41-B39F-BEAADC6C56ED}" srcOrd="0" destOrd="0" presId="urn:microsoft.com/office/officeart/2005/8/layout/process4"/>
    <dgm:cxn modelId="{44CFD358-A21B-4F83-8B1D-004ECB0877E7}" type="presParOf" srcId="{BC82690E-E740-4A41-B39F-BEAADC6C56ED}" destId="{3CDF831F-D69D-46E5-96B4-A2B7E7A0F13B}" srcOrd="0" destOrd="0" presId="urn:microsoft.com/office/officeart/2005/8/layout/process4"/>
    <dgm:cxn modelId="{6C4B4E83-EA3A-43ED-9971-9F30BB0040F4}" type="presParOf" srcId="{ED8C1675-52EE-4D3B-9C34-DD41DE726862}" destId="{AFC54AAF-6672-4802-BC39-106440BCDA0C}" srcOrd="1" destOrd="0" presId="urn:microsoft.com/office/officeart/2005/8/layout/process4"/>
    <dgm:cxn modelId="{E819A86B-CD3D-40BA-9A08-F07A8BF77D6B}" type="presParOf" srcId="{ED8C1675-52EE-4D3B-9C34-DD41DE726862}" destId="{6A5D371C-5F54-485D-9EC2-4736E8A30FAD}" srcOrd="2" destOrd="0" presId="urn:microsoft.com/office/officeart/2005/8/layout/process4"/>
    <dgm:cxn modelId="{F8C3D31C-E392-4224-89AB-BB35CC7ABFDB}" type="presParOf" srcId="{6A5D371C-5F54-485D-9EC2-4736E8A30FAD}" destId="{B6A7AB1C-4182-41D1-9823-D4BFF0C7530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8C0FD6-364B-4F1D-8A35-7EACC8DC0861}"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9CA3332A-D5A2-40AB-98F4-720F069D70E6}">
      <dgm:prSet/>
      <dgm:spPr/>
      <dgm:t>
        <a:bodyPr/>
        <a:lstStyle/>
        <a:p>
          <a:r>
            <a:rPr lang="en-US" err="1"/>
            <a:t>fonctionnalités</a:t>
          </a:r>
          <a:r>
            <a:rPr lang="en-US"/>
            <a:t> </a:t>
          </a:r>
          <a:r>
            <a:rPr lang="en-US" err="1"/>
            <a:t>livrées</a:t>
          </a:r>
          <a:r>
            <a:rPr lang="en-US"/>
            <a:t> ne </a:t>
          </a:r>
          <a:r>
            <a:rPr lang="en-US" err="1"/>
            <a:t>sont</a:t>
          </a:r>
          <a:r>
            <a:rPr lang="en-US"/>
            <a:t> jamais </a:t>
          </a:r>
          <a:r>
            <a:rPr lang="en-US" err="1"/>
            <a:t>réellement</a:t>
          </a:r>
          <a:r>
            <a:rPr lang="en-US"/>
            <a:t> </a:t>
          </a:r>
          <a:r>
            <a:rPr lang="en-US" err="1"/>
            <a:t>utilisées</a:t>
          </a:r>
          <a:endParaRPr lang="en-US"/>
        </a:p>
      </dgm:t>
    </dgm:pt>
    <dgm:pt modelId="{7FEFF758-C8CC-41FE-A822-B058049AC96F}" type="parTrans" cxnId="{F2E5BE91-4E5D-4DC3-8D9B-22FFCF4690F5}">
      <dgm:prSet/>
      <dgm:spPr/>
      <dgm:t>
        <a:bodyPr/>
        <a:lstStyle/>
        <a:p>
          <a:endParaRPr lang="en-US"/>
        </a:p>
      </dgm:t>
    </dgm:pt>
    <dgm:pt modelId="{0DCA0ACA-87FE-4EFB-89ED-92AF317214B6}" type="sibTrans" cxnId="{F2E5BE91-4E5D-4DC3-8D9B-22FFCF4690F5}">
      <dgm:prSet/>
      <dgm:spPr/>
      <dgm:t>
        <a:bodyPr/>
        <a:lstStyle/>
        <a:p>
          <a:endParaRPr lang="en-US"/>
        </a:p>
      </dgm:t>
    </dgm:pt>
    <dgm:pt modelId="{F40C641B-66E7-424B-9C48-A2CC91B4E689}">
      <dgm:prSet/>
      <dgm:spPr/>
      <dgm:t>
        <a:bodyPr/>
        <a:lstStyle/>
        <a:p>
          <a:r>
            <a:rPr lang="en-US"/>
            <a:t>du code à </a:t>
          </a:r>
          <a:r>
            <a:rPr lang="en-US" err="1"/>
            <a:t>maintenir</a:t>
          </a:r>
          <a:r>
            <a:rPr lang="en-US"/>
            <a:t>, des </a:t>
          </a:r>
          <a:r>
            <a:rPr lang="en-US" err="1"/>
            <a:t>ressources</a:t>
          </a:r>
          <a:r>
            <a:rPr lang="en-US"/>
            <a:t> à faire </a:t>
          </a:r>
          <a:r>
            <a:rPr lang="en-US" err="1"/>
            <a:t>tourner</a:t>
          </a:r>
          <a:r>
            <a:rPr lang="en-US"/>
            <a:t> pour rien</a:t>
          </a:r>
        </a:p>
      </dgm:t>
    </dgm:pt>
    <dgm:pt modelId="{D6FBFF27-1E9F-4F15-A67F-DBB73DA5C2CD}" type="parTrans" cxnId="{933BE168-FC57-4FA1-A1AD-1576E758CCD6}">
      <dgm:prSet/>
      <dgm:spPr/>
      <dgm:t>
        <a:bodyPr/>
        <a:lstStyle/>
        <a:p>
          <a:endParaRPr lang="en-US"/>
        </a:p>
      </dgm:t>
    </dgm:pt>
    <dgm:pt modelId="{17D41276-33F7-418A-8EEE-2108CF52759B}" type="sibTrans" cxnId="{933BE168-FC57-4FA1-A1AD-1576E758CCD6}">
      <dgm:prSet/>
      <dgm:spPr/>
      <dgm:t>
        <a:bodyPr/>
        <a:lstStyle/>
        <a:p>
          <a:endParaRPr lang="en-US"/>
        </a:p>
      </dgm:t>
    </dgm:pt>
    <dgm:pt modelId="{14E8396A-BD99-4790-9BC9-6B99BFF68893}" type="pres">
      <dgm:prSet presAssocID="{CE8C0FD6-364B-4F1D-8A35-7EACC8DC0861}" presName="outerComposite" presStyleCnt="0">
        <dgm:presLayoutVars>
          <dgm:chMax val="5"/>
          <dgm:dir/>
          <dgm:resizeHandles val="exact"/>
        </dgm:presLayoutVars>
      </dgm:prSet>
      <dgm:spPr/>
    </dgm:pt>
    <dgm:pt modelId="{E6B4D728-36FE-41EF-8073-13FDC3FD1441}" type="pres">
      <dgm:prSet presAssocID="{CE8C0FD6-364B-4F1D-8A35-7EACC8DC0861}" presName="dummyMaxCanvas" presStyleCnt="0">
        <dgm:presLayoutVars/>
      </dgm:prSet>
      <dgm:spPr/>
    </dgm:pt>
    <dgm:pt modelId="{7F332F8B-E739-4683-9DD3-AAF25AF494CB}" type="pres">
      <dgm:prSet presAssocID="{CE8C0FD6-364B-4F1D-8A35-7EACC8DC0861}" presName="TwoNodes_1" presStyleLbl="node1" presStyleIdx="0" presStyleCnt="2">
        <dgm:presLayoutVars>
          <dgm:bulletEnabled val="1"/>
        </dgm:presLayoutVars>
      </dgm:prSet>
      <dgm:spPr/>
    </dgm:pt>
    <dgm:pt modelId="{0679AB5C-A7DA-47F3-AD72-A339C10B4145}" type="pres">
      <dgm:prSet presAssocID="{CE8C0FD6-364B-4F1D-8A35-7EACC8DC0861}" presName="TwoNodes_2" presStyleLbl="node1" presStyleIdx="1" presStyleCnt="2">
        <dgm:presLayoutVars>
          <dgm:bulletEnabled val="1"/>
        </dgm:presLayoutVars>
      </dgm:prSet>
      <dgm:spPr/>
    </dgm:pt>
    <dgm:pt modelId="{5C1115B0-2B87-4C76-B166-9D1D8C9C8C34}" type="pres">
      <dgm:prSet presAssocID="{CE8C0FD6-364B-4F1D-8A35-7EACC8DC0861}" presName="TwoConn_1-2" presStyleLbl="fgAccFollowNode1" presStyleIdx="0" presStyleCnt="1">
        <dgm:presLayoutVars>
          <dgm:bulletEnabled val="1"/>
        </dgm:presLayoutVars>
      </dgm:prSet>
      <dgm:spPr/>
    </dgm:pt>
    <dgm:pt modelId="{5849AF5E-A8C5-4147-98EE-09D47384F6DC}" type="pres">
      <dgm:prSet presAssocID="{CE8C0FD6-364B-4F1D-8A35-7EACC8DC0861}" presName="TwoNodes_1_text" presStyleLbl="node1" presStyleIdx="1" presStyleCnt="2">
        <dgm:presLayoutVars>
          <dgm:bulletEnabled val="1"/>
        </dgm:presLayoutVars>
      </dgm:prSet>
      <dgm:spPr/>
    </dgm:pt>
    <dgm:pt modelId="{7AF515F0-2B4F-4929-BF8C-3748CA0B372D}" type="pres">
      <dgm:prSet presAssocID="{CE8C0FD6-364B-4F1D-8A35-7EACC8DC0861}" presName="TwoNodes_2_text" presStyleLbl="node1" presStyleIdx="1" presStyleCnt="2">
        <dgm:presLayoutVars>
          <dgm:bulletEnabled val="1"/>
        </dgm:presLayoutVars>
      </dgm:prSet>
      <dgm:spPr/>
    </dgm:pt>
  </dgm:ptLst>
  <dgm:cxnLst>
    <dgm:cxn modelId="{72FF1A13-19DD-4D44-8AFA-D8A80B74DD50}" type="presOf" srcId="{9CA3332A-D5A2-40AB-98F4-720F069D70E6}" destId="{5849AF5E-A8C5-4147-98EE-09D47384F6DC}" srcOrd="1" destOrd="0" presId="urn:microsoft.com/office/officeart/2005/8/layout/vProcess5"/>
    <dgm:cxn modelId="{796E3818-7FA3-4FD8-AF08-DED13955E767}" type="presOf" srcId="{CE8C0FD6-364B-4F1D-8A35-7EACC8DC0861}" destId="{14E8396A-BD99-4790-9BC9-6B99BFF68893}" srcOrd="0" destOrd="0" presId="urn:microsoft.com/office/officeart/2005/8/layout/vProcess5"/>
    <dgm:cxn modelId="{933BE168-FC57-4FA1-A1AD-1576E758CCD6}" srcId="{CE8C0FD6-364B-4F1D-8A35-7EACC8DC0861}" destId="{F40C641B-66E7-424B-9C48-A2CC91B4E689}" srcOrd="1" destOrd="0" parTransId="{D6FBFF27-1E9F-4F15-A67F-DBB73DA5C2CD}" sibTransId="{17D41276-33F7-418A-8EEE-2108CF52759B}"/>
    <dgm:cxn modelId="{88583751-C0A9-4DD9-8E1F-7C965AEC97A3}" type="presOf" srcId="{F40C641B-66E7-424B-9C48-A2CC91B4E689}" destId="{7AF515F0-2B4F-4929-BF8C-3748CA0B372D}" srcOrd="1" destOrd="0" presId="urn:microsoft.com/office/officeart/2005/8/layout/vProcess5"/>
    <dgm:cxn modelId="{F2E5BE91-4E5D-4DC3-8D9B-22FFCF4690F5}" srcId="{CE8C0FD6-364B-4F1D-8A35-7EACC8DC0861}" destId="{9CA3332A-D5A2-40AB-98F4-720F069D70E6}" srcOrd="0" destOrd="0" parTransId="{7FEFF758-C8CC-41FE-A822-B058049AC96F}" sibTransId="{0DCA0ACA-87FE-4EFB-89ED-92AF317214B6}"/>
    <dgm:cxn modelId="{D1D5AEA0-99B4-4A5E-8BEF-1DBBBF6E2A19}" type="presOf" srcId="{F40C641B-66E7-424B-9C48-A2CC91B4E689}" destId="{0679AB5C-A7DA-47F3-AD72-A339C10B4145}" srcOrd="0" destOrd="0" presId="urn:microsoft.com/office/officeart/2005/8/layout/vProcess5"/>
    <dgm:cxn modelId="{442235D3-66CD-4473-867E-FC03ED98F693}" type="presOf" srcId="{9CA3332A-D5A2-40AB-98F4-720F069D70E6}" destId="{7F332F8B-E739-4683-9DD3-AAF25AF494CB}" srcOrd="0" destOrd="0" presId="urn:microsoft.com/office/officeart/2005/8/layout/vProcess5"/>
    <dgm:cxn modelId="{F890C5F0-A51C-4F40-B8FF-A6DA276EDC82}" type="presOf" srcId="{0DCA0ACA-87FE-4EFB-89ED-92AF317214B6}" destId="{5C1115B0-2B87-4C76-B166-9D1D8C9C8C34}" srcOrd="0" destOrd="0" presId="urn:microsoft.com/office/officeart/2005/8/layout/vProcess5"/>
    <dgm:cxn modelId="{109AC454-7D14-4BF7-979A-92984E644C47}" type="presParOf" srcId="{14E8396A-BD99-4790-9BC9-6B99BFF68893}" destId="{E6B4D728-36FE-41EF-8073-13FDC3FD1441}" srcOrd="0" destOrd="0" presId="urn:microsoft.com/office/officeart/2005/8/layout/vProcess5"/>
    <dgm:cxn modelId="{A0F5788D-393A-41D0-B715-F29811093EB4}" type="presParOf" srcId="{14E8396A-BD99-4790-9BC9-6B99BFF68893}" destId="{7F332F8B-E739-4683-9DD3-AAF25AF494CB}" srcOrd="1" destOrd="0" presId="urn:microsoft.com/office/officeart/2005/8/layout/vProcess5"/>
    <dgm:cxn modelId="{762EF7BB-6BAC-4498-A206-DE69E914649F}" type="presParOf" srcId="{14E8396A-BD99-4790-9BC9-6B99BFF68893}" destId="{0679AB5C-A7DA-47F3-AD72-A339C10B4145}" srcOrd="2" destOrd="0" presId="urn:microsoft.com/office/officeart/2005/8/layout/vProcess5"/>
    <dgm:cxn modelId="{5431C8A5-C70C-41D1-965A-9B28F4F71461}" type="presParOf" srcId="{14E8396A-BD99-4790-9BC9-6B99BFF68893}" destId="{5C1115B0-2B87-4C76-B166-9D1D8C9C8C34}" srcOrd="3" destOrd="0" presId="urn:microsoft.com/office/officeart/2005/8/layout/vProcess5"/>
    <dgm:cxn modelId="{30A92B6B-15C9-4C22-8B9B-8DFE976E2F53}" type="presParOf" srcId="{14E8396A-BD99-4790-9BC9-6B99BFF68893}" destId="{5849AF5E-A8C5-4147-98EE-09D47384F6DC}" srcOrd="4" destOrd="0" presId="urn:microsoft.com/office/officeart/2005/8/layout/vProcess5"/>
    <dgm:cxn modelId="{799842F0-1F3F-4CD3-B51A-76A227668963}" type="presParOf" srcId="{14E8396A-BD99-4790-9BC9-6B99BFF68893}" destId="{7AF515F0-2B4F-4929-BF8C-3748CA0B372D}" srcOrd="5"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966CED-F243-4695-A325-72E9274D0416}"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9B4CFAC7-68BC-4755-BE85-677388A00560}">
      <dgm:prSet/>
      <dgm:spPr/>
      <dgm:t>
        <a:bodyPr/>
        <a:lstStyle/>
        <a:p>
          <a:r>
            <a:rPr lang="en-US"/>
            <a:t>Un choix technique engage quinze ans</a:t>
          </a:r>
        </a:p>
      </dgm:t>
    </dgm:pt>
    <dgm:pt modelId="{FC60A7EB-E22A-4B59-AEB2-E49FF9EE10D3}" type="parTrans" cxnId="{07F40B9B-2CDA-4C20-9820-EA1A2C53640D}">
      <dgm:prSet/>
      <dgm:spPr/>
      <dgm:t>
        <a:bodyPr/>
        <a:lstStyle/>
        <a:p>
          <a:endParaRPr lang="en-US"/>
        </a:p>
      </dgm:t>
    </dgm:pt>
    <dgm:pt modelId="{5B58B241-1C79-4827-9484-C022208F9D9F}" type="sibTrans" cxnId="{07F40B9B-2CDA-4C20-9820-EA1A2C53640D}">
      <dgm:prSet/>
      <dgm:spPr/>
      <dgm:t>
        <a:bodyPr/>
        <a:lstStyle/>
        <a:p>
          <a:endParaRPr lang="en-US"/>
        </a:p>
      </dgm:t>
    </dgm:pt>
    <dgm:pt modelId="{A1A1453A-74B4-4CE4-ACA6-E683E0E3A1BF}">
      <dgm:prSet/>
      <dgm:spPr/>
      <dgm:t>
        <a:bodyPr/>
        <a:lstStyle/>
        <a:p>
          <a:r>
            <a:rPr lang="en-US"/>
            <a:t>Pérennité, dépendance, coût total</a:t>
          </a:r>
        </a:p>
      </dgm:t>
    </dgm:pt>
    <dgm:pt modelId="{AC983790-1460-4840-B378-C8B0C591985C}" type="parTrans" cxnId="{DF0E3750-B23B-4250-9F51-0E64E4AFF270}">
      <dgm:prSet/>
      <dgm:spPr/>
      <dgm:t>
        <a:bodyPr/>
        <a:lstStyle/>
        <a:p>
          <a:endParaRPr lang="en-US"/>
        </a:p>
      </dgm:t>
    </dgm:pt>
    <dgm:pt modelId="{64BED6B2-D16A-44E1-810C-96DCB52691FB}" type="sibTrans" cxnId="{DF0E3750-B23B-4250-9F51-0E64E4AFF270}">
      <dgm:prSet/>
      <dgm:spPr/>
      <dgm:t>
        <a:bodyPr/>
        <a:lstStyle/>
        <a:p>
          <a:endParaRPr lang="en-US"/>
        </a:p>
      </dgm:t>
    </dgm:pt>
    <dgm:pt modelId="{951A2B07-DE05-4AA9-8275-D3EBC73C8C35}">
      <dgm:prSet/>
      <dgm:spPr/>
      <dgm:t>
        <a:bodyPr/>
        <a:lstStyle/>
        <a:p>
          <a:r>
            <a:rPr lang="en-US"/>
            <a:t>La décision ne m'appartient pas - l'éclairer, si</a:t>
          </a:r>
        </a:p>
      </dgm:t>
    </dgm:pt>
    <dgm:pt modelId="{6EE1C0A0-EAFD-4837-9D21-50F70E0E2979}" type="parTrans" cxnId="{EBBE2201-5579-4B15-B8C1-5A8AA2E840C4}">
      <dgm:prSet/>
      <dgm:spPr/>
      <dgm:t>
        <a:bodyPr/>
        <a:lstStyle/>
        <a:p>
          <a:endParaRPr lang="en-US"/>
        </a:p>
      </dgm:t>
    </dgm:pt>
    <dgm:pt modelId="{C3E58FD1-562D-427B-9ACC-933A50EBB870}" type="sibTrans" cxnId="{EBBE2201-5579-4B15-B8C1-5A8AA2E840C4}">
      <dgm:prSet/>
      <dgm:spPr/>
      <dgm:t>
        <a:bodyPr/>
        <a:lstStyle/>
        <a:p>
          <a:endParaRPr lang="en-US"/>
        </a:p>
      </dgm:t>
    </dgm:pt>
    <dgm:pt modelId="{A8D6E581-9A47-45DA-B5DF-D473B6A48E2C}" type="pres">
      <dgm:prSet presAssocID="{4E966CED-F243-4695-A325-72E9274D0416}" presName="outerComposite" presStyleCnt="0">
        <dgm:presLayoutVars>
          <dgm:chMax val="5"/>
          <dgm:dir/>
          <dgm:resizeHandles val="exact"/>
        </dgm:presLayoutVars>
      </dgm:prSet>
      <dgm:spPr/>
    </dgm:pt>
    <dgm:pt modelId="{00F5F70C-FB56-4D2F-869C-FE7A2403F240}" type="pres">
      <dgm:prSet presAssocID="{4E966CED-F243-4695-A325-72E9274D0416}" presName="dummyMaxCanvas" presStyleCnt="0">
        <dgm:presLayoutVars/>
      </dgm:prSet>
      <dgm:spPr/>
    </dgm:pt>
    <dgm:pt modelId="{DCCC7A4F-F611-4727-B24A-B951FFC956BE}" type="pres">
      <dgm:prSet presAssocID="{4E966CED-F243-4695-A325-72E9274D0416}" presName="ThreeNodes_1" presStyleLbl="node1" presStyleIdx="0" presStyleCnt="3">
        <dgm:presLayoutVars>
          <dgm:bulletEnabled val="1"/>
        </dgm:presLayoutVars>
      </dgm:prSet>
      <dgm:spPr/>
    </dgm:pt>
    <dgm:pt modelId="{9CF5A7CE-1B9B-4CEF-8825-864FADAC570C}" type="pres">
      <dgm:prSet presAssocID="{4E966CED-F243-4695-A325-72E9274D0416}" presName="ThreeNodes_2" presStyleLbl="node1" presStyleIdx="1" presStyleCnt="3">
        <dgm:presLayoutVars>
          <dgm:bulletEnabled val="1"/>
        </dgm:presLayoutVars>
      </dgm:prSet>
      <dgm:spPr/>
    </dgm:pt>
    <dgm:pt modelId="{2A9E6B04-272E-4FF7-92CF-9B6C0D7AA1AA}" type="pres">
      <dgm:prSet presAssocID="{4E966CED-F243-4695-A325-72E9274D0416}" presName="ThreeNodes_3" presStyleLbl="node1" presStyleIdx="2" presStyleCnt="3">
        <dgm:presLayoutVars>
          <dgm:bulletEnabled val="1"/>
        </dgm:presLayoutVars>
      </dgm:prSet>
      <dgm:spPr/>
    </dgm:pt>
    <dgm:pt modelId="{556D128D-C71B-4BEA-BEA4-A3210B9265CD}" type="pres">
      <dgm:prSet presAssocID="{4E966CED-F243-4695-A325-72E9274D0416}" presName="ThreeConn_1-2" presStyleLbl="fgAccFollowNode1" presStyleIdx="0" presStyleCnt="2">
        <dgm:presLayoutVars>
          <dgm:bulletEnabled val="1"/>
        </dgm:presLayoutVars>
      </dgm:prSet>
      <dgm:spPr/>
    </dgm:pt>
    <dgm:pt modelId="{38DD8D22-F301-49A3-BB23-772A98AA1620}" type="pres">
      <dgm:prSet presAssocID="{4E966CED-F243-4695-A325-72E9274D0416}" presName="ThreeConn_2-3" presStyleLbl="fgAccFollowNode1" presStyleIdx="1" presStyleCnt="2">
        <dgm:presLayoutVars>
          <dgm:bulletEnabled val="1"/>
        </dgm:presLayoutVars>
      </dgm:prSet>
      <dgm:spPr/>
    </dgm:pt>
    <dgm:pt modelId="{BCEDE72C-5001-4047-9C60-924438E45D87}" type="pres">
      <dgm:prSet presAssocID="{4E966CED-F243-4695-A325-72E9274D0416}" presName="ThreeNodes_1_text" presStyleLbl="node1" presStyleIdx="2" presStyleCnt="3">
        <dgm:presLayoutVars>
          <dgm:bulletEnabled val="1"/>
        </dgm:presLayoutVars>
      </dgm:prSet>
      <dgm:spPr/>
    </dgm:pt>
    <dgm:pt modelId="{F9C4743B-DC3B-4F2D-8DDD-6F366DE48AAD}" type="pres">
      <dgm:prSet presAssocID="{4E966CED-F243-4695-A325-72E9274D0416}" presName="ThreeNodes_2_text" presStyleLbl="node1" presStyleIdx="2" presStyleCnt="3">
        <dgm:presLayoutVars>
          <dgm:bulletEnabled val="1"/>
        </dgm:presLayoutVars>
      </dgm:prSet>
      <dgm:spPr/>
    </dgm:pt>
    <dgm:pt modelId="{8323464F-1F76-4EEA-9BD5-60FD7E21D4B8}" type="pres">
      <dgm:prSet presAssocID="{4E966CED-F243-4695-A325-72E9274D0416}" presName="ThreeNodes_3_text" presStyleLbl="node1" presStyleIdx="2" presStyleCnt="3">
        <dgm:presLayoutVars>
          <dgm:bulletEnabled val="1"/>
        </dgm:presLayoutVars>
      </dgm:prSet>
      <dgm:spPr/>
    </dgm:pt>
  </dgm:ptLst>
  <dgm:cxnLst>
    <dgm:cxn modelId="{EBBE2201-5579-4B15-B8C1-5A8AA2E840C4}" srcId="{4E966CED-F243-4695-A325-72E9274D0416}" destId="{951A2B07-DE05-4AA9-8275-D3EBC73C8C35}" srcOrd="2" destOrd="0" parTransId="{6EE1C0A0-EAFD-4837-9D21-50F70E0E2979}" sibTransId="{C3E58FD1-562D-427B-9ACC-933A50EBB870}"/>
    <dgm:cxn modelId="{14F83A0D-3C5D-44A4-9BF1-075CC9CCB3EE}" type="presOf" srcId="{951A2B07-DE05-4AA9-8275-D3EBC73C8C35}" destId="{8323464F-1F76-4EEA-9BD5-60FD7E21D4B8}" srcOrd="1" destOrd="0" presId="urn:microsoft.com/office/officeart/2005/8/layout/vProcess5"/>
    <dgm:cxn modelId="{AC030F63-06AC-4DB5-926D-4AF57A70E208}" type="presOf" srcId="{4E966CED-F243-4695-A325-72E9274D0416}" destId="{A8D6E581-9A47-45DA-B5DF-D473B6A48E2C}" srcOrd="0" destOrd="0" presId="urn:microsoft.com/office/officeart/2005/8/layout/vProcess5"/>
    <dgm:cxn modelId="{5561486B-1F5E-4179-AA60-7EC163FAE3A8}" type="presOf" srcId="{A1A1453A-74B4-4CE4-ACA6-E683E0E3A1BF}" destId="{9CF5A7CE-1B9B-4CEF-8825-864FADAC570C}" srcOrd="0" destOrd="0" presId="urn:microsoft.com/office/officeart/2005/8/layout/vProcess5"/>
    <dgm:cxn modelId="{DF0E3750-B23B-4250-9F51-0E64E4AFF270}" srcId="{4E966CED-F243-4695-A325-72E9274D0416}" destId="{A1A1453A-74B4-4CE4-ACA6-E683E0E3A1BF}" srcOrd="1" destOrd="0" parTransId="{AC983790-1460-4840-B378-C8B0C591985C}" sibTransId="{64BED6B2-D16A-44E1-810C-96DCB52691FB}"/>
    <dgm:cxn modelId="{F199FF74-8CBE-4D84-9F23-4B9A4FF0422F}" type="presOf" srcId="{5B58B241-1C79-4827-9484-C022208F9D9F}" destId="{556D128D-C71B-4BEA-BEA4-A3210B9265CD}" srcOrd="0" destOrd="0" presId="urn:microsoft.com/office/officeart/2005/8/layout/vProcess5"/>
    <dgm:cxn modelId="{0C8B4875-ED5F-457D-A08B-600B45FB6FD6}" type="presOf" srcId="{951A2B07-DE05-4AA9-8275-D3EBC73C8C35}" destId="{2A9E6B04-272E-4FF7-92CF-9B6C0D7AA1AA}" srcOrd="0" destOrd="0" presId="urn:microsoft.com/office/officeart/2005/8/layout/vProcess5"/>
    <dgm:cxn modelId="{42556877-5D9D-456D-8736-E4132AEC9DCD}" type="presOf" srcId="{9B4CFAC7-68BC-4755-BE85-677388A00560}" destId="{BCEDE72C-5001-4047-9C60-924438E45D87}" srcOrd="1" destOrd="0" presId="urn:microsoft.com/office/officeart/2005/8/layout/vProcess5"/>
    <dgm:cxn modelId="{893A2087-4A3B-4E67-B14B-FB0CC65F9F2B}" type="presOf" srcId="{64BED6B2-D16A-44E1-810C-96DCB52691FB}" destId="{38DD8D22-F301-49A3-BB23-772A98AA1620}" srcOrd="0" destOrd="0" presId="urn:microsoft.com/office/officeart/2005/8/layout/vProcess5"/>
    <dgm:cxn modelId="{FD43DC99-B921-4085-AE95-62E3090ABA2D}" type="presOf" srcId="{9B4CFAC7-68BC-4755-BE85-677388A00560}" destId="{DCCC7A4F-F611-4727-B24A-B951FFC956BE}" srcOrd="0" destOrd="0" presId="urn:microsoft.com/office/officeart/2005/8/layout/vProcess5"/>
    <dgm:cxn modelId="{07F40B9B-2CDA-4C20-9820-EA1A2C53640D}" srcId="{4E966CED-F243-4695-A325-72E9274D0416}" destId="{9B4CFAC7-68BC-4755-BE85-677388A00560}" srcOrd="0" destOrd="0" parTransId="{FC60A7EB-E22A-4B59-AEB2-E49FF9EE10D3}" sibTransId="{5B58B241-1C79-4827-9484-C022208F9D9F}"/>
    <dgm:cxn modelId="{917CA0ED-25BB-4A9E-89DA-A41E57CEB45D}" type="presOf" srcId="{A1A1453A-74B4-4CE4-ACA6-E683E0E3A1BF}" destId="{F9C4743B-DC3B-4F2D-8DDD-6F366DE48AAD}" srcOrd="1" destOrd="0" presId="urn:microsoft.com/office/officeart/2005/8/layout/vProcess5"/>
    <dgm:cxn modelId="{97DC50B2-7026-49F3-B715-73F209BDFAEF}" type="presParOf" srcId="{A8D6E581-9A47-45DA-B5DF-D473B6A48E2C}" destId="{00F5F70C-FB56-4D2F-869C-FE7A2403F240}" srcOrd="0" destOrd="0" presId="urn:microsoft.com/office/officeart/2005/8/layout/vProcess5"/>
    <dgm:cxn modelId="{1D519D2E-92D4-4A8D-9E1E-0CAA9E681079}" type="presParOf" srcId="{A8D6E581-9A47-45DA-B5DF-D473B6A48E2C}" destId="{DCCC7A4F-F611-4727-B24A-B951FFC956BE}" srcOrd="1" destOrd="0" presId="urn:microsoft.com/office/officeart/2005/8/layout/vProcess5"/>
    <dgm:cxn modelId="{FE15F285-A168-4848-8969-536152E9B992}" type="presParOf" srcId="{A8D6E581-9A47-45DA-B5DF-D473B6A48E2C}" destId="{9CF5A7CE-1B9B-4CEF-8825-864FADAC570C}" srcOrd="2" destOrd="0" presId="urn:microsoft.com/office/officeart/2005/8/layout/vProcess5"/>
    <dgm:cxn modelId="{7C08D8B7-F6F3-407A-83D4-59AF716FF5FF}" type="presParOf" srcId="{A8D6E581-9A47-45DA-B5DF-D473B6A48E2C}" destId="{2A9E6B04-272E-4FF7-92CF-9B6C0D7AA1AA}" srcOrd="3" destOrd="0" presId="urn:microsoft.com/office/officeart/2005/8/layout/vProcess5"/>
    <dgm:cxn modelId="{ECEEFAB3-3F6B-435A-A41F-9B3F48277FFA}" type="presParOf" srcId="{A8D6E581-9A47-45DA-B5DF-D473B6A48E2C}" destId="{556D128D-C71B-4BEA-BEA4-A3210B9265CD}" srcOrd="4" destOrd="0" presId="urn:microsoft.com/office/officeart/2005/8/layout/vProcess5"/>
    <dgm:cxn modelId="{4E5C5611-7144-4EA8-B745-DE241DEE377A}" type="presParOf" srcId="{A8D6E581-9A47-45DA-B5DF-D473B6A48E2C}" destId="{38DD8D22-F301-49A3-BB23-772A98AA1620}" srcOrd="5" destOrd="0" presId="urn:microsoft.com/office/officeart/2005/8/layout/vProcess5"/>
    <dgm:cxn modelId="{37E0A707-A758-4CF3-B6FA-28E174E7E22E}" type="presParOf" srcId="{A8D6E581-9A47-45DA-B5DF-D473B6A48E2C}" destId="{BCEDE72C-5001-4047-9C60-924438E45D87}" srcOrd="6" destOrd="0" presId="urn:microsoft.com/office/officeart/2005/8/layout/vProcess5"/>
    <dgm:cxn modelId="{68208CE8-6433-43F8-8DEE-90EDD79B5AC3}" type="presParOf" srcId="{A8D6E581-9A47-45DA-B5DF-D473B6A48E2C}" destId="{F9C4743B-DC3B-4F2D-8DDD-6F366DE48AAD}" srcOrd="7" destOrd="0" presId="urn:microsoft.com/office/officeart/2005/8/layout/vProcess5"/>
    <dgm:cxn modelId="{F72FBCC3-A2CF-4906-BB1F-692EB257FCB6}" type="presParOf" srcId="{A8D6E581-9A47-45DA-B5DF-D473B6A48E2C}" destId="{8323464F-1F76-4EEA-9BD5-60FD7E21D4B8}"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E6859E-AB40-4C2C-B4AC-90F334F02E7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9E60E9F-0FCE-4AD0-86D6-89075C9823B6}">
      <dgm:prSet/>
      <dgm:spPr/>
      <dgm:t>
        <a:bodyPr/>
        <a:lstStyle/>
        <a:p>
          <a:r>
            <a:rPr lang="en-US"/>
            <a:t>L'effet rebond</a:t>
          </a:r>
        </a:p>
      </dgm:t>
    </dgm:pt>
    <dgm:pt modelId="{85AF5C3B-A33A-4D3E-BFA9-3A960C91765B}" type="parTrans" cxnId="{AB846D48-110D-4CB2-AAFE-B5C219AAD064}">
      <dgm:prSet/>
      <dgm:spPr/>
      <dgm:t>
        <a:bodyPr/>
        <a:lstStyle/>
        <a:p>
          <a:endParaRPr lang="en-US"/>
        </a:p>
      </dgm:t>
    </dgm:pt>
    <dgm:pt modelId="{862B60C7-0378-4E30-9607-86161DBA09CC}" type="sibTrans" cxnId="{AB846D48-110D-4CB2-AAFE-B5C219AAD064}">
      <dgm:prSet/>
      <dgm:spPr/>
      <dgm:t>
        <a:bodyPr/>
        <a:lstStyle/>
        <a:p>
          <a:endParaRPr lang="en-US"/>
        </a:p>
      </dgm:t>
    </dgm:pt>
    <dgm:pt modelId="{04C51BFF-F7FC-4951-B058-8453CD725C24}">
      <dgm:prSet/>
      <dgm:spPr/>
      <dgm:t>
        <a:bodyPr/>
        <a:lstStyle/>
        <a:p>
          <a:r>
            <a:rPr lang="en-US"/>
            <a:t>Mon levier est réel, mais partiel</a:t>
          </a:r>
        </a:p>
      </dgm:t>
    </dgm:pt>
    <dgm:pt modelId="{369296DD-6043-4BB7-8D37-5D47F8FABC88}" type="parTrans" cxnId="{CF0CA5E7-D088-4052-B2F2-AE2F17508A9C}">
      <dgm:prSet/>
      <dgm:spPr/>
      <dgm:t>
        <a:bodyPr/>
        <a:lstStyle/>
        <a:p>
          <a:endParaRPr lang="en-US"/>
        </a:p>
      </dgm:t>
    </dgm:pt>
    <dgm:pt modelId="{6B03D77C-3ED3-40DF-BF74-59FF194521B2}" type="sibTrans" cxnId="{CF0CA5E7-D088-4052-B2F2-AE2F17508A9C}">
      <dgm:prSet/>
      <dgm:spPr/>
      <dgm:t>
        <a:bodyPr/>
        <a:lstStyle/>
        <a:p>
          <a:endParaRPr lang="en-US"/>
        </a:p>
      </dgm:t>
    </dgm:pt>
    <dgm:pt modelId="{6741B3C1-4770-4B67-A7B7-BFD5C2ECC880}">
      <dgm:prSet/>
      <dgm:spPr/>
      <dgm:t>
        <a:bodyPr/>
        <a:lstStyle/>
        <a:p>
          <a:r>
            <a:rPr lang="en-US"/>
            <a:t>Sans mesure, ce n'est que de la communication</a:t>
          </a:r>
        </a:p>
      </dgm:t>
    </dgm:pt>
    <dgm:pt modelId="{2ECC33F1-C97A-478E-A69A-FA87AA266C47}" type="parTrans" cxnId="{5754EA3B-4F05-464C-BBBD-BD24D168BB3B}">
      <dgm:prSet/>
      <dgm:spPr/>
      <dgm:t>
        <a:bodyPr/>
        <a:lstStyle/>
        <a:p>
          <a:endParaRPr lang="en-US"/>
        </a:p>
      </dgm:t>
    </dgm:pt>
    <dgm:pt modelId="{BCB1A886-DC94-4ED6-B1BC-9FCCEEE23E0F}" type="sibTrans" cxnId="{5754EA3B-4F05-464C-BBBD-BD24D168BB3B}">
      <dgm:prSet/>
      <dgm:spPr/>
      <dgm:t>
        <a:bodyPr/>
        <a:lstStyle/>
        <a:p>
          <a:endParaRPr lang="en-US"/>
        </a:p>
      </dgm:t>
    </dgm:pt>
    <dgm:pt modelId="{0CAF0615-59D5-4E24-B985-2C769B429D4B}" type="pres">
      <dgm:prSet presAssocID="{10E6859E-AB40-4C2C-B4AC-90F334F02E77}" presName="hierChild1" presStyleCnt="0">
        <dgm:presLayoutVars>
          <dgm:chPref val="1"/>
          <dgm:dir/>
          <dgm:animOne val="branch"/>
          <dgm:animLvl val="lvl"/>
          <dgm:resizeHandles/>
        </dgm:presLayoutVars>
      </dgm:prSet>
      <dgm:spPr/>
    </dgm:pt>
    <dgm:pt modelId="{B288ED86-DD46-43E4-B2C4-35193B22B67D}" type="pres">
      <dgm:prSet presAssocID="{B9E60E9F-0FCE-4AD0-86D6-89075C9823B6}" presName="hierRoot1" presStyleCnt="0"/>
      <dgm:spPr/>
    </dgm:pt>
    <dgm:pt modelId="{9513B97A-ED14-4E5A-A4AD-04C51708CC5F}" type="pres">
      <dgm:prSet presAssocID="{B9E60E9F-0FCE-4AD0-86D6-89075C9823B6}" presName="composite" presStyleCnt="0"/>
      <dgm:spPr/>
    </dgm:pt>
    <dgm:pt modelId="{306B0EE7-ED08-457F-B2C2-CF97B9EFD119}" type="pres">
      <dgm:prSet presAssocID="{B9E60E9F-0FCE-4AD0-86D6-89075C9823B6}" presName="background" presStyleLbl="node0" presStyleIdx="0" presStyleCnt="3"/>
      <dgm:spPr/>
    </dgm:pt>
    <dgm:pt modelId="{C5230687-7A49-43E1-A572-5900D927325A}" type="pres">
      <dgm:prSet presAssocID="{B9E60E9F-0FCE-4AD0-86D6-89075C9823B6}" presName="text" presStyleLbl="fgAcc0" presStyleIdx="0" presStyleCnt="3">
        <dgm:presLayoutVars>
          <dgm:chPref val="3"/>
        </dgm:presLayoutVars>
      </dgm:prSet>
      <dgm:spPr/>
    </dgm:pt>
    <dgm:pt modelId="{0181CACA-77FA-4CC4-ABBC-A59DAE4CD262}" type="pres">
      <dgm:prSet presAssocID="{B9E60E9F-0FCE-4AD0-86D6-89075C9823B6}" presName="hierChild2" presStyleCnt="0"/>
      <dgm:spPr/>
    </dgm:pt>
    <dgm:pt modelId="{F04D852C-18F3-4573-B1B1-0D10AE777CA6}" type="pres">
      <dgm:prSet presAssocID="{04C51BFF-F7FC-4951-B058-8453CD725C24}" presName="hierRoot1" presStyleCnt="0"/>
      <dgm:spPr/>
    </dgm:pt>
    <dgm:pt modelId="{4850E363-2A51-43D1-9F97-6B075BB0AB4C}" type="pres">
      <dgm:prSet presAssocID="{04C51BFF-F7FC-4951-B058-8453CD725C24}" presName="composite" presStyleCnt="0"/>
      <dgm:spPr/>
    </dgm:pt>
    <dgm:pt modelId="{85F09300-35BE-4A1C-8A8B-7D72A320AFE2}" type="pres">
      <dgm:prSet presAssocID="{04C51BFF-F7FC-4951-B058-8453CD725C24}" presName="background" presStyleLbl="node0" presStyleIdx="1" presStyleCnt="3"/>
      <dgm:spPr/>
    </dgm:pt>
    <dgm:pt modelId="{F7B0EF75-E1DB-452B-86FE-75632B760F94}" type="pres">
      <dgm:prSet presAssocID="{04C51BFF-F7FC-4951-B058-8453CD725C24}" presName="text" presStyleLbl="fgAcc0" presStyleIdx="1" presStyleCnt="3">
        <dgm:presLayoutVars>
          <dgm:chPref val="3"/>
        </dgm:presLayoutVars>
      </dgm:prSet>
      <dgm:spPr/>
    </dgm:pt>
    <dgm:pt modelId="{44B4D833-AE4C-472C-A708-0D986B7031BB}" type="pres">
      <dgm:prSet presAssocID="{04C51BFF-F7FC-4951-B058-8453CD725C24}" presName="hierChild2" presStyleCnt="0"/>
      <dgm:spPr/>
    </dgm:pt>
    <dgm:pt modelId="{12BB2092-69E9-4000-8ADC-14BB7A9E8526}" type="pres">
      <dgm:prSet presAssocID="{6741B3C1-4770-4B67-A7B7-BFD5C2ECC880}" presName="hierRoot1" presStyleCnt="0"/>
      <dgm:spPr/>
    </dgm:pt>
    <dgm:pt modelId="{3B6D30E6-D5C6-42B0-A282-68D02146BAED}" type="pres">
      <dgm:prSet presAssocID="{6741B3C1-4770-4B67-A7B7-BFD5C2ECC880}" presName="composite" presStyleCnt="0"/>
      <dgm:spPr/>
    </dgm:pt>
    <dgm:pt modelId="{7099E0D7-51CC-4E21-9A7F-A76DDA78F696}" type="pres">
      <dgm:prSet presAssocID="{6741B3C1-4770-4B67-A7B7-BFD5C2ECC880}" presName="background" presStyleLbl="node0" presStyleIdx="2" presStyleCnt="3"/>
      <dgm:spPr/>
    </dgm:pt>
    <dgm:pt modelId="{855DA8A6-EEC1-43D8-8156-8C3689146356}" type="pres">
      <dgm:prSet presAssocID="{6741B3C1-4770-4B67-A7B7-BFD5C2ECC880}" presName="text" presStyleLbl="fgAcc0" presStyleIdx="2" presStyleCnt="3">
        <dgm:presLayoutVars>
          <dgm:chPref val="3"/>
        </dgm:presLayoutVars>
      </dgm:prSet>
      <dgm:spPr/>
    </dgm:pt>
    <dgm:pt modelId="{DEC01C4C-D0AF-4809-8F6A-3D83BFDC9AC1}" type="pres">
      <dgm:prSet presAssocID="{6741B3C1-4770-4B67-A7B7-BFD5C2ECC880}" presName="hierChild2" presStyleCnt="0"/>
      <dgm:spPr/>
    </dgm:pt>
  </dgm:ptLst>
  <dgm:cxnLst>
    <dgm:cxn modelId="{86C9C621-20D6-4A5C-B203-48D577E3D2DE}" type="presOf" srcId="{04C51BFF-F7FC-4951-B058-8453CD725C24}" destId="{F7B0EF75-E1DB-452B-86FE-75632B760F94}" srcOrd="0" destOrd="0" presId="urn:microsoft.com/office/officeart/2005/8/layout/hierarchy1"/>
    <dgm:cxn modelId="{5754EA3B-4F05-464C-BBBD-BD24D168BB3B}" srcId="{10E6859E-AB40-4C2C-B4AC-90F334F02E77}" destId="{6741B3C1-4770-4B67-A7B7-BFD5C2ECC880}" srcOrd="2" destOrd="0" parTransId="{2ECC33F1-C97A-478E-A69A-FA87AA266C47}" sibTransId="{BCB1A886-DC94-4ED6-B1BC-9FCCEEE23E0F}"/>
    <dgm:cxn modelId="{71C46843-27C5-4662-B82A-E6B553A8F977}" type="presOf" srcId="{6741B3C1-4770-4B67-A7B7-BFD5C2ECC880}" destId="{855DA8A6-EEC1-43D8-8156-8C3689146356}" srcOrd="0" destOrd="0" presId="urn:microsoft.com/office/officeart/2005/8/layout/hierarchy1"/>
    <dgm:cxn modelId="{14235047-2454-4A8D-9777-9F48A9A634F9}" type="presOf" srcId="{B9E60E9F-0FCE-4AD0-86D6-89075C9823B6}" destId="{C5230687-7A49-43E1-A572-5900D927325A}" srcOrd="0" destOrd="0" presId="urn:microsoft.com/office/officeart/2005/8/layout/hierarchy1"/>
    <dgm:cxn modelId="{AB846D48-110D-4CB2-AAFE-B5C219AAD064}" srcId="{10E6859E-AB40-4C2C-B4AC-90F334F02E77}" destId="{B9E60E9F-0FCE-4AD0-86D6-89075C9823B6}" srcOrd="0" destOrd="0" parTransId="{85AF5C3B-A33A-4D3E-BFA9-3A960C91765B}" sibTransId="{862B60C7-0378-4E30-9607-86161DBA09CC}"/>
    <dgm:cxn modelId="{11C3CADE-8DB5-4A0E-88D7-9B5004728EE7}" type="presOf" srcId="{10E6859E-AB40-4C2C-B4AC-90F334F02E77}" destId="{0CAF0615-59D5-4E24-B985-2C769B429D4B}" srcOrd="0" destOrd="0" presId="urn:microsoft.com/office/officeart/2005/8/layout/hierarchy1"/>
    <dgm:cxn modelId="{CF0CA5E7-D088-4052-B2F2-AE2F17508A9C}" srcId="{10E6859E-AB40-4C2C-B4AC-90F334F02E77}" destId="{04C51BFF-F7FC-4951-B058-8453CD725C24}" srcOrd="1" destOrd="0" parTransId="{369296DD-6043-4BB7-8D37-5D47F8FABC88}" sibTransId="{6B03D77C-3ED3-40DF-BF74-59FF194521B2}"/>
    <dgm:cxn modelId="{A502A39D-8D65-4CC9-B5B0-F8D02B6E6CCD}" type="presParOf" srcId="{0CAF0615-59D5-4E24-B985-2C769B429D4B}" destId="{B288ED86-DD46-43E4-B2C4-35193B22B67D}" srcOrd="0" destOrd="0" presId="urn:microsoft.com/office/officeart/2005/8/layout/hierarchy1"/>
    <dgm:cxn modelId="{5D28441F-BADB-41F7-ABE1-40AA9326F444}" type="presParOf" srcId="{B288ED86-DD46-43E4-B2C4-35193B22B67D}" destId="{9513B97A-ED14-4E5A-A4AD-04C51708CC5F}" srcOrd="0" destOrd="0" presId="urn:microsoft.com/office/officeart/2005/8/layout/hierarchy1"/>
    <dgm:cxn modelId="{0355715C-7138-47D7-AF5A-3A492AF764DB}" type="presParOf" srcId="{9513B97A-ED14-4E5A-A4AD-04C51708CC5F}" destId="{306B0EE7-ED08-457F-B2C2-CF97B9EFD119}" srcOrd="0" destOrd="0" presId="urn:microsoft.com/office/officeart/2005/8/layout/hierarchy1"/>
    <dgm:cxn modelId="{DDDF39B9-76CE-4032-99AB-4169A2FD24DC}" type="presParOf" srcId="{9513B97A-ED14-4E5A-A4AD-04C51708CC5F}" destId="{C5230687-7A49-43E1-A572-5900D927325A}" srcOrd="1" destOrd="0" presId="urn:microsoft.com/office/officeart/2005/8/layout/hierarchy1"/>
    <dgm:cxn modelId="{86D0CA56-5BF9-4485-B45F-075FCD77B93F}" type="presParOf" srcId="{B288ED86-DD46-43E4-B2C4-35193B22B67D}" destId="{0181CACA-77FA-4CC4-ABBC-A59DAE4CD262}" srcOrd="1" destOrd="0" presId="urn:microsoft.com/office/officeart/2005/8/layout/hierarchy1"/>
    <dgm:cxn modelId="{4AD9B62D-792D-43ED-B281-F1071AA6EA85}" type="presParOf" srcId="{0CAF0615-59D5-4E24-B985-2C769B429D4B}" destId="{F04D852C-18F3-4573-B1B1-0D10AE777CA6}" srcOrd="1" destOrd="0" presId="urn:microsoft.com/office/officeart/2005/8/layout/hierarchy1"/>
    <dgm:cxn modelId="{E117EF0A-6C3D-44C3-B93D-3B0BDCCF4E7C}" type="presParOf" srcId="{F04D852C-18F3-4573-B1B1-0D10AE777CA6}" destId="{4850E363-2A51-43D1-9F97-6B075BB0AB4C}" srcOrd="0" destOrd="0" presId="urn:microsoft.com/office/officeart/2005/8/layout/hierarchy1"/>
    <dgm:cxn modelId="{D2A2D92B-E450-4524-BD47-8108933E85D1}" type="presParOf" srcId="{4850E363-2A51-43D1-9F97-6B075BB0AB4C}" destId="{85F09300-35BE-4A1C-8A8B-7D72A320AFE2}" srcOrd="0" destOrd="0" presId="urn:microsoft.com/office/officeart/2005/8/layout/hierarchy1"/>
    <dgm:cxn modelId="{1FE2796A-C979-41C9-A697-DEBF287BA707}" type="presParOf" srcId="{4850E363-2A51-43D1-9F97-6B075BB0AB4C}" destId="{F7B0EF75-E1DB-452B-86FE-75632B760F94}" srcOrd="1" destOrd="0" presId="urn:microsoft.com/office/officeart/2005/8/layout/hierarchy1"/>
    <dgm:cxn modelId="{21B68DDA-AF11-41FD-BEC0-23A0B65AF852}" type="presParOf" srcId="{F04D852C-18F3-4573-B1B1-0D10AE777CA6}" destId="{44B4D833-AE4C-472C-A708-0D986B7031BB}" srcOrd="1" destOrd="0" presId="urn:microsoft.com/office/officeart/2005/8/layout/hierarchy1"/>
    <dgm:cxn modelId="{6F24C9E2-BA01-4A5B-9E55-FD5A8F4DDA6B}" type="presParOf" srcId="{0CAF0615-59D5-4E24-B985-2C769B429D4B}" destId="{12BB2092-69E9-4000-8ADC-14BB7A9E8526}" srcOrd="2" destOrd="0" presId="urn:microsoft.com/office/officeart/2005/8/layout/hierarchy1"/>
    <dgm:cxn modelId="{62DCC198-41BE-4BAF-B625-7A31B3D66CD3}" type="presParOf" srcId="{12BB2092-69E9-4000-8ADC-14BB7A9E8526}" destId="{3B6D30E6-D5C6-42B0-A282-68D02146BAED}" srcOrd="0" destOrd="0" presId="urn:microsoft.com/office/officeart/2005/8/layout/hierarchy1"/>
    <dgm:cxn modelId="{C5078412-81C4-4A94-B107-68DC79F858C9}" type="presParOf" srcId="{3B6D30E6-D5C6-42B0-A282-68D02146BAED}" destId="{7099E0D7-51CC-4E21-9A7F-A76DDA78F696}" srcOrd="0" destOrd="0" presId="urn:microsoft.com/office/officeart/2005/8/layout/hierarchy1"/>
    <dgm:cxn modelId="{420E66E7-F529-473E-89F2-F0E009CF093B}" type="presParOf" srcId="{3B6D30E6-D5C6-42B0-A282-68D02146BAED}" destId="{855DA8A6-EEC1-43D8-8156-8C3689146356}" srcOrd="1" destOrd="0" presId="urn:microsoft.com/office/officeart/2005/8/layout/hierarchy1"/>
    <dgm:cxn modelId="{DDF6E0E1-F15B-41D7-9D34-8E76ADC9E589}" type="presParOf" srcId="{12BB2092-69E9-4000-8ADC-14BB7A9E8526}" destId="{DEC01C4C-D0AF-4809-8F6A-3D83BFDC9AC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06FA01F-9816-499E-9F5C-CF6E903F768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00CE3B1-A9B3-4E9D-BAE3-D7F4F9337F0C}">
      <dgm:prSet/>
      <dgm:spPr/>
      <dgm:t>
        <a:bodyPr/>
        <a:lstStyle/>
        <a:p>
          <a:r>
            <a:rPr lang="en-US"/>
            <a:t>Court terme : ingénieur logiciel, qualité et plus value DevOps</a:t>
          </a:r>
        </a:p>
      </dgm:t>
    </dgm:pt>
    <dgm:pt modelId="{6D66ADD6-482C-4DAB-948E-54709D10EA3D}" type="parTrans" cxnId="{F2B7F4F9-9E13-41E4-B441-D5766063C14E}">
      <dgm:prSet/>
      <dgm:spPr/>
      <dgm:t>
        <a:bodyPr/>
        <a:lstStyle/>
        <a:p>
          <a:endParaRPr lang="en-US"/>
        </a:p>
      </dgm:t>
    </dgm:pt>
    <dgm:pt modelId="{3E03E96C-F0A2-44B3-8C3F-13AA19993041}" type="sibTrans" cxnId="{F2B7F4F9-9E13-41E4-B441-D5766063C14E}">
      <dgm:prSet/>
      <dgm:spPr/>
      <dgm:t>
        <a:bodyPr/>
        <a:lstStyle/>
        <a:p>
          <a:endParaRPr lang="en-US"/>
        </a:p>
      </dgm:t>
    </dgm:pt>
    <dgm:pt modelId="{6CD8F93E-93D0-480D-BD3F-2A91325CB683}">
      <dgm:prSet/>
      <dgm:spPr/>
      <dgm:t>
        <a:bodyPr/>
        <a:lstStyle/>
        <a:p>
          <a:r>
            <a:rPr lang="en-US"/>
            <a:t>Moyen terme : systèmes distribués</a:t>
          </a:r>
        </a:p>
      </dgm:t>
    </dgm:pt>
    <dgm:pt modelId="{B4D26C03-E5F5-4E74-9860-1549A27D97DC}" type="parTrans" cxnId="{FEE2AEA4-5B99-46C1-9D33-295B958F46E5}">
      <dgm:prSet/>
      <dgm:spPr/>
      <dgm:t>
        <a:bodyPr/>
        <a:lstStyle/>
        <a:p>
          <a:endParaRPr lang="en-US"/>
        </a:p>
      </dgm:t>
    </dgm:pt>
    <dgm:pt modelId="{741A7C15-A182-42EE-97FB-2900A97BF3BC}" type="sibTrans" cxnId="{FEE2AEA4-5B99-46C1-9D33-295B958F46E5}">
      <dgm:prSet/>
      <dgm:spPr/>
      <dgm:t>
        <a:bodyPr/>
        <a:lstStyle/>
        <a:p>
          <a:endParaRPr lang="en-US"/>
        </a:p>
      </dgm:t>
    </dgm:pt>
    <dgm:pt modelId="{1841A44F-8175-4BC0-BEAE-A1EF7AFD0F27}">
      <dgm:prSet/>
      <dgm:spPr/>
      <dgm:t>
        <a:bodyPr/>
        <a:lstStyle/>
        <a:p>
          <a:r>
            <a:rPr lang="en-US"/>
            <a:t>Long terme : Enseignement et transmission de savoir</a:t>
          </a:r>
        </a:p>
      </dgm:t>
    </dgm:pt>
    <dgm:pt modelId="{4DF8D55B-8625-4CCE-B6E5-20ED1048AFD5}" type="parTrans" cxnId="{4830FD2A-CA12-4E02-840C-EE5AC311BA79}">
      <dgm:prSet/>
      <dgm:spPr/>
      <dgm:t>
        <a:bodyPr/>
        <a:lstStyle/>
        <a:p>
          <a:endParaRPr lang="en-US"/>
        </a:p>
      </dgm:t>
    </dgm:pt>
    <dgm:pt modelId="{DB7D1FF1-B0FD-4582-BBC2-5D776481271C}" type="sibTrans" cxnId="{4830FD2A-CA12-4E02-840C-EE5AC311BA79}">
      <dgm:prSet/>
      <dgm:spPr/>
      <dgm:t>
        <a:bodyPr/>
        <a:lstStyle/>
        <a:p>
          <a:endParaRPr lang="en-US"/>
        </a:p>
      </dgm:t>
    </dgm:pt>
    <dgm:pt modelId="{B2968F9B-FE87-418D-972A-A93BF387ABC8}">
      <dgm:prSet/>
      <dgm:spPr/>
      <dgm:t>
        <a:bodyPr/>
        <a:lstStyle/>
        <a:p>
          <a:r>
            <a:rPr lang="en-US"/>
            <a:t>Contribuer à l'open source</a:t>
          </a:r>
        </a:p>
      </dgm:t>
    </dgm:pt>
    <dgm:pt modelId="{3F9F47B1-02F1-4BEA-9E77-E1581FA6F9E3}" type="parTrans" cxnId="{14834FAB-E023-44BE-991F-036A2BEDB121}">
      <dgm:prSet/>
      <dgm:spPr/>
      <dgm:t>
        <a:bodyPr/>
        <a:lstStyle/>
        <a:p>
          <a:endParaRPr lang="en-US"/>
        </a:p>
      </dgm:t>
    </dgm:pt>
    <dgm:pt modelId="{B366C3EC-416C-46EC-AC24-4EE4DDF5FDC8}" type="sibTrans" cxnId="{14834FAB-E023-44BE-991F-036A2BEDB121}">
      <dgm:prSet/>
      <dgm:spPr/>
      <dgm:t>
        <a:bodyPr/>
        <a:lstStyle/>
        <a:p>
          <a:endParaRPr lang="en-US"/>
        </a:p>
      </dgm:t>
    </dgm:pt>
    <dgm:pt modelId="{A5F1CD75-4F73-4A43-BBA3-611D9C4A854A}" type="pres">
      <dgm:prSet presAssocID="{406FA01F-9816-499E-9F5C-CF6E903F768A}" presName="linear" presStyleCnt="0">
        <dgm:presLayoutVars>
          <dgm:animLvl val="lvl"/>
          <dgm:resizeHandles val="exact"/>
        </dgm:presLayoutVars>
      </dgm:prSet>
      <dgm:spPr/>
    </dgm:pt>
    <dgm:pt modelId="{2421234C-3B9B-4D80-814A-443289AADA14}" type="pres">
      <dgm:prSet presAssocID="{000CE3B1-A9B3-4E9D-BAE3-D7F4F9337F0C}" presName="parentText" presStyleLbl="node1" presStyleIdx="0" presStyleCnt="4">
        <dgm:presLayoutVars>
          <dgm:chMax val="0"/>
          <dgm:bulletEnabled val="1"/>
        </dgm:presLayoutVars>
      </dgm:prSet>
      <dgm:spPr/>
    </dgm:pt>
    <dgm:pt modelId="{82D6E8E0-94EF-4ED6-8355-DE5574F76230}" type="pres">
      <dgm:prSet presAssocID="{3E03E96C-F0A2-44B3-8C3F-13AA19993041}" presName="spacer" presStyleCnt="0"/>
      <dgm:spPr/>
    </dgm:pt>
    <dgm:pt modelId="{7F1ADED1-B753-4508-AB08-82B388C9ED3E}" type="pres">
      <dgm:prSet presAssocID="{6CD8F93E-93D0-480D-BD3F-2A91325CB683}" presName="parentText" presStyleLbl="node1" presStyleIdx="1" presStyleCnt="4">
        <dgm:presLayoutVars>
          <dgm:chMax val="0"/>
          <dgm:bulletEnabled val="1"/>
        </dgm:presLayoutVars>
      </dgm:prSet>
      <dgm:spPr/>
    </dgm:pt>
    <dgm:pt modelId="{BB3AD816-C443-4934-9C08-063FD8427B24}" type="pres">
      <dgm:prSet presAssocID="{741A7C15-A182-42EE-97FB-2900A97BF3BC}" presName="spacer" presStyleCnt="0"/>
      <dgm:spPr/>
    </dgm:pt>
    <dgm:pt modelId="{BD673813-E40F-45D9-B23D-FAB30B2C2C64}" type="pres">
      <dgm:prSet presAssocID="{1841A44F-8175-4BC0-BEAE-A1EF7AFD0F27}" presName="parentText" presStyleLbl="node1" presStyleIdx="2" presStyleCnt="4">
        <dgm:presLayoutVars>
          <dgm:chMax val="0"/>
          <dgm:bulletEnabled val="1"/>
        </dgm:presLayoutVars>
      </dgm:prSet>
      <dgm:spPr/>
    </dgm:pt>
    <dgm:pt modelId="{2E798B61-F13B-46CB-B75E-5E95CF1D9F9A}" type="pres">
      <dgm:prSet presAssocID="{DB7D1FF1-B0FD-4582-BBC2-5D776481271C}" presName="spacer" presStyleCnt="0"/>
      <dgm:spPr/>
    </dgm:pt>
    <dgm:pt modelId="{5084963B-D41D-47DB-A96D-D5433CD67234}" type="pres">
      <dgm:prSet presAssocID="{B2968F9B-FE87-418D-972A-A93BF387ABC8}" presName="parentText" presStyleLbl="node1" presStyleIdx="3" presStyleCnt="4">
        <dgm:presLayoutVars>
          <dgm:chMax val="0"/>
          <dgm:bulletEnabled val="1"/>
        </dgm:presLayoutVars>
      </dgm:prSet>
      <dgm:spPr/>
    </dgm:pt>
  </dgm:ptLst>
  <dgm:cxnLst>
    <dgm:cxn modelId="{4830FD2A-CA12-4E02-840C-EE5AC311BA79}" srcId="{406FA01F-9816-499E-9F5C-CF6E903F768A}" destId="{1841A44F-8175-4BC0-BEAE-A1EF7AFD0F27}" srcOrd="2" destOrd="0" parTransId="{4DF8D55B-8625-4CCE-B6E5-20ED1048AFD5}" sibTransId="{DB7D1FF1-B0FD-4582-BBC2-5D776481271C}"/>
    <dgm:cxn modelId="{B3EFF73D-E935-4080-9FED-3D05275CFD68}" type="presOf" srcId="{6CD8F93E-93D0-480D-BD3F-2A91325CB683}" destId="{7F1ADED1-B753-4508-AB08-82B388C9ED3E}" srcOrd="0" destOrd="0" presId="urn:microsoft.com/office/officeart/2005/8/layout/vList2"/>
    <dgm:cxn modelId="{8A7C2451-7675-4564-A4B0-5D2E9578BADD}" type="presOf" srcId="{000CE3B1-A9B3-4E9D-BAE3-D7F4F9337F0C}" destId="{2421234C-3B9B-4D80-814A-443289AADA14}" srcOrd="0" destOrd="0" presId="urn:microsoft.com/office/officeart/2005/8/layout/vList2"/>
    <dgm:cxn modelId="{B3F9A99D-CCBB-4E81-8991-53603ACF8BB7}" type="presOf" srcId="{1841A44F-8175-4BC0-BEAE-A1EF7AFD0F27}" destId="{BD673813-E40F-45D9-B23D-FAB30B2C2C64}" srcOrd="0" destOrd="0" presId="urn:microsoft.com/office/officeart/2005/8/layout/vList2"/>
    <dgm:cxn modelId="{4115C5A0-319E-4090-AEEB-340DBDA7AB38}" type="presOf" srcId="{406FA01F-9816-499E-9F5C-CF6E903F768A}" destId="{A5F1CD75-4F73-4A43-BBA3-611D9C4A854A}" srcOrd="0" destOrd="0" presId="urn:microsoft.com/office/officeart/2005/8/layout/vList2"/>
    <dgm:cxn modelId="{FEE2AEA4-5B99-46C1-9D33-295B958F46E5}" srcId="{406FA01F-9816-499E-9F5C-CF6E903F768A}" destId="{6CD8F93E-93D0-480D-BD3F-2A91325CB683}" srcOrd="1" destOrd="0" parTransId="{B4D26C03-E5F5-4E74-9860-1549A27D97DC}" sibTransId="{741A7C15-A182-42EE-97FB-2900A97BF3BC}"/>
    <dgm:cxn modelId="{14834FAB-E023-44BE-991F-036A2BEDB121}" srcId="{406FA01F-9816-499E-9F5C-CF6E903F768A}" destId="{B2968F9B-FE87-418D-972A-A93BF387ABC8}" srcOrd="3" destOrd="0" parTransId="{3F9F47B1-02F1-4BEA-9E77-E1581FA6F9E3}" sibTransId="{B366C3EC-416C-46EC-AC24-4EE4DDF5FDC8}"/>
    <dgm:cxn modelId="{0CBB95BA-557D-4CB0-AA88-B404123AEB13}" type="presOf" srcId="{B2968F9B-FE87-418D-972A-A93BF387ABC8}" destId="{5084963B-D41D-47DB-A96D-D5433CD67234}" srcOrd="0" destOrd="0" presId="urn:microsoft.com/office/officeart/2005/8/layout/vList2"/>
    <dgm:cxn modelId="{F2B7F4F9-9E13-41E4-B441-D5766063C14E}" srcId="{406FA01F-9816-499E-9F5C-CF6E903F768A}" destId="{000CE3B1-A9B3-4E9D-BAE3-D7F4F9337F0C}" srcOrd="0" destOrd="0" parTransId="{6D66ADD6-482C-4DAB-948E-54709D10EA3D}" sibTransId="{3E03E96C-F0A2-44B3-8C3F-13AA19993041}"/>
    <dgm:cxn modelId="{54CD97DB-6A05-4D61-A9B7-201470F5D6B8}" type="presParOf" srcId="{A5F1CD75-4F73-4A43-BBA3-611D9C4A854A}" destId="{2421234C-3B9B-4D80-814A-443289AADA14}" srcOrd="0" destOrd="0" presId="urn:microsoft.com/office/officeart/2005/8/layout/vList2"/>
    <dgm:cxn modelId="{449A8A78-C743-474F-B0A8-43F4F3170278}" type="presParOf" srcId="{A5F1CD75-4F73-4A43-BBA3-611D9C4A854A}" destId="{82D6E8E0-94EF-4ED6-8355-DE5574F76230}" srcOrd="1" destOrd="0" presId="urn:microsoft.com/office/officeart/2005/8/layout/vList2"/>
    <dgm:cxn modelId="{C5AACCD6-C9D1-464C-A8B7-F2707222CF95}" type="presParOf" srcId="{A5F1CD75-4F73-4A43-BBA3-611D9C4A854A}" destId="{7F1ADED1-B753-4508-AB08-82B388C9ED3E}" srcOrd="2" destOrd="0" presId="urn:microsoft.com/office/officeart/2005/8/layout/vList2"/>
    <dgm:cxn modelId="{49689838-C7BC-4DB5-B694-6104EB830F6C}" type="presParOf" srcId="{A5F1CD75-4F73-4A43-BBA3-611D9C4A854A}" destId="{BB3AD816-C443-4934-9C08-063FD8427B24}" srcOrd="3" destOrd="0" presId="urn:microsoft.com/office/officeart/2005/8/layout/vList2"/>
    <dgm:cxn modelId="{6F82A840-CBDD-4023-9B74-71336AE5738E}" type="presParOf" srcId="{A5F1CD75-4F73-4A43-BBA3-611D9C4A854A}" destId="{BD673813-E40F-45D9-B23D-FAB30B2C2C64}" srcOrd="4" destOrd="0" presId="urn:microsoft.com/office/officeart/2005/8/layout/vList2"/>
    <dgm:cxn modelId="{6B1E86F7-463E-42C9-8B21-BD2AD636B05F}" type="presParOf" srcId="{A5F1CD75-4F73-4A43-BBA3-611D9C4A854A}" destId="{2E798B61-F13B-46CB-B75E-5E95CF1D9F9A}" srcOrd="5" destOrd="0" presId="urn:microsoft.com/office/officeart/2005/8/layout/vList2"/>
    <dgm:cxn modelId="{F0473F5B-0537-499E-9D29-667F9AB06D6E}" type="presParOf" srcId="{A5F1CD75-4F73-4A43-BBA3-611D9C4A854A}" destId="{5084963B-D41D-47DB-A96D-D5433CD67234}"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EFEA95C-D603-4CD5-9C94-9D26ECAE8B28}"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DA327EC6-2970-476D-BFD2-7826A384A614}">
      <dgm:prSet/>
      <dgm:spPr/>
      <dgm:t>
        <a:bodyPr/>
        <a:lstStyle/>
        <a:p>
          <a:r>
            <a:rPr lang="en-US"/>
            <a:t>Un socle technique   -   Une dimension humaine</a:t>
          </a:r>
        </a:p>
      </dgm:t>
    </dgm:pt>
    <dgm:pt modelId="{72D7CAAF-DA2F-4FBB-A293-D391D9F0A491}" type="parTrans" cxnId="{0A40F11B-CB25-4828-BE93-C1EC506624A8}">
      <dgm:prSet/>
      <dgm:spPr/>
      <dgm:t>
        <a:bodyPr/>
        <a:lstStyle/>
        <a:p>
          <a:endParaRPr lang="en-US"/>
        </a:p>
      </dgm:t>
    </dgm:pt>
    <dgm:pt modelId="{4F9E6EED-199F-479D-9D59-974E5660AA84}" type="sibTrans" cxnId="{0A40F11B-CB25-4828-BE93-C1EC506624A8}">
      <dgm:prSet/>
      <dgm:spPr/>
      <dgm:t>
        <a:bodyPr/>
        <a:lstStyle/>
        <a:p>
          <a:endParaRPr lang="en-US"/>
        </a:p>
      </dgm:t>
    </dgm:pt>
    <dgm:pt modelId="{3680BEF2-98AE-498B-945D-1AD9EB92BED7}">
      <dgm:prSet/>
      <dgm:spPr/>
      <dgm:t>
        <a:bodyPr/>
        <a:lstStyle/>
        <a:p>
          <a:r>
            <a:rPr lang="en-US"/>
            <a:t>Une décision assumée   -   Une approche durable</a:t>
          </a:r>
        </a:p>
      </dgm:t>
    </dgm:pt>
    <dgm:pt modelId="{B1334D0F-7974-4D91-A799-CFD897FED870}" type="parTrans" cxnId="{F2B943DA-1B88-4508-9ED2-0B89C49E951B}">
      <dgm:prSet/>
      <dgm:spPr/>
      <dgm:t>
        <a:bodyPr/>
        <a:lstStyle/>
        <a:p>
          <a:endParaRPr lang="en-US"/>
        </a:p>
      </dgm:t>
    </dgm:pt>
    <dgm:pt modelId="{3C5DCDE0-8EAE-49F7-AC20-4C63B50F64D5}" type="sibTrans" cxnId="{F2B943DA-1B88-4508-9ED2-0B89C49E951B}">
      <dgm:prSet/>
      <dgm:spPr/>
      <dgm:t>
        <a:bodyPr/>
        <a:lstStyle/>
        <a:p>
          <a:endParaRPr lang="en-US"/>
        </a:p>
      </dgm:t>
    </dgm:pt>
    <dgm:pt modelId="{93CDFF14-2A98-448C-A039-F3B1B2B8460F}" type="pres">
      <dgm:prSet presAssocID="{6EFEA95C-D603-4CD5-9C94-9D26ECAE8B28}" presName="hierChild1" presStyleCnt="0">
        <dgm:presLayoutVars>
          <dgm:chPref val="1"/>
          <dgm:dir/>
          <dgm:animOne val="branch"/>
          <dgm:animLvl val="lvl"/>
          <dgm:resizeHandles/>
        </dgm:presLayoutVars>
      </dgm:prSet>
      <dgm:spPr/>
    </dgm:pt>
    <dgm:pt modelId="{6C124322-423B-4756-A9CC-9DB3CC19C8E1}" type="pres">
      <dgm:prSet presAssocID="{DA327EC6-2970-476D-BFD2-7826A384A614}" presName="hierRoot1" presStyleCnt="0"/>
      <dgm:spPr/>
    </dgm:pt>
    <dgm:pt modelId="{FF62C23A-8355-4B16-B8D0-EDD27E14E1EF}" type="pres">
      <dgm:prSet presAssocID="{DA327EC6-2970-476D-BFD2-7826A384A614}" presName="composite" presStyleCnt="0"/>
      <dgm:spPr/>
    </dgm:pt>
    <dgm:pt modelId="{F51AE6D0-974C-4026-BCBB-6BC2A7A1C2AA}" type="pres">
      <dgm:prSet presAssocID="{DA327EC6-2970-476D-BFD2-7826A384A614}" presName="background" presStyleLbl="node0" presStyleIdx="0" presStyleCnt="2"/>
      <dgm:spPr/>
    </dgm:pt>
    <dgm:pt modelId="{378FF1E8-449E-4167-9DCC-A5B3F8FDF32F}" type="pres">
      <dgm:prSet presAssocID="{DA327EC6-2970-476D-BFD2-7826A384A614}" presName="text" presStyleLbl="fgAcc0" presStyleIdx="0" presStyleCnt="2">
        <dgm:presLayoutVars>
          <dgm:chPref val="3"/>
        </dgm:presLayoutVars>
      </dgm:prSet>
      <dgm:spPr/>
    </dgm:pt>
    <dgm:pt modelId="{4708B02B-17D3-4A53-AAA1-D220FC2D85A6}" type="pres">
      <dgm:prSet presAssocID="{DA327EC6-2970-476D-BFD2-7826A384A614}" presName="hierChild2" presStyleCnt="0"/>
      <dgm:spPr/>
    </dgm:pt>
    <dgm:pt modelId="{F62133C1-8A64-4AC1-99CF-831835F3321D}" type="pres">
      <dgm:prSet presAssocID="{3680BEF2-98AE-498B-945D-1AD9EB92BED7}" presName="hierRoot1" presStyleCnt="0"/>
      <dgm:spPr/>
    </dgm:pt>
    <dgm:pt modelId="{EEE41CA7-228E-4AFB-8C21-279C5E0E011C}" type="pres">
      <dgm:prSet presAssocID="{3680BEF2-98AE-498B-945D-1AD9EB92BED7}" presName="composite" presStyleCnt="0"/>
      <dgm:spPr/>
    </dgm:pt>
    <dgm:pt modelId="{5EAFBC78-9989-438F-970A-ABB99C0F865B}" type="pres">
      <dgm:prSet presAssocID="{3680BEF2-98AE-498B-945D-1AD9EB92BED7}" presName="background" presStyleLbl="node0" presStyleIdx="1" presStyleCnt="2"/>
      <dgm:spPr/>
    </dgm:pt>
    <dgm:pt modelId="{A7037056-1360-437E-B28D-1F73441BF182}" type="pres">
      <dgm:prSet presAssocID="{3680BEF2-98AE-498B-945D-1AD9EB92BED7}" presName="text" presStyleLbl="fgAcc0" presStyleIdx="1" presStyleCnt="2">
        <dgm:presLayoutVars>
          <dgm:chPref val="3"/>
        </dgm:presLayoutVars>
      </dgm:prSet>
      <dgm:spPr/>
    </dgm:pt>
    <dgm:pt modelId="{BF8F9CBA-5972-4990-8B87-CD68AD4042A6}" type="pres">
      <dgm:prSet presAssocID="{3680BEF2-98AE-498B-945D-1AD9EB92BED7}" presName="hierChild2" presStyleCnt="0"/>
      <dgm:spPr/>
    </dgm:pt>
  </dgm:ptLst>
  <dgm:cxnLst>
    <dgm:cxn modelId="{0A40F11B-CB25-4828-BE93-C1EC506624A8}" srcId="{6EFEA95C-D603-4CD5-9C94-9D26ECAE8B28}" destId="{DA327EC6-2970-476D-BFD2-7826A384A614}" srcOrd="0" destOrd="0" parTransId="{72D7CAAF-DA2F-4FBB-A293-D391D9F0A491}" sibTransId="{4F9E6EED-199F-479D-9D59-974E5660AA84}"/>
    <dgm:cxn modelId="{14590526-4E3A-48F6-BD42-A6261191D172}" type="presOf" srcId="{6EFEA95C-D603-4CD5-9C94-9D26ECAE8B28}" destId="{93CDFF14-2A98-448C-A039-F3B1B2B8460F}" srcOrd="0" destOrd="0" presId="urn:microsoft.com/office/officeart/2005/8/layout/hierarchy1"/>
    <dgm:cxn modelId="{04433C6D-B982-4C8C-BB28-2E7D6A45512C}" type="presOf" srcId="{DA327EC6-2970-476D-BFD2-7826A384A614}" destId="{378FF1E8-449E-4167-9DCC-A5B3F8FDF32F}" srcOrd="0" destOrd="0" presId="urn:microsoft.com/office/officeart/2005/8/layout/hierarchy1"/>
    <dgm:cxn modelId="{A5493A70-1C69-475A-8F8F-6DD9BDE812C6}" type="presOf" srcId="{3680BEF2-98AE-498B-945D-1AD9EB92BED7}" destId="{A7037056-1360-437E-B28D-1F73441BF182}" srcOrd="0" destOrd="0" presId="urn:microsoft.com/office/officeart/2005/8/layout/hierarchy1"/>
    <dgm:cxn modelId="{F2B943DA-1B88-4508-9ED2-0B89C49E951B}" srcId="{6EFEA95C-D603-4CD5-9C94-9D26ECAE8B28}" destId="{3680BEF2-98AE-498B-945D-1AD9EB92BED7}" srcOrd="1" destOrd="0" parTransId="{B1334D0F-7974-4D91-A799-CFD897FED870}" sibTransId="{3C5DCDE0-8EAE-49F7-AC20-4C63B50F64D5}"/>
    <dgm:cxn modelId="{27E5AACF-FE41-4F12-B46F-E843D761C8CA}" type="presParOf" srcId="{93CDFF14-2A98-448C-A039-F3B1B2B8460F}" destId="{6C124322-423B-4756-A9CC-9DB3CC19C8E1}" srcOrd="0" destOrd="0" presId="urn:microsoft.com/office/officeart/2005/8/layout/hierarchy1"/>
    <dgm:cxn modelId="{F51FA709-610D-4845-BB5B-D1FC6EA9F8F8}" type="presParOf" srcId="{6C124322-423B-4756-A9CC-9DB3CC19C8E1}" destId="{FF62C23A-8355-4B16-B8D0-EDD27E14E1EF}" srcOrd="0" destOrd="0" presId="urn:microsoft.com/office/officeart/2005/8/layout/hierarchy1"/>
    <dgm:cxn modelId="{FB88CC36-3AC2-4CBA-98A7-A2F95B305A4A}" type="presParOf" srcId="{FF62C23A-8355-4B16-B8D0-EDD27E14E1EF}" destId="{F51AE6D0-974C-4026-BCBB-6BC2A7A1C2AA}" srcOrd="0" destOrd="0" presId="urn:microsoft.com/office/officeart/2005/8/layout/hierarchy1"/>
    <dgm:cxn modelId="{3EEDF28A-9EBC-4E7D-B4D3-563B395AE779}" type="presParOf" srcId="{FF62C23A-8355-4B16-B8D0-EDD27E14E1EF}" destId="{378FF1E8-449E-4167-9DCC-A5B3F8FDF32F}" srcOrd="1" destOrd="0" presId="urn:microsoft.com/office/officeart/2005/8/layout/hierarchy1"/>
    <dgm:cxn modelId="{6D4D7F55-E4D1-498D-BFC1-E879E747A8EC}" type="presParOf" srcId="{6C124322-423B-4756-A9CC-9DB3CC19C8E1}" destId="{4708B02B-17D3-4A53-AAA1-D220FC2D85A6}" srcOrd="1" destOrd="0" presId="urn:microsoft.com/office/officeart/2005/8/layout/hierarchy1"/>
    <dgm:cxn modelId="{3E31D110-2F48-4DE0-9527-1868354FCE27}" type="presParOf" srcId="{93CDFF14-2A98-448C-A039-F3B1B2B8460F}" destId="{F62133C1-8A64-4AC1-99CF-831835F3321D}" srcOrd="1" destOrd="0" presId="urn:microsoft.com/office/officeart/2005/8/layout/hierarchy1"/>
    <dgm:cxn modelId="{D97C219A-E866-4E1D-A4D6-CC1A4B91F48D}" type="presParOf" srcId="{F62133C1-8A64-4AC1-99CF-831835F3321D}" destId="{EEE41CA7-228E-4AFB-8C21-279C5E0E011C}" srcOrd="0" destOrd="0" presId="urn:microsoft.com/office/officeart/2005/8/layout/hierarchy1"/>
    <dgm:cxn modelId="{CA233E01-1BE4-4347-94FF-06433AF5B3FC}" type="presParOf" srcId="{EEE41CA7-228E-4AFB-8C21-279C5E0E011C}" destId="{5EAFBC78-9989-438F-970A-ABB99C0F865B}" srcOrd="0" destOrd="0" presId="urn:microsoft.com/office/officeart/2005/8/layout/hierarchy1"/>
    <dgm:cxn modelId="{D00E5BF7-6B6E-4A59-80D4-E7DEA47DA0A4}" type="presParOf" srcId="{EEE41CA7-228E-4AFB-8C21-279C5E0E011C}" destId="{A7037056-1360-437E-B28D-1F73441BF182}" srcOrd="1" destOrd="0" presId="urn:microsoft.com/office/officeart/2005/8/layout/hierarchy1"/>
    <dgm:cxn modelId="{3556194F-5C41-4C0B-9964-A3E63A4AE987}" type="presParOf" srcId="{F62133C1-8A64-4AC1-99CF-831835F3321D}" destId="{BF8F9CBA-5972-4990-8B87-CD68AD4042A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DF6E9D-26E8-40DE-9FF3-FEAB93797801}">
      <dsp:nvSpPr>
        <dsp:cNvPr id="0" name=""/>
        <dsp:cNvSpPr/>
      </dsp:nvSpPr>
      <dsp:spPr>
        <a:xfrm>
          <a:off x="0" y="397405"/>
          <a:ext cx="7152427" cy="11340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5108" tIns="416560" rIns="55510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A. Mes compétences techniques</a:t>
          </a:r>
        </a:p>
        <a:p>
          <a:pPr marL="228600" lvl="1" indent="-228600" algn="l" defTabSz="889000">
            <a:lnSpc>
              <a:spcPct val="90000"/>
            </a:lnSpc>
            <a:spcBef>
              <a:spcPct val="0"/>
            </a:spcBef>
            <a:spcAft>
              <a:spcPct val="15000"/>
            </a:spcAft>
            <a:buChar char="•"/>
          </a:pPr>
          <a:r>
            <a:rPr lang="en-US" sz="2000" kern="1200"/>
            <a:t>B. L'exigence de qualité</a:t>
          </a:r>
        </a:p>
      </dsp:txBody>
      <dsp:txXfrm>
        <a:off x="0" y="397405"/>
        <a:ext cx="7152427" cy="1134000"/>
      </dsp:txXfrm>
    </dsp:sp>
    <dsp:sp modelId="{C4BF63BD-BA80-4F22-81B4-BBAD7987A747}">
      <dsp:nvSpPr>
        <dsp:cNvPr id="0" name=""/>
        <dsp:cNvSpPr/>
      </dsp:nvSpPr>
      <dsp:spPr>
        <a:xfrm>
          <a:off x="357621" y="102205"/>
          <a:ext cx="5006698" cy="5904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41" tIns="0" rIns="189241" bIns="0" numCol="1" spcCol="1270" anchor="ctr" anchorCtr="0">
          <a:noAutofit/>
        </a:bodyPr>
        <a:lstStyle/>
        <a:p>
          <a:pPr marL="0" lvl="0" indent="0" algn="l" defTabSz="889000">
            <a:lnSpc>
              <a:spcPct val="90000"/>
            </a:lnSpc>
            <a:spcBef>
              <a:spcPct val="0"/>
            </a:spcBef>
            <a:spcAft>
              <a:spcPct val="35000"/>
            </a:spcAft>
            <a:buNone/>
          </a:pPr>
          <a:r>
            <a:rPr lang="en-US" sz="2000" kern="1200"/>
            <a:t>I.  Le socle technique</a:t>
          </a:r>
        </a:p>
      </dsp:txBody>
      <dsp:txXfrm>
        <a:off x="386442" y="131026"/>
        <a:ext cx="4949056" cy="532758"/>
      </dsp:txXfrm>
    </dsp:sp>
    <dsp:sp modelId="{27F4C142-492C-45AE-BFE7-D047F9F6F0A3}">
      <dsp:nvSpPr>
        <dsp:cNvPr id="0" name=""/>
        <dsp:cNvSpPr/>
      </dsp:nvSpPr>
      <dsp:spPr>
        <a:xfrm>
          <a:off x="0" y="1934605"/>
          <a:ext cx="7152427" cy="1449000"/>
        </a:xfrm>
        <a:prstGeom prst="rect">
          <a:avLst/>
        </a:prstGeom>
        <a:solidFill>
          <a:schemeClr val="lt1">
            <a:alpha val="90000"/>
            <a:hueOff val="0"/>
            <a:satOff val="0"/>
            <a:lumOff val="0"/>
            <a:alphaOff val="0"/>
          </a:schemeClr>
        </a:solidFill>
        <a:ln w="15875" cap="flat" cmpd="sng" algn="ctr">
          <a:solidFill>
            <a:schemeClr val="accent2">
              <a:hueOff val="885262"/>
              <a:satOff val="3045"/>
              <a:lumOff val="-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5108" tIns="416560" rIns="55510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A. Analyse du besoin</a:t>
          </a:r>
        </a:p>
        <a:p>
          <a:pPr marL="228600" lvl="1" indent="-228600" algn="l" defTabSz="889000">
            <a:lnSpc>
              <a:spcPct val="90000"/>
            </a:lnSpc>
            <a:spcBef>
              <a:spcPct val="0"/>
            </a:spcBef>
            <a:spcAft>
              <a:spcPct val="15000"/>
            </a:spcAft>
            <a:buChar char="•"/>
          </a:pPr>
          <a:r>
            <a:rPr lang="en-US" sz="2000" kern="1200"/>
            <a:t>B. Gestion de projet et agilité</a:t>
          </a:r>
        </a:p>
        <a:p>
          <a:pPr marL="228600" lvl="1" indent="-228600" algn="l" defTabSz="889000">
            <a:lnSpc>
              <a:spcPct val="90000"/>
            </a:lnSpc>
            <a:spcBef>
              <a:spcPct val="0"/>
            </a:spcBef>
            <a:spcAft>
              <a:spcPct val="15000"/>
            </a:spcAft>
            <a:buChar char="•"/>
          </a:pPr>
          <a:r>
            <a:rPr lang="en-US" sz="2000" kern="1200"/>
            <a:t>C. Projet d'interconnexion</a:t>
          </a:r>
        </a:p>
      </dsp:txBody>
      <dsp:txXfrm>
        <a:off x="0" y="1934605"/>
        <a:ext cx="7152427" cy="1449000"/>
      </dsp:txXfrm>
    </dsp:sp>
    <dsp:sp modelId="{7082C8B9-B5E6-4771-9D42-D1F62E5AD95D}">
      <dsp:nvSpPr>
        <dsp:cNvPr id="0" name=""/>
        <dsp:cNvSpPr/>
      </dsp:nvSpPr>
      <dsp:spPr>
        <a:xfrm>
          <a:off x="357621" y="1639405"/>
          <a:ext cx="5006698" cy="590400"/>
        </a:xfrm>
        <a:prstGeom prst="roundRect">
          <a:avLst/>
        </a:prstGeom>
        <a:solidFill>
          <a:schemeClr val="accent2">
            <a:hueOff val="885262"/>
            <a:satOff val="3045"/>
            <a:lumOff val="-5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41" tIns="0" rIns="189241" bIns="0" numCol="1" spcCol="1270" anchor="ctr" anchorCtr="0">
          <a:noAutofit/>
        </a:bodyPr>
        <a:lstStyle/>
        <a:p>
          <a:pPr marL="0" lvl="0" indent="0" algn="l" defTabSz="889000">
            <a:lnSpc>
              <a:spcPct val="90000"/>
            </a:lnSpc>
            <a:spcBef>
              <a:spcPct val="0"/>
            </a:spcBef>
            <a:spcAft>
              <a:spcPct val="35000"/>
            </a:spcAft>
            <a:buNone/>
          </a:pPr>
          <a:r>
            <a:rPr lang="en-US" sz="2000" kern="1200"/>
            <a:t>II.  La dimension humaine</a:t>
          </a:r>
        </a:p>
      </dsp:txBody>
      <dsp:txXfrm>
        <a:off x="386442" y="1668226"/>
        <a:ext cx="4949056" cy="532758"/>
      </dsp:txXfrm>
    </dsp:sp>
    <dsp:sp modelId="{0C2D0FC2-3789-4BED-9151-B569D76C1643}">
      <dsp:nvSpPr>
        <dsp:cNvPr id="0" name=""/>
        <dsp:cNvSpPr/>
      </dsp:nvSpPr>
      <dsp:spPr>
        <a:xfrm>
          <a:off x="0" y="3786805"/>
          <a:ext cx="7152427" cy="1134000"/>
        </a:xfrm>
        <a:prstGeom prst="rect">
          <a:avLst/>
        </a:prstGeom>
        <a:solidFill>
          <a:schemeClr val="lt1">
            <a:alpha val="90000"/>
            <a:hueOff val="0"/>
            <a:satOff val="0"/>
            <a:lumOff val="0"/>
            <a:alphaOff val="0"/>
          </a:schemeClr>
        </a:solidFill>
        <a:ln w="15875" cap="flat" cmpd="sng" algn="ctr">
          <a:solidFill>
            <a:schemeClr val="accent2">
              <a:hueOff val="1770523"/>
              <a:satOff val="6090"/>
              <a:lumOff val="-11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5108" tIns="416560" rIns="55510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A. L'étude de faisabilité</a:t>
          </a:r>
        </a:p>
        <a:p>
          <a:pPr marL="228600" lvl="1" indent="-228600" algn="l" defTabSz="889000">
            <a:lnSpc>
              <a:spcPct val="90000"/>
            </a:lnSpc>
            <a:spcBef>
              <a:spcPct val="0"/>
            </a:spcBef>
            <a:spcAft>
              <a:spcPct val="15000"/>
            </a:spcAft>
            <a:buChar char="•"/>
          </a:pPr>
          <a:r>
            <a:rPr lang="en-US" sz="2000" kern="1200"/>
            <a:t>B. Décider de façon responsable</a:t>
          </a:r>
        </a:p>
      </dsp:txBody>
      <dsp:txXfrm>
        <a:off x="0" y="3786805"/>
        <a:ext cx="7152427" cy="1134000"/>
      </dsp:txXfrm>
    </dsp:sp>
    <dsp:sp modelId="{E39A99BE-264A-4FFE-9C45-6F32A4D925CF}">
      <dsp:nvSpPr>
        <dsp:cNvPr id="0" name=""/>
        <dsp:cNvSpPr/>
      </dsp:nvSpPr>
      <dsp:spPr>
        <a:xfrm>
          <a:off x="357621" y="3491605"/>
          <a:ext cx="5006698" cy="590400"/>
        </a:xfrm>
        <a:prstGeom prst="roundRect">
          <a:avLst/>
        </a:prstGeom>
        <a:solidFill>
          <a:schemeClr val="accent2">
            <a:hueOff val="1770523"/>
            <a:satOff val="6090"/>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41" tIns="0" rIns="189241" bIns="0" numCol="1" spcCol="1270" anchor="ctr" anchorCtr="0">
          <a:noAutofit/>
        </a:bodyPr>
        <a:lstStyle/>
        <a:p>
          <a:pPr marL="0" lvl="0" indent="0" algn="l" defTabSz="889000">
            <a:lnSpc>
              <a:spcPct val="90000"/>
            </a:lnSpc>
            <a:spcBef>
              <a:spcPct val="0"/>
            </a:spcBef>
            <a:spcAft>
              <a:spcPct val="35000"/>
            </a:spcAft>
            <a:buNone/>
          </a:pPr>
          <a:r>
            <a:rPr lang="en-US" sz="2000" kern="1200"/>
            <a:t>III.  Arbitrer et décider</a:t>
          </a:r>
        </a:p>
      </dsp:txBody>
      <dsp:txXfrm>
        <a:off x="386442" y="3520426"/>
        <a:ext cx="4949056" cy="532758"/>
      </dsp:txXfrm>
    </dsp:sp>
    <dsp:sp modelId="{F47A7B56-2ED7-4CBF-ABCB-8FD41DC0597D}">
      <dsp:nvSpPr>
        <dsp:cNvPr id="0" name=""/>
        <dsp:cNvSpPr/>
      </dsp:nvSpPr>
      <dsp:spPr>
        <a:xfrm>
          <a:off x="0" y="5324005"/>
          <a:ext cx="7152427" cy="1134000"/>
        </a:xfrm>
        <a:prstGeom prst="rect">
          <a:avLst/>
        </a:prstGeom>
        <a:solidFill>
          <a:schemeClr val="lt1">
            <a:alpha val="90000"/>
            <a:hueOff val="0"/>
            <a:satOff val="0"/>
            <a:lumOff val="0"/>
            <a:alphaOff val="0"/>
          </a:schemeClr>
        </a:solidFill>
        <a:ln w="15875" cap="flat" cmpd="sng" algn="ctr">
          <a:solidFill>
            <a:schemeClr val="accent2">
              <a:hueOff val="2655785"/>
              <a:satOff val="9135"/>
              <a:lumOff val="-1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5108" tIns="416560" rIns="55510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A. Sobriété numérique</a:t>
          </a:r>
        </a:p>
        <a:p>
          <a:pPr marL="228600" lvl="1" indent="-228600" algn="l" defTabSz="889000">
            <a:lnSpc>
              <a:spcPct val="90000"/>
            </a:lnSpc>
            <a:spcBef>
              <a:spcPct val="0"/>
            </a:spcBef>
            <a:spcAft>
              <a:spcPct val="15000"/>
            </a:spcAft>
            <a:buChar char="•"/>
          </a:pPr>
          <a:r>
            <a:rPr lang="en-US" sz="2000" kern="1200"/>
            <a:t>B. L'approche cyclique</a:t>
          </a:r>
        </a:p>
      </dsp:txBody>
      <dsp:txXfrm>
        <a:off x="0" y="5324005"/>
        <a:ext cx="7152427" cy="1134000"/>
      </dsp:txXfrm>
    </dsp:sp>
    <dsp:sp modelId="{97467E21-77F3-4040-A68B-3834CB8AFAF1}">
      <dsp:nvSpPr>
        <dsp:cNvPr id="0" name=""/>
        <dsp:cNvSpPr/>
      </dsp:nvSpPr>
      <dsp:spPr>
        <a:xfrm>
          <a:off x="357621" y="5028805"/>
          <a:ext cx="5006698" cy="590400"/>
        </a:xfrm>
        <a:prstGeom prst="roundRect">
          <a:avLst/>
        </a:prstGeom>
        <a:solidFill>
          <a:schemeClr val="accent2">
            <a:hueOff val="2655785"/>
            <a:satOff val="9135"/>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41" tIns="0" rIns="189241" bIns="0" numCol="1" spcCol="1270" anchor="ctr" anchorCtr="0">
          <a:noAutofit/>
        </a:bodyPr>
        <a:lstStyle/>
        <a:p>
          <a:pPr marL="0" lvl="0" indent="0" algn="l" defTabSz="889000">
            <a:lnSpc>
              <a:spcPct val="90000"/>
            </a:lnSpc>
            <a:spcBef>
              <a:spcPct val="0"/>
            </a:spcBef>
            <a:spcAft>
              <a:spcPct val="35000"/>
            </a:spcAft>
            <a:buNone/>
          </a:pPr>
          <a:r>
            <a:rPr lang="en-US" sz="2000" kern="1200"/>
            <a:t>IV.  Une approche durable</a:t>
          </a:r>
        </a:p>
      </dsp:txBody>
      <dsp:txXfrm>
        <a:off x="386442" y="5057626"/>
        <a:ext cx="4949056"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DF831F-D69D-46E5-96B4-A2B7E7A0F13B}">
      <dsp:nvSpPr>
        <dsp:cNvPr id="0" name=""/>
        <dsp:cNvSpPr/>
      </dsp:nvSpPr>
      <dsp:spPr>
        <a:xfrm>
          <a:off x="0" y="2373122"/>
          <a:ext cx="7799831" cy="155702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Un défaut de qualité non corrigé aujourd'hui coûte plus cher à corriger demain</a:t>
          </a:r>
        </a:p>
      </dsp:txBody>
      <dsp:txXfrm>
        <a:off x="0" y="2373122"/>
        <a:ext cx="7799831" cy="1557024"/>
      </dsp:txXfrm>
    </dsp:sp>
    <dsp:sp modelId="{B6A7AB1C-4182-41D1-9823-D4BFF0C75306}">
      <dsp:nvSpPr>
        <dsp:cNvPr id="0" name=""/>
        <dsp:cNvSpPr/>
      </dsp:nvSpPr>
      <dsp:spPr>
        <a:xfrm rot="10800000">
          <a:off x="0" y="1773"/>
          <a:ext cx="7799831" cy="2394704"/>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La dette technique : un concept reconnu du génie logiciel (Ward Cunningham, 1992)</a:t>
          </a:r>
        </a:p>
      </dsp:txBody>
      <dsp:txXfrm rot="10800000">
        <a:off x="0" y="1773"/>
        <a:ext cx="7799831" cy="1556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32F8B-E739-4683-9DD3-AAF25AF494CB}">
      <dsp:nvSpPr>
        <dsp:cNvPr id="0" name=""/>
        <dsp:cNvSpPr/>
      </dsp:nvSpPr>
      <dsp:spPr>
        <a:xfrm>
          <a:off x="0" y="0"/>
          <a:ext cx="5006233" cy="2393658"/>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err="1"/>
            <a:t>fonctionnalités</a:t>
          </a:r>
          <a:r>
            <a:rPr lang="en-US" sz="2700" kern="1200"/>
            <a:t> </a:t>
          </a:r>
          <a:r>
            <a:rPr lang="en-US" sz="2700" kern="1200" err="1"/>
            <a:t>livrées</a:t>
          </a:r>
          <a:r>
            <a:rPr lang="en-US" sz="2700" kern="1200"/>
            <a:t> ne </a:t>
          </a:r>
          <a:r>
            <a:rPr lang="en-US" sz="2700" kern="1200" err="1"/>
            <a:t>sont</a:t>
          </a:r>
          <a:r>
            <a:rPr lang="en-US" sz="2700" kern="1200"/>
            <a:t> jamais </a:t>
          </a:r>
          <a:r>
            <a:rPr lang="en-US" sz="2700" kern="1200" err="1"/>
            <a:t>réellement</a:t>
          </a:r>
          <a:r>
            <a:rPr lang="en-US" sz="2700" kern="1200"/>
            <a:t> </a:t>
          </a:r>
          <a:r>
            <a:rPr lang="en-US" sz="2700" kern="1200" err="1"/>
            <a:t>utilisées</a:t>
          </a:r>
          <a:endParaRPr lang="en-US" sz="2700" kern="1200"/>
        </a:p>
      </dsp:txBody>
      <dsp:txXfrm>
        <a:off x="70108" y="70108"/>
        <a:ext cx="2532200" cy="2253442"/>
      </dsp:txXfrm>
    </dsp:sp>
    <dsp:sp modelId="{0679AB5C-A7DA-47F3-AD72-A339C10B4145}">
      <dsp:nvSpPr>
        <dsp:cNvPr id="0" name=""/>
        <dsp:cNvSpPr/>
      </dsp:nvSpPr>
      <dsp:spPr>
        <a:xfrm>
          <a:off x="883452" y="2925582"/>
          <a:ext cx="5006233" cy="2393658"/>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du code à </a:t>
          </a:r>
          <a:r>
            <a:rPr lang="en-US" sz="2700" kern="1200" err="1"/>
            <a:t>maintenir</a:t>
          </a:r>
          <a:r>
            <a:rPr lang="en-US" sz="2700" kern="1200"/>
            <a:t>, des </a:t>
          </a:r>
          <a:r>
            <a:rPr lang="en-US" sz="2700" kern="1200" err="1"/>
            <a:t>ressources</a:t>
          </a:r>
          <a:r>
            <a:rPr lang="en-US" sz="2700" kern="1200"/>
            <a:t> à faire </a:t>
          </a:r>
          <a:r>
            <a:rPr lang="en-US" sz="2700" kern="1200" err="1"/>
            <a:t>tourner</a:t>
          </a:r>
          <a:r>
            <a:rPr lang="en-US" sz="2700" kern="1200"/>
            <a:t> pour rien</a:t>
          </a:r>
        </a:p>
      </dsp:txBody>
      <dsp:txXfrm>
        <a:off x="953560" y="2995690"/>
        <a:ext cx="2426686" cy="2253442"/>
      </dsp:txXfrm>
    </dsp:sp>
    <dsp:sp modelId="{5C1115B0-2B87-4C76-B166-9D1D8C9C8C34}">
      <dsp:nvSpPr>
        <dsp:cNvPr id="0" name=""/>
        <dsp:cNvSpPr/>
      </dsp:nvSpPr>
      <dsp:spPr>
        <a:xfrm>
          <a:off x="3450355" y="1881681"/>
          <a:ext cx="1555877" cy="1555877"/>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00427" y="1881681"/>
        <a:ext cx="855733" cy="1170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CC7A4F-F611-4727-B24A-B951FFC956BE}">
      <dsp:nvSpPr>
        <dsp:cNvPr id="0" name=""/>
        <dsp:cNvSpPr/>
      </dsp:nvSpPr>
      <dsp:spPr>
        <a:xfrm>
          <a:off x="0" y="0"/>
          <a:ext cx="5006233" cy="1595772"/>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Un choix technique engage quinze ans</a:t>
          </a:r>
        </a:p>
      </dsp:txBody>
      <dsp:txXfrm>
        <a:off x="46739" y="46739"/>
        <a:ext cx="3284269" cy="1502294"/>
      </dsp:txXfrm>
    </dsp:sp>
    <dsp:sp modelId="{9CF5A7CE-1B9B-4CEF-8825-864FADAC570C}">
      <dsp:nvSpPr>
        <dsp:cNvPr id="0" name=""/>
        <dsp:cNvSpPr/>
      </dsp:nvSpPr>
      <dsp:spPr>
        <a:xfrm>
          <a:off x="441726" y="1861734"/>
          <a:ext cx="5006233" cy="1595772"/>
        </a:xfrm>
        <a:prstGeom prst="roundRect">
          <a:avLst>
            <a:gd name="adj" fmla="val 10000"/>
          </a:avLst>
        </a:prstGeom>
        <a:solidFill>
          <a:schemeClr val="accent2">
            <a:hueOff val="1327892"/>
            <a:satOff val="4567"/>
            <a:lumOff val="-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Pérennité, dépendance, coût total</a:t>
          </a:r>
        </a:p>
      </dsp:txBody>
      <dsp:txXfrm>
        <a:off x="488465" y="1908473"/>
        <a:ext cx="3433776" cy="1502294"/>
      </dsp:txXfrm>
    </dsp:sp>
    <dsp:sp modelId="{2A9E6B04-272E-4FF7-92CF-9B6C0D7AA1AA}">
      <dsp:nvSpPr>
        <dsp:cNvPr id="0" name=""/>
        <dsp:cNvSpPr/>
      </dsp:nvSpPr>
      <dsp:spPr>
        <a:xfrm>
          <a:off x="883452" y="3723468"/>
          <a:ext cx="5006233" cy="1595772"/>
        </a:xfrm>
        <a:prstGeom prst="roundRect">
          <a:avLst>
            <a:gd name="adj" fmla="val 10000"/>
          </a:avLst>
        </a:prstGeom>
        <a:solidFill>
          <a:schemeClr val="accent2">
            <a:hueOff val="2655785"/>
            <a:satOff val="9135"/>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La décision ne m'appartient pas - l'éclairer, si</a:t>
          </a:r>
        </a:p>
      </dsp:txBody>
      <dsp:txXfrm>
        <a:off x="930191" y="3770207"/>
        <a:ext cx="3433776" cy="1502294"/>
      </dsp:txXfrm>
    </dsp:sp>
    <dsp:sp modelId="{556D128D-C71B-4BEA-BEA4-A3210B9265CD}">
      <dsp:nvSpPr>
        <dsp:cNvPr id="0" name=""/>
        <dsp:cNvSpPr/>
      </dsp:nvSpPr>
      <dsp:spPr>
        <a:xfrm>
          <a:off x="3968981" y="1210127"/>
          <a:ext cx="1037251" cy="1037251"/>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02362" y="1210127"/>
        <a:ext cx="570489" cy="780531"/>
      </dsp:txXfrm>
    </dsp:sp>
    <dsp:sp modelId="{38DD8D22-F301-49A3-BB23-772A98AA1620}">
      <dsp:nvSpPr>
        <dsp:cNvPr id="0" name=""/>
        <dsp:cNvSpPr/>
      </dsp:nvSpPr>
      <dsp:spPr>
        <a:xfrm>
          <a:off x="4410707" y="3061223"/>
          <a:ext cx="1037251" cy="1037251"/>
        </a:xfrm>
        <a:prstGeom prst="downArrow">
          <a:avLst>
            <a:gd name="adj1" fmla="val 55000"/>
            <a:gd name="adj2" fmla="val 45000"/>
          </a:avLst>
        </a:prstGeom>
        <a:solidFill>
          <a:schemeClr val="accent2">
            <a:tint val="40000"/>
            <a:alpha val="90000"/>
            <a:hueOff val="3334177"/>
            <a:satOff val="7689"/>
            <a:lumOff val="83"/>
            <a:alphaOff val="0"/>
          </a:schemeClr>
        </a:solidFill>
        <a:ln w="15875" cap="flat" cmpd="sng" algn="ctr">
          <a:solidFill>
            <a:schemeClr val="accent2">
              <a:tint val="40000"/>
              <a:alpha val="90000"/>
              <a:hueOff val="3334177"/>
              <a:satOff val="7689"/>
              <a:lumOff val="8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644088" y="3061223"/>
        <a:ext cx="570489" cy="7805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B0EE7-ED08-457F-B2C2-CF97B9EFD119}">
      <dsp:nvSpPr>
        <dsp:cNvPr id="0" name=""/>
        <dsp:cNvSpPr/>
      </dsp:nvSpPr>
      <dsp:spPr>
        <a:xfrm>
          <a:off x="0" y="1153680"/>
          <a:ext cx="2193702" cy="13930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230687-7A49-43E1-A572-5900D927325A}">
      <dsp:nvSpPr>
        <dsp:cNvPr id="0" name=""/>
        <dsp:cNvSpPr/>
      </dsp:nvSpPr>
      <dsp:spPr>
        <a:xfrm>
          <a:off x="243744" y="1385238"/>
          <a:ext cx="2193702" cy="13930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L'effet rebond</a:t>
          </a:r>
        </a:p>
      </dsp:txBody>
      <dsp:txXfrm>
        <a:off x="284544" y="1426038"/>
        <a:ext cx="2112102" cy="1311401"/>
      </dsp:txXfrm>
    </dsp:sp>
    <dsp:sp modelId="{85F09300-35BE-4A1C-8A8B-7D72A320AFE2}">
      <dsp:nvSpPr>
        <dsp:cNvPr id="0" name=""/>
        <dsp:cNvSpPr/>
      </dsp:nvSpPr>
      <dsp:spPr>
        <a:xfrm>
          <a:off x="2681191" y="1153680"/>
          <a:ext cx="2193702" cy="13930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B0EF75-E1DB-452B-86FE-75632B760F94}">
      <dsp:nvSpPr>
        <dsp:cNvPr id="0" name=""/>
        <dsp:cNvSpPr/>
      </dsp:nvSpPr>
      <dsp:spPr>
        <a:xfrm>
          <a:off x="2924936" y="1385238"/>
          <a:ext cx="2193702" cy="13930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Mon levier est réel, mais partiel</a:t>
          </a:r>
        </a:p>
      </dsp:txBody>
      <dsp:txXfrm>
        <a:off x="2965736" y="1426038"/>
        <a:ext cx="2112102" cy="1311401"/>
      </dsp:txXfrm>
    </dsp:sp>
    <dsp:sp modelId="{7099E0D7-51CC-4E21-9A7F-A76DDA78F696}">
      <dsp:nvSpPr>
        <dsp:cNvPr id="0" name=""/>
        <dsp:cNvSpPr/>
      </dsp:nvSpPr>
      <dsp:spPr>
        <a:xfrm>
          <a:off x="5362383" y="1153680"/>
          <a:ext cx="2193702" cy="139300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5DA8A6-EEC1-43D8-8156-8C3689146356}">
      <dsp:nvSpPr>
        <dsp:cNvPr id="0" name=""/>
        <dsp:cNvSpPr/>
      </dsp:nvSpPr>
      <dsp:spPr>
        <a:xfrm>
          <a:off x="5606128" y="1385238"/>
          <a:ext cx="2193702" cy="13930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Sans mesure, ce n'est que de la communication</a:t>
          </a:r>
        </a:p>
      </dsp:txBody>
      <dsp:txXfrm>
        <a:off x="5646928" y="1426038"/>
        <a:ext cx="2112102" cy="13114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1234C-3B9B-4D80-814A-443289AADA14}">
      <dsp:nvSpPr>
        <dsp:cNvPr id="0" name=""/>
        <dsp:cNvSpPr/>
      </dsp:nvSpPr>
      <dsp:spPr>
        <a:xfrm>
          <a:off x="0" y="41954"/>
          <a:ext cx="7959560" cy="9266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Court terme : ingénieur logiciel, qualité et plus value DevOps</a:t>
          </a:r>
        </a:p>
      </dsp:txBody>
      <dsp:txXfrm>
        <a:off x="45235" y="87189"/>
        <a:ext cx="7869090" cy="836169"/>
      </dsp:txXfrm>
    </dsp:sp>
    <dsp:sp modelId="{7F1ADED1-B753-4508-AB08-82B388C9ED3E}">
      <dsp:nvSpPr>
        <dsp:cNvPr id="0" name=""/>
        <dsp:cNvSpPr/>
      </dsp:nvSpPr>
      <dsp:spPr>
        <a:xfrm>
          <a:off x="0" y="1037714"/>
          <a:ext cx="7959560" cy="9266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Moyen terme : systèmes distribués</a:t>
          </a:r>
        </a:p>
      </dsp:txBody>
      <dsp:txXfrm>
        <a:off x="45235" y="1082949"/>
        <a:ext cx="7869090" cy="836169"/>
      </dsp:txXfrm>
    </dsp:sp>
    <dsp:sp modelId="{BD673813-E40F-45D9-B23D-FAB30B2C2C64}">
      <dsp:nvSpPr>
        <dsp:cNvPr id="0" name=""/>
        <dsp:cNvSpPr/>
      </dsp:nvSpPr>
      <dsp:spPr>
        <a:xfrm>
          <a:off x="0" y="2033474"/>
          <a:ext cx="7959560" cy="9266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Long terme : Enseignement et transmission de savoir</a:t>
          </a:r>
        </a:p>
      </dsp:txBody>
      <dsp:txXfrm>
        <a:off x="45235" y="2078709"/>
        <a:ext cx="7869090" cy="836169"/>
      </dsp:txXfrm>
    </dsp:sp>
    <dsp:sp modelId="{5084963B-D41D-47DB-A96D-D5433CD67234}">
      <dsp:nvSpPr>
        <dsp:cNvPr id="0" name=""/>
        <dsp:cNvSpPr/>
      </dsp:nvSpPr>
      <dsp:spPr>
        <a:xfrm>
          <a:off x="0" y="3029234"/>
          <a:ext cx="7959560" cy="9266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Contribuer à l'open source</a:t>
          </a:r>
        </a:p>
      </dsp:txBody>
      <dsp:txXfrm>
        <a:off x="45235" y="3074469"/>
        <a:ext cx="7869090" cy="8361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AE6D0-974C-4026-BCBB-6BC2A7A1C2AA}">
      <dsp:nvSpPr>
        <dsp:cNvPr id="0" name=""/>
        <dsp:cNvSpPr/>
      </dsp:nvSpPr>
      <dsp:spPr>
        <a:xfrm>
          <a:off x="971" y="420813"/>
          <a:ext cx="3409880" cy="216527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8FF1E8-449E-4167-9DCC-A5B3F8FDF32F}">
      <dsp:nvSpPr>
        <dsp:cNvPr id="0" name=""/>
        <dsp:cNvSpPr/>
      </dsp:nvSpPr>
      <dsp:spPr>
        <a:xfrm>
          <a:off x="379847" y="780745"/>
          <a:ext cx="3409880" cy="21652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Un socle technique   -   Une dimension humaine</a:t>
          </a:r>
        </a:p>
      </dsp:txBody>
      <dsp:txXfrm>
        <a:off x="443266" y="844164"/>
        <a:ext cx="3283042" cy="2038436"/>
      </dsp:txXfrm>
    </dsp:sp>
    <dsp:sp modelId="{5EAFBC78-9989-438F-970A-ABB99C0F865B}">
      <dsp:nvSpPr>
        <dsp:cNvPr id="0" name=""/>
        <dsp:cNvSpPr/>
      </dsp:nvSpPr>
      <dsp:spPr>
        <a:xfrm>
          <a:off x="4168603" y="420813"/>
          <a:ext cx="3409880" cy="216527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037056-1360-437E-B28D-1F73441BF182}">
      <dsp:nvSpPr>
        <dsp:cNvPr id="0" name=""/>
        <dsp:cNvSpPr/>
      </dsp:nvSpPr>
      <dsp:spPr>
        <a:xfrm>
          <a:off x="4547478" y="780745"/>
          <a:ext cx="3409880" cy="21652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Une décision assumée   -   Une approche durable</a:t>
          </a:r>
        </a:p>
      </dsp:txBody>
      <dsp:txXfrm>
        <a:off x="4610897" y="844164"/>
        <a:ext cx="3283042" cy="203843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DEC66-20B1-4506-8071-C2FC43DF97CC}"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2E3BE8-23BF-48B5-BAA7-A4159FF841E8}" type="slidenum">
              <a:rPr lang="en-US" smtClean="0"/>
              <a:t>‹N°›</a:t>
            </a:fld>
            <a:endParaRPr lang="en-US"/>
          </a:p>
        </p:txBody>
      </p:sp>
    </p:spTree>
    <p:extLst>
      <p:ext uri="{BB962C8B-B14F-4D97-AF65-F5344CB8AC3E}">
        <p14:creationId xmlns:p14="http://schemas.microsoft.com/office/powerpoint/2010/main" val="628974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2E3BE8-23BF-48B5-BAA7-A4159FF841E8}" type="slidenum">
              <a:rPr lang="en-US" smtClean="0"/>
              <a:t>1</a:t>
            </a:fld>
            <a:endParaRPr lang="en-US"/>
          </a:p>
        </p:txBody>
      </p:sp>
    </p:spTree>
    <p:extLst>
      <p:ext uri="{BB962C8B-B14F-4D97-AF65-F5344CB8AC3E}">
        <p14:creationId xmlns:p14="http://schemas.microsoft.com/office/powerpoint/2010/main" val="1016867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1:50]</a:t>
            </a:r>
          </a:p>
          <a:p>
            <a:r>
              <a:t>Le paradoxe : on dit cloud, virtuel, dematerialise. Rien ne l'est : des metaux, des usines, des cables, de l'electricite.</a:t>
            </a:r>
          </a:p>
          <a:p>
            <a:r>
              <a:t>Donne l'ordre de grandeur AVEC la source et l'annee. Precise que les estimations varient selon le perimetre - c'est deja un signal de rigueur.</a:t>
            </a:r>
          </a:p>
          <a:p>
            <a:r>
              <a:t>Le point cle : l'impact est en AMONT, dans la fabrication, pas dans l'electricite consommee a l'execution.</a:t>
            </a:r>
          </a:p>
          <a:p>
            <a:r>
              <a:t>La phrase qui fait tilt : quand mon logiciel exige plus de memoire, il ne consomme pas juste un peu plus de courant - il pousse a renouveler du materiel.</a:t>
            </a:r>
          </a:p>
          <a:p>
            <a:r>
              <a:t>TRANSITION : j'ai passe deux ans dans un endroit ou cette question n'est pas theorique du tout.</a:t>
            </a:r>
          </a:p>
        </p:txBody>
      </p:sp>
      <p:sp>
        <p:nvSpPr>
          <p:cNvPr id="4" name="Slide Number Placeholder 3"/>
          <p:cNvSpPr>
            <a:spLocks noGrp="1"/>
          </p:cNvSpPr>
          <p:nvPr>
            <p:ph type="sldNum" sz="quarter" idx="5"/>
          </p:nvPr>
        </p:nvSpPr>
        <p:spPr/>
        <p:txBody>
          <a:bodyPr/>
          <a:lstStyle/>
          <a:p>
            <a:fld id="{762E3BE8-23BF-48B5-BAA7-A4159FF841E8}" type="slidenum">
              <a:rPr lang="en-US" smtClean="0"/>
              <a:t>2</a:t>
            </a:fld>
            <a:endParaRPr lang="en-US"/>
          </a:p>
        </p:txBody>
      </p:sp>
    </p:spTree>
    <p:extLst>
      <p:ext uri="{BB962C8B-B14F-4D97-AF65-F5344CB8AC3E}">
        <p14:creationId xmlns:p14="http://schemas.microsoft.com/office/powerpoint/2010/main" val="3730566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05  -  cumul 2:55]</a:t>
            </a:r>
          </a:p>
          <a:p>
            <a:r>
              <a:t>SLIDE A NE JAMAIS COUPER - c'est le theme impose par le livret.</a:t>
            </a:r>
          </a:p>
          <a:p>
            <a:r>
              <a:t>Lis-la lentement. Silence 2 secondes.</a:t>
            </a:r>
          </a:p>
          <a:p>
            <a:r>
              <a:t>Situe au niveau societe : le numerique n'est plus un secteur, c'est une infrastructure de nos vies. Climat, energie, ethique de l'IA, regulation.</a:t>
            </a:r>
          </a:p>
          <a:p>
            <a:r>
              <a:t>Annonce ton angle SANS reduire la question : je vais y repondre par le prisme que je connais, celui du developpeur, avec deux ans a SOLEIL. C'est une methode, pas un retrecissement.</a:t>
            </a:r>
          </a:p>
          <a:p>
            <a:r>
              <a:t>Annonce le plan en une phrase : j'y reponds par quatre entrees - le socle technique, la dimension humaine, la decision, et la durabilite.</a:t>
            </a:r>
          </a:p>
        </p:txBody>
      </p:sp>
      <p:sp>
        <p:nvSpPr>
          <p:cNvPr id="4" name="Slide Number Placeholder 3"/>
          <p:cNvSpPr>
            <a:spLocks noGrp="1"/>
          </p:cNvSpPr>
          <p:nvPr>
            <p:ph type="sldNum" sz="quarter" idx="5"/>
          </p:nvPr>
        </p:nvSpPr>
        <p:spPr/>
        <p:txBody>
          <a:bodyPr/>
          <a:lstStyle/>
          <a:p>
            <a:fld id="{762E3BE8-23BF-48B5-BAA7-A4159FF841E8}" type="slidenum">
              <a:rPr lang="en-US" smtClean="0"/>
              <a:t>3</a:t>
            </a:fld>
            <a:endParaRPr lang="en-US"/>
          </a:p>
        </p:txBody>
      </p:sp>
    </p:spTree>
    <p:extLst>
      <p:ext uri="{BB962C8B-B14F-4D97-AF65-F5344CB8AC3E}">
        <p14:creationId xmlns:p14="http://schemas.microsoft.com/office/powerpoint/2010/main" val="124236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35  -  cumul 3:30]</a:t>
            </a:r>
          </a:p>
          <a:p>
            <a:r>
              <a:t>35 secondes, sans lire mot a mot.</a:t>
            </a:r>
          </a:p>
          <a:p>
            <a:r>
              <a:t>Justifie l'ordre : je commence par la technique parce qu'une reflexion sur le numerique responsable qui ne s'appuie pas sur des faits techniques precis reste un discours.</a:t>
            </a:r>
          </a:p>
          <a:p>
            <a:r>
              <a:t>Precise : ce ne sera pas un recit chronologique de mon alternance. Le livret ESIEA l'interdit explicitement.</a:t>
            </a:r>
          </a:p>
          <a:p>
            <a:r>
              <a:t>Annonce que chaque partie s'appuiera sur une situation concrete vecue a SOLEIL.</a:t>
            </a:r>
          </a:p>
        </p:txBody>
      </p:sp>
      <p:sp>
        <p:nvSpPr>
          <p:cNvPr id="4" name="Slide Number Placeholder 3"/>
          <p:cNvSpPr>
            <a:spLocks noGrp="1"/>
          </p:cNvSpPr>
          <p:nvPr>
            <p:ph type="sldNum" sz="quarter" idx="5"/>
          </p:nvPr>
        </p:nvSpPr>
        <p:spPr/>
        <p:txBody>
          <a:bodyPr/>
          <a:lstStyle/>
          <a:p>
            <a:fld id="{762E3BE8-23BF-48B5-BAA7-A4159FF841E8}" type="slidenum">
              <a:rPr lang="en-US" smtClean="0"/>
              <a:t>4</a:t>
            </a:fld>
            <a:endParaRPr lang="en-US"/>
          </a:p>
        </p:txBody>
      </p:sp>
    </p:spTree>
    <p:extLst>
      <p:ext uri="{BB962C8B-B14F-4D97-AF65-F5344CB8AC3E}">
        <p14:creationId xmlns:p14="http://schemas.microsoft.com/office/powerpoint/2010/main" val="1979776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25  -  cumul 4:55]</a:t>
            </a:r>
          </a:p>
          <a:p>
            <a:r>
              <a:t>VULGARISE D'ABORD, pour M. Mangin qui n'est pas developpeur : on accelere des electrons a une vitesse proche de celle de la lumiere dans un grand anneau. Quand on les devie, ils emettent une lumiere extremement intense qui sert de super microscope - on observe des virus, des batteries, des tableaux de maitre, des fossiles.</a:t>
            </a:r>
          </a:p>
          <a:p>
            <a:r>
              <a:t>Le statut : une infrastructure de recherche publique, ouverte a des equipes du monde entier qui CANDIDATENT pour obtenir du temps de faisceau.</a:t>
            </a:r>
          </a:p>
          <a:p>
            <a:r>
              <a:t>Le point qui sert la problematique : le temps de faisceau est rare, cher et energivore. Une equipe attend des mois pour quelques jours d'experience.</a:t>
            </a:r>
          </a:p>
          <a:p>
            <a:r>
              <a:t>La consequence : une panne logicielle qui fait perdre deux heures de faisceau, ce n'est pas un ticket. C'est de l'energie brulee pour rien et une manip perdue.</a:t>
            </a:r>
          </a:p>
          <a:p>
            <a:r>
              <a:t>ATTENTION : ne cite pas de consommation electrique du site si tu n'en es pas sur.</a:t>
            </a:r>
          </a:p>
        </p:txBody>
      </p:sp>
      <p:sp>
        <p:nvSpPr>
          <p:cNvPr id="4" name="Slide Number Placeholder 3"/>
          <p:cNvSpPr>
            <a:spLocks noGrp="1"/>
          </p:cNvSpPr>
          <p:nvPr>
            <p:ph type="sldNum" sz="quarter" idx="5"/>
          </p:nvPr>
        </p:nvSpPr>
        <p:spPr/>
        <p:txBody>
          <a:bodyPr/>
          <a:lstStyle/>
          <a:p>
            <a:fld id="{762E3BE8-23BF-48B5-BAA7-A4159FF841E8}" type="slidenum">
              <a:rPr lang="en-US" smtClean="0"/>
              <a:t>5</a:t>
            </a:fld>
            <a:endParaRPr lang="en-US"/>
          </a:p>
        </p:txBody>
      </p:sp>
    </p:spTree>
    <p:extLst>
      <p:ext uri="{BB962C8B-B14F-4D97-AF65-F5344CB8AC3E}">
        <p14:creationId xmlns:p14="http://schemas.microsoft.com/office/powerpoint/2010/main" val="3511971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CDCB9-CC9E-9762-BFA8-6ED057E7E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B4228-146D-16B2-C0F5-256CD322C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CEA07-137A-34BC-67E5-9B3D3E52091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6C87025-7E37-6DAD-BBA7-2337333472CE}"/>
              </a:ext>
            </a:extLst>
          </p:cNvPr>
          <p:cNvSpPr>
            <a:spLocks noGrp="1"/>
          </p:cNvSpPr>
          <p:nvPr>
            <p:ph type="sldNum" sz="quarter" idx="5"/>
          </p:nvPr>
        </p:nvSpPr>
        <p:spPr/>
        <p:txBody>
          <a:bodyPr/>
          <a:lstStyle/>
          <a:p>
            <a:fld id="{762E3BE8-23BF-48B5-BAA7-A4159FF841E8}" type="slidenum">
              <a:rPr lang="en-US" smtClean="0"/>
              <a:t>6</a:t>
            </a:fld>
            <a:endParaRPr lang="en-US"/>
          </a:p>
        </p:txBody>
      </p:sp>
    </p:spTree>
    <p:extLst>
      <p:ext uri="{BB962C8B-B14F-4D97-AF65-F5344CB8AC3E}">
        <p14:creationId xmlns:p14="http://schemas.microsoft.com/office/powerpoint/2010/main" val="507907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F3578-CAD9-F5D5-5781-CF5AD8198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E2893-D59B-41B1-473C-E03FB106F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232D2-B90C-C477-DC9D-A04DD8466AB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8FA3123-330E-2CFF-13B9-47553FF2FA15}"/>
              </a:ext>
            </a:extLst>
          </p:cNvPr>
          <p:cNvSpPr>
            <a:spLocks noGrp="1"/>
          </p:cNvSpPr>
          <p:nvPr>
            <p:ph type="sldNum" sz="quarter" idx="5"/>
          </p:nvPr>
        </p:nvSpPr>
        <p:spPr/>
        <p:txBody>
          <a:bodyPr/>
          <a:lstStyle/>
          <a:p>
            <a:fld id="{762E3BE8-23BF-48B5-BAA7-A4159FF841E8}" type="slidenum">
              <a:rPr lang="en-US" smtClean="0"/>
              <a:t>7</a:t>
            </a:fld>
            <a:endParaRPr lang="en-US"/>
          </a:p>
        </p:txBody>
      </p:sp>
    </p:spTree>
    <p:extLst>
      <p:ext uri="{BB962C8B-B14F-4D97-AF65-F5344CB8AC3E}">
        <p14:creationId xmlns:p14="http://schemas.microsoft.com/office/powerpoint/2010/main" val="1080145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55  -  cumul 5:50]</a:t>
            </a:r>
          </a:p>
          <a:p>
            <a:r>
              <a:t>ISG = Infrastructure des Systemes de Gestion. On ne pilote pas les lignes de lumiere : on fait tourner les applications qui font tourner l'institution.</a:t>
            </a:r>
          </a:p>
          <a:p>
            <a:r>
              <a:t>Une equipe de sept : Idrissou, Jeremy, Yamna, Laurent, Jordan, Moshen arrive plus tard, et moi.</a:t>
            </a:r>
          </a:p>
          <a:p>
            <a:r>
              <a:t>LE POINT QUE LE JURY RETIENT TOUJOURS : mes interlocuteurs sont des scientifiques et des gestionnaires. Traduire un besoin metier en specification technique fait partie du travail, ce n'est pas un a-cote.</a:t>
            </a:r>
          </a:p>
          <a:p>
            <a:r>
              <a:t>Idrissou CHADO est mon maitre d'apprentissage, Yamna TAYEB une collegue du quotidien. ILS SONT DANS LE JURY - regarde-les en les citant.</a:t>
            </a:r>
          </a:p>
        </p:txBody>
      </p:sp>
      <p:sp>
        <p:nvSpPr>
          <p:cNvPr id="4" name="Slide Number Placeholder 3"/>
          <p:cNvSpPr>
            <a:spLocks noGrp="1"/>
          </p:cNvSpPr>
          <p:nvPr>
            <p:ph type="sldNum" sz="quarter" idx="5"/>
          </p:nvPr>
        </p:nvSpPr>
        <p:spPr/>
        <p:txBody>
          <a:bodyPr/>
          <a:lstStyle/>
          <a:p>
            <a:fld id="{762E3BE8-23BF-48B5-BAA7-A4159FF841E8}" type="slidenum">
              <a:rPr lang="en-US" smtClean="0"/>
              <a:t>10</a:t>
            </a:fld>
            <a:endParaRPr lang="en-US"/>
          </a:p>
        </p:txBody>
      </p:sp>
    </p:spTree>
    <p:extLst>
      <p:ext uri="{BB962C8B-B14F-4D97-AF65-F5344CB8AC3E}">
        <p14:creationId xmlns:p14="http://schemas.microsoft.com/office/powerpoint/2010/main" val="1703389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  cumul 7:20]</a:t>
            </a:r>
          </a:p>
          <a:p>
            <a:r>
              <a:t>Presente l'usage AVANT la technique : un chercheur qui veut venir faire une experience a SOLEIL depose sa demande dans SUNset.</a:t>
            </a:r>
          </a:p>
          <a:p>
            <a:r>
              <a:t>Deroule le workflow en vulgarisant : candidature, evaluation technique, evaluation scientifique par les pairs, validation securite, decision, planification du faisceau, declaration des participants, rapport d'experience.</a:t>
            </a:r>
          </a:p>
          <a:p>
            <a:r>
              <a:t>C'est un logiciel CRITIQUE : s'il bloque, ce sont des campagnes scientifiques entieres qui sont retardees.</a:t>
            </a:r>
          </a:p>
          <a:p>
            <a:r>
              <a:t>Sa vie technique : une premiere version en PHP, largement abandonnee mais dont des scripts tournent encore. Puis une version Java, celle qui porte le service.</a:t>
            </a:r>
          </a:p>
          <a:p>
            <a:r>
              <a:t>LA PHRASE A PLACER : un logiciel comme SUNset ne vit pas deux ans, il vit quinze ou vingt ans. La maintenabilite n'est pas un confort, c'est une contrainte de survie. C'est exactement la que durabilite logicielle et durabilite environnementale se rejoignent.</a:t>
            </a:r>
          </a:p>
        </p:txBody>
      </p:sp>
      <p:sp>
        <p:nvSpPr>
          <p:cNvPr id="4" name="Slide Number Placeholder 3"/>
          <p:cNvSpPr>
            <a:spLocks noGrp="1"/>
          </p:cNvSpPr>
          <p:nvPr>
            <p:ph type="sldNum" sz="quarter" idx="5"/>
          </p:nvPr>
        </p:nvSpPr>
        <p:spPr/>
        <p:txBody>
          <a:bodyPr/>
          <a:lstStyle/>
          <a:p>
            <a:fld id="{762E3BE8-23BF-48B5-BAA7-A4159FF841E8}" type="slidenum">
              <a:rPr lang="en-US" smtClean="0"/>
              <a:t>11</a:t>
            </a:fld>
            <a:endParaRPr lang="en-US"/>
          </a:p>
        </p:txBody>
      </p:sp>
    </p:spTree>
    <p:extLst>
      <p:ext uri="{BB962C8B-B14F-4D97-AF65-F5344CB8AC3E}">
        <p14:creationId xmlns:p14="http://schemas.microsoft.com/office/powerpoint/2010/main" val="2900860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20  -  cumul 7:40]</a:t>
            </a:r>
          </a:p>
          <a:p>
            <a:r>
              <a:t>SLIDE DE RESPIRATION - 20 secondes.</a:t>
            </a:r>
          </a:p>
          <a:p>
            <a:r>
              <a:t>Annonce : la premiere entree, c'est ce que je sais faire techniquement, et surtout l'exigence de qualite que j'y mets.</a:t>
            </a:r>
          </a:p>
          <a:p>
            <a:r>
              <a:t>Deux sous-parties : mes competences techniques, puis l'exigence de qualite.</a:t>
            </a:r>
          </a:p>
        </p:txBody>
      </p:sp>
      <p:sp>
        <p:nvSpPr>
          <p:cNvPr id="4" name="Slide Number Placeholder 3"/>
          <p:cNvSpPr>
            <a:spLocks noGrp="1"/>
          </p:cNvSpPr>
          <p:nvPr>
            <p:ph type="sldNum" sz="quarter" idx="5"/>
          </p:nvPr>
        </p:nvSpPr>
        <p:spPr/>
        <p:txBody>
          <a:bodyPr/>
          <a:lstStyle/>
          <a:p>
            <a:fld id="{762E3BE8-23BF-48B5-BAA7-A4159FF841E8}" type="slidenum">
              <a:rPr lang="en-US" smtClean="0"/>
              <a:t>12</a:t>
            </a:fld>
            <a:endParaRPr lang="en-US"/>
          </a:p>
        </p:txBody>
      </p:sp>
    </p:spTree>
    <p:extLst>
      <p:ext uri="{BB962C8B-B14F-4D97-AF65-F5344CB8AC3E}">
        <p14:creationId xmlns:p14="http://schemas.microsoft.com/office/powerpoint/2010/main" val="3920810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15  -  cumul 8:55]</a:t>
            </a:r>
          </a:p>
          <a:p>
            <a:r>
              <a:t>Ne recite pas une liste d'outils - le jury s'en moque et ca sonne creux.</a:t>
            </a:r>
          </a:p>
          <a:p>
            <a:r>
              <a:t>Dis plutot : j'ai touche a beaucoup de choses, mais ce que l'alternance m'a appris, ce n'est pas d'ajouter des lignes a un CV, c'est de savoir CHOISIR l'outil adapte au contexte et a la duree de vie du projet.</a:t>
            </a:r>
          </a:p>
          <a:p>
            <a:r>
              <a:t>Illustre par le socle reel de ma mission : Java au depart, puis JavaScript/Node.js ; Docker et Linux pour l'execution ; Git et GitLab pour le versionnement et l'integration continue.</a:t>
            </a:r>
          </a:p>
          <a:p>
            <a:r>
              <a:t>Et la nuance qui montre la maturite : une competence technique qui ne sert pas un besoin reel n'est pas une competence, c'est une curiosite.</a:t>
            </a:r>
          </a:p>
        </p:txBody>
      </p:sp>
      <p:sp>
        <p:nvSpPr>
          <p:cNvPr id="4" name="Slide Number Placeholder 3"/>
          <p:cNvSpPr>
            <a:spLocks noGrp="1"/>
          </p:cNvSpPr>
          <p:nvPr>
            <p:ph type="sldNum" sz="quarter" idx="5"/>
          </p:nvPr>
        </p:nvSpPr>
        <p:spPr/>
        <p:txBody>
          <a:bodyPr/>
          <a:lstStyle/>
          <a:p>
            <a:fld id="{762E3BE8-23BF-48B5-BAA7-A4159FF841E8}" type="slidenum">
              <a:rPr lang="en-US" smtClean="0"/>
              <a:t>13</a:t>
            </a:fld>
            <a:endParaRPr lang="en-US"/>
          </a:p>
        </p:txBody>
      </p:sp>
    </p:spTree>
    <p:extLst>
      <p:ext uri="{BB962C8B-B14F-4D97-AF65-F5344CB8AC3E}">
        <p14:creationId xmlns:p14="http://schemas.microsoft.com/office/powerpoint/2010/main" val="1530720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20  -  cumul 10:15]</a:t>
            </a:r>
          </a:p>
          <a:p>
            <a:r>
              <a:t>SLIDE A FORT RENDEMENT - le livret note explicitement l'autoevaluation, l'honnetete et la lucidite. Ne la survole pas.</a:t>
            </a:r>
          </a:p>
          <a:p>
            <a:r>
              <a:t>Raconte : pendant mes six mois de stage, j'ai construit les premiers tests avec Selenium en Java. Ca fonctionnait.</a:t>
            </a:r>
          </a:p>
          <a:p>
            <a:r>
              <a:t>Mais j'apprenais sur le tas et la base n'etait pas solide. Selenium oblige a assembler beaucoup de briques separees - attentes, captures, cycle de vie du navigateur - et a croiser plusieurs documentations pour le moindre besoin. Chaque scenario coutait cher.</a:t>
            </a:r>
          </a:p>
          <a:p>
            <a:r>
              <a:t>LE DIAGNOSTIC, avec le recul : je n'avais pas un probleme de code, j'avais un probleme de CHOIX DE FONDATION. Et un mauvais choix de fondation ne se corrige pas en ajoutant du code par-dessus.</a:t>
            </a:r>
          </a:p>
          <a:p>
            <a:r>
              <a:t>Le lien avec la problematique, un peu ironique : ma premiere lecon de sobriete, c'est d'avoir produit du travail qu'il a fallu jeter.</a:t>
            </a:r>
          </a:p>
        </p:txBody>
      </p:sp>
      <p:sp>
        <p:nvSpPr>
          <p:cNvPr id="4" name="Slide Number Placeholder 3"/>
          <p:cNvSpPr>
            <a:spLocks noGrp="1"/>
          </p:cNvSpPr>
          <p:nvPr>
            <p:ph type="sldNum" sz="quarter" idx="5"/>
          </p:nvPr>
        </p:nvSpPr>
        <p:spPr/>
        <p:txBody>
          <a:bodyPr/>
          <a:lstStyle/>
          <a:p>
            <a:fld id="{762E3BE8-23BF-48B5-BAA7-A4159FF841E8}" type="slidenum">
              <a:rPr lang="en-US" smtClean="0"/>
              <a:t>14</a:t>
            </a:fld>
            <a:endParaRPr lang="en-US"/>
          </a:p>
        </p:txBody>
      </p:sp>
    </p:spTree>
    <p:extLst>
      <p:ext uri="{BB962C8B-B14F-4D97-AF65-F5344CB8AC3E}">
        <p14:creationId xmlns:p14="http://schemas.microsoft.com/office/powerpoint/2010/main" val="2522784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11:25]</a:t>
            </a:r>
          </a:p>
          <a:p>
            <a:r>
              <a:t>Le declencheur : Idrissou a propose un hackathon a l'equipe. C'est ce qui nous a permis de repartir sainement.</a:t>
            </a:r>
          </a:p>
          <a:p>
            <a:r>
              <a:t>Le choix : Playwright, avec Cucumber pour ecrire les scenarios et Allure pour les rapports, en Node.js. Playwright embarque nativement ce que Selenium obligeait a assembler : attente intelligente, captures, video.</a:t>
            </a:r>
          </a:p>
          <a:p>
            <a:r>
              <a:t>Le PoC a ete livre le 12 avril 2024 et formalise dans un bilan ecrit, avec points forts ET points faibles assumes.</a:t>
            </a:r>
          </a:p>
          <a:p>
            <a:r>
              <a:t>CE QUE CA DIT DE MOI : je n'ai pas defendu mon travail precedent par fierte. Un ingenieur qui ne sait pas jeter son propre code coute cher a son entreprise.</a:t>
            </a:r>
          </a:p>
          <a:p>
            <a:r>
              <a:t>Note aussi la methode de management : Idrissou n'a pas ordonne de refaire, il a cree le cadre pour qu'on le decouvre nous-memes.</a:t>
            </a:r>
          </a:p>
        </p:txBody>
      </p:sp>
      <p:sp>
        <p:nvSpPr>
          <p:cNvPr id="4" name="Slide Number Placeholder 3"/>
          <p:cNvSpPr>
            <a:spLocks noGrp="1"/>
          </p:cNvSpPr>
          <p:nvPr>
            <p:ph type="sldNum" sz="quarter" idx="5"/>
          </p:nvPr>
        </p:nvSpPr>
        <p:spPr/>
        <p:txBody>
          <a:bodyPr/>
          <a:lstStyle/>
          <a:p>
            <a:fld id="{762E3BE8-23BF-48B5-BAA7-A4159FF841E8}" type="slidenum">
              <a:rPr lang="en-US" smtClean="0"/>
              <a:t>15</a:t>
            </a:fld>
            <a:endParaRPr lang="en-US"/>
          </a:p>
        </p:txBody>
      </p:sp>
    </p:spTree>
    <p:extLst>
      <p:ext uri="{BB962C8B-B14F-4D97-AF65-F5344CB8AC3E}">
        <p14:creationId xmlns:p14="http://schemas.microsoft.com/office/powerpoint/2010/main" val="1443589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  cumul 12:55]</a:t>
            </a:r>
          </a:p>
          <a:p>
            <a:r>
              <a:t>C'est ton approfondissement technique. Le livret l'autorise A CONDITION DE VULGARISER.</a:t>
            </a:r>
          </a:p>
          <a:p>
            <a:r>
              <a:t>Explique le BDD simplement : au lieu d'ecrire le test dans un langage de programmation, on l'ecrit d'abord en langage quasi naturel - etant donne qu'un chercheur a depose une demande, quand le comite l'evalue, alors elle passe a l'etat accepte.</a:t>
            </a:r>
          </a:p>
          <a:p>
            <a:r>
              <a:t>POURQUOI C'EST LE POINT IMPORTANT : le scenario devient lisible par le metier. Une gestionnaire du User Office peut relire un test et dire non, ce n'est pas comme ca que ca se passe. C'est ecrit dans mon bilan de PoC : l'approche Gherkin facilite l'implication des metiers.</a:t>
            </a:r>
          </a:p>
          <a:p>
            <a:r>
              <a:t>L'echelle reelle : 66 fichiers de scenarios sur les cinq parcours.</a:t>
            </a:r>
          </a:p>
          <a:p>
            <a:r>
              <a:t>LA NUANCE QUI MONTRE LA MATURITE : ecrire un test, c'est d'abord formaliser ce qu'on attend. J'ai decouvert que beaucoup de regles metier n'etaient ecrites nulle part - elles vivaient dans la tete des gens. Les tests sont devenus une documentation executable.</a:t>
            </a:r>
          </a:p>
        </p:txBody>
      </p:sp>
      <p:sp>
        <p:nvSpPr>
          <p:cNvPr id="4" name="Slide Number Placeholder 3"/>
          <p:cNvSpPr>
            <a:spLocks noGrp="1"/>
          </p:cNvSpPr>
          <p:nvPr>
            <p:ph type="sldNum" sz="quarter" idx="5"/>
          </p:nvPr>
        </p:nvSpPr>
        <p:spPr/>
        <p:txBody>
          <a:bodyPr/>
          <a:lstStyle/>
          <a:p>
            <a:fld id="{762E3BE8-23BF-48B5-BAA7-A4159FF841E8}" type="slidenum">
              <a:rPr lang="en-US" smtClean="0"/>
              <a:t>16</a:t>
            </a:fld>
            <a:endParaRPr lang="en-US"/>
          </a:p>
        </p:txBody>
      </p:sp>
    </p:spTree>
    <p:extLst>
      <p:ext uri="{BB962C8B-B14F-4D97-AF65-F5344CB8AC3E}">
        <p14:creationId xmlns:p14="http://schemas.microsoft.com/office/powerpoint/2010/main" val="2774576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00  -  cumul 13:55]</a:t>
            </a:r>
          </a:p>
          <a:p>
            <a:r>
              <a:t>Le probleme classique des tests : un resultat rouge sans explication ne sert a rien, et les equipes finissent par ignorer les alertes.</a:t>
            </a:r>
          </a:p>
          <a:p>
            <a:r>
              <a:t>Ma reponse : Allure genere un rapport qui SE LIT, categorise, avec l'historique. Et surtout, chaque execution est ENREGISTREE EN VIDEO.</a:t>
            </a:r>
          </a:p>
          <a:p>
            <a:r>
              <a:t>La consequence concrete : on ne lit pas un verdict, on regarde ce qui s'est passe. On peut trancher soi-meme, y compris contre le test.</a:t>
            </a:r>
          </a:p>
          <a:p>
            <a:r>
              <a:t>LE LIEN AVEC LA PROBLEMATIQUE : un outil qu'on ne comprend pas, on cesse de l'utiliser. Et un outil abandonne, c'est du developpement entierement gaspille. La comprehensibilite est une condition de durabilite.</a:t>
            </a:r>
          </a:p>
        </p:txBody>
      </p:sp>
      <p:sp>
        <p:nvSpPr>
          <p:cNvPr id="4" name="Slide Number Placeholder 3"/>
          <p:cNvSpPr>
            <a:spLocks noGrp="1"/>
          </p:cNvSpPr>
          <p:nvPr>
            <p:ph type="sldNum" sz="quarter" idx="5"/>
          </p:nvPr>
        </p:nvSpPr>
        <p:spPr/>
        <p:txBody>
          <a:bodyPr/>
          <a:lstStyle/>
          <a:p>
            <a:fld id="{762E3BE8-23BF-48B5-BAA7-A4159FF841E8}" type="slidenum">
              <a:rPr lang="en-US" smtClean="0"/>
              <a:t>17</a:t>
            </a:fld>
            <a:endParaRPr lang="en-US"/>
          </a:p>
        </p:txBody>
      </p:sp>
    </p:spTree>
    <p:extLst>
      <p:ext uri="{BB962C8B-B14F-4D97-AF65-F5344CB8AC3E}">
        <p14:creationId xmlns:p14="http://schemas.microsoft.com/office/powerpoint/2010/main" val="3106560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50  -  cumul 14:45]</a:t>
            </a:r>
          </a:p>
          <a:p>
            <a:r>
              <a:t>Vulgarise l'INTEGRATION CONTINUE : a chaque fois qu'un developpeur envoie une modification, un robot reconstruit le logiciel et rejoue la batterie de tests, automatiquement.</a:t>
            </a:r>
          </a:p>
          <a:p>
            <a:r>
              <a:t>Ce que ca change : la detection passe de dans plusieurs semaines, par un utilisateur en pleine campagne a en quelques minutes, par la machine, avant meme la relecture humaine.</a:t>
            </a:r>
          </a:p>
          <a:p>
            <a:r>
              <a:t>Precise que c'est sur GitLab, integre a l'outillage deja en place dans l'equipe - pas un outil de plus a maintenir.</a:t>
            </a:r>
          </a:p>
          <a:p>
            <a:r>
              <a:t>Si on te demande le cout energetique de cette chaine : dis honnetement que tu ne l'as pas mesure, et enchaine sur les optimisations identifiees - separer tests rapides et tests lourds, ne pas tout rejouer sur chaque brouillon.</a:t>
            </a:r>
          </a:p>
        </p:txBody>
      </p:sp>
      <p:sp>
        <p:nvSpPr>
          <p:cNvPr id="4" name="Slide Number Placeholder 3"/>
          <p:cNvSpPr>
            <a:spLocks noGrp="1"/>
          </p:cNvSpPr>
          <p:nvPr>
            <p:ph type="sldNum" sz="quarter" idx="5"/>
          </p:nvPr>
        </p:nvSpPr>
        <p:spPr/>
        <p:txBody>
          <a:bodyPr/>
          <a:lstStyle/>
          <a:p>
            <a:fld id="{762E3BE8-23BF-48B5-BAA7-A4159FF841E8}" type="slidenum">
              <a:rPr lang="en-US" smtClean="0"/>
              <a:t>18</a:t>
            </a:fld>
            <a:endParaRPr lang="en-US"/>
          </a:p>
        </p:txBody>
      </p:sp>
    </p:spTree>
    <p:extLst>
      <p:ext uri="{BB962C8B-B14F-4D97-AF65-F5344CB8AC3E}">
        <p14:creationId xmlns:p14="http://schemas.microsoft.com/office/powerpoint/2010/main" val="3757215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20  -  cumul 16:05]</a:t>
            </a:r>
          </a:p>
          <a:p>
            <a:r>
              <a:t>Sois precis et honnete : ce que mes tests attrapent, ce sont surtout des problemes de performance et d'accessibilite fonctionnelle.</a:t>
            </a:r>
          </a:p>
          <a:p>
            <a:r>
              <a:t>Montre les deux captures. Le champ obligatoire bloquant : un chercheur ne peut pas terminer sa declaration de participant parce qu'un champ est requis sans que rien ne l'indique.</a:t>
            </a:r>
          </a:p>
          <a:p>
            <a:r>
              <a:t>Le chargement infini : la page tourne indefiniment. L'utilisateur recharge, recommence, reessaie plus tard.</a:t>
            </a:r>
          </a:p>
          <a:p>
            <a:r>
              <a:t>LE RAISONNEMENT QUI REPOND A LA PROBLEMATIQUE : ces bugs ne font tomber aucun serveur. Ils font recharger, recliquer, recommencer - donc consommer - a des dizaines d'utilisateurs pendant des mois. C'est du gaspillage invisible, exactement celui que personne ne mesure.</a:t>
            </a:r>
          </a:p>
          <a:p>
            <a:r>
              <a:t>Et l'argument humain : quand le chercheur est bloque, il ecrit au support. C'est une personne de plus mobilisee pour un champ mal signale.</a:t>
            </a:r>
          </a:p>
        </p:txBody>
      </p:sp>
      <p:sp>
        <p:nvSpPr>
          <p:cNvPr id="4" name="Slide Number Placeholder 3"/>
          <p:cNvSpPr>
            <a:spLocks noGrp="1"/>
          </p:cNvSpPr>
          <p:nvPr>
            <p:ph type="sldNum" sz="quarter" idx="5"/>
          </p:nvPr>
        </p:nvSpPr>
        <p:spPr/>
        <p:txBody>
          <a:bodyPr/>
          <a:lstStyle/>
          <a:p>
            <a:fld id="{762E3BE8-23BF-48B5-BAA7-A4159FF841E8}" type="slidenum">
              <a:rPr lang="en-US" smtClean="0"/>
              <a:t>19</a:t>
            </a:fld>
            <a:endParaRPr lang="en-US"/>
          </a:p>
        </p:txBody>
      </p:sp>
    </p:spTree>
    <p:extLst>
      <p:ext uri="{BB962C8B-B14F-4D97-AF65-F5344CB8AC3E}">
        <p14:creationId xmlns:p14="http://schemas.microsoft.com/office/powerpoint/2010/main" val="110501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45  -  cumul 16:50]</a:t>
            </a:r>
          </a:p>
          <a:p>
            <a:r>
              <a:t>SACRIFIABLE SI TU ES EN RETARD.</a:t>
            </a:r>
          </a:p>
          <a:p>
            <a:r>
              <a:t>Prends l'objection avant le jury : oui, mes tests envoient parfois de fausses alertes.</a:t>
            </a:r>
          </a:p>
          <a:p>
            <a:r>
              <a:t>La cause : on teste sur un environnement de test, pas sur le reel. Si quelqu'un manipule une demande a la main pendant que la suite tourne, un test peut echouer a tort - et l'inverse existe aussi.</a:t>
            </a:r>
          </a:p>
          <a:p>
            <a:r>
              <a:t>La regle qu'on a posee : les tests doivent avoir le champ libre pour s'executer.</a:t>
            </a:r>
          </a:p>
          <a:p>
            <a:r>
              <a:t>La ou ca boucle : c'est precisement pour ca que la video compte. Le rapport permet de JUSTIFIER un faux positif au lieu de le subir.</a:t>
            </a:r>
          </a:p>
          <a:p>
            <a:r>
              <a:t>La lecon generale : un outil qui crie au loup trop souvent finit ignore. La fiabilite d'une alerte est aussi importante que l'alerte elle-meme.</a:t>
            </a:r>
          </a:p>
        </p:txBody>
      </p:sp>
      <p:sp>
        <p:nvSpPr>
          <p:cNvPr id="4" name="Slide Number Placeholder 3"/>
          <p:cNvSpPr>
            <a:spLocks noGrp="1"/>
          </p:cNvSpPr>
          <p:nvPr>
            <p:ph type="sldNum" sz="quarter" idx="5"/>
          </p:nvPr>
        </p:nvSpPr>
        <p:spPr/>
        <p:txBody>
          <a:bodyPr/>
          <a:lstStyle/>
          <a:p>
            <a:fld id="{762E3BE8-23BF-48B5-BAA7-A4159FF841E8}" type="slidenum">
              <a:rPr lang="en-US" smtClean="0"/>
              <a:t>20</a:t>
            </a:fld>
            <a:endParaRPr lang="en-US"/>
          </a:p>
        </p:txBody>
      </p:sp>
    </p:spTree>
    <p:extLst>
      <p:ext uri="{BB962C8B-B14F-4D97-AF65-F5344CB8AC3E}">
        <p14:creationId xmlns:p14="http://schemas.microsoft.com/office/powerpoint/2010/main" val="664166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 min 35  -  cumul 17:25]</a:t>
            </a:r>
          </a:p>
          <a:p>
            <a:r>
              <a:t>Avant de passer a la dimension humaine, prends 30 secondes pour elargir : ce que je viens de montrer sur SUN Auto n'est pas un cas isole, c'est l'illustration d'un principe general.</a:t>
            </a:r>
          </a:p>
          <a:p>
            <a:r>
              <a:t>Le concept de DETTE TECHNIQUE, formalise par Ward Cunningham en 1992, dit exactement ca a l'echelle de toute l'industrie : chaque raccourci de qualite non corrige s'accumule et coute plus cher a rembourser plus tard - en temps humain, donc en ressources.</a:t>
            </a:r>
          </a:p>
          <a:p>
            <a:r>
              <a:t>Ce n'est pas seulement mon experience a SOLEIL : c'est un principe reconnu du genie logiciel, documente depuis plus de trente ans.</a:t>
            </a:r>
          </a:p>
          <a:p>
            <a:r>
              <a:t>CE QUI REPOND DIRECTEMENT A LA PROBLEMATIQUE : le developpement logiciel devient un levier de sobriete precisement quand on traite la dette technique comme une dette reelle - qui doit etre remboursee, pas ignoree.</a:t>
            </a:r>
          </a:p>
          <a:p>
            <a:r>
              <a:t>Cette slide est la charniere : ce qui suit (partie II) n'est plus une simple demonstration technique, c'est la preuve que le raisonnement tient aussi a l'echelle humaine.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20  -  cumul 17:10]</a:t>
            </a:r>
          </a:p>
          <a:p>
            <a:r>
              <a:t>SLIDE DE RESPIRATION - 20 secondes. Change de ton ici, ralentis.</a:t>
            </a:r>
          </a:p>
          <a:p>
            <a:r>
              <a:t>Annonce la bascule : jusqu'ici j'ai parle d'outils. Mais aucun de ces outils n'a resolu un probleme technique - ils ont tous resolu un probleme humain.</a:t>
            </a:r>
          </a:p>
          <a:p>
            <a:r>
              <a:t>Trois entrees : l'analyse du besoin, la gestion de projet, et ce qui nous relie au quotidien.</a:t>
            </a:r>
          </a:p>
        </p:txBody>
      </p:sp>
      <p:sp>
        <p:nvSpPr>
          <p:cNvPr id="4" name="Slide Number Placeholder 3"/>
          <p:cNvSpPr>
            <a:spLocks noGrp="1"/>
          </p:cNvSpPr>
          <p:nvPr>
            <p:ph type="sldNum" sz="quarter" idx="5"/>
          </p:nvPr>
        </p:nvSpPr>
        <p:spPr/>
        <p:txBody>
          <a:bodyPr/>
          <a:lstStyle/>
          <a:p>
            <a:fld id="{762E3BE8-23BF-48B5-BAA7-A4159FF841E8}" type="slidenum">
              <a:rPr lang="en-US" smtClean="0"/>
              <a:t>22</a:t>
            </a:fld>
            <a:endParaRPr lang="en-US"/>
          </a:p>
        </p:txBody>
      </p:sp>
    </p:spTree>
    <p:extLst>
      <p:ext uri="{BB962C8B-B14F-4D97-AF65-F5344CB8AC3E}">
        <p14:creationId xmlns:p14="http://schemas.microsoft.com/office/powerpoint/2010/main" val="3802374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25  -  cumul 18:35]</a:t>
            </a:r>
          </a:p>
          <a:p>
            <a:r>
              <a:t>LA SLIDE QUI MONTRE QUE TU COMPRENDS L'ENTREPRISE. Prends ton temps.</a:t>
            </a:r>
          </a:p>
          <a:p>
            <a:r>
              <a:t>Dans une infrastructure de recherche, les besoins ne s'additionnent pas : ils se contredisent.</a:t>
            </a:r>
          </a:p>
          <a:p>
            <a:r>
              <a:t>RAPIDITE contre RIGUEUR : une equipe scientifique veut sa fonctionnalite pour la campagne du mois prochain ; le processus qualite demande des tests, une revue, une validation.</a:t>
            </a:r>
          </a:p>
          <a:p>
            <a:r>
              <a:t>FLEXIBILITE contre STANDARDISATION : chaque ligne de lumiere a ses habitudes ; l'application doit rester maintenable par une equipe de sept.</a:t>
            </a:r>
          </a:p>
          <a:p>
            <a:r>
              <a:t>SPECIFICITES contre UNIFORMISATION : cinq parcours de demande differents existent justement parce qu'on a dit oui a des cas particuliers.</a:t>
            </a:r>
          </a:p>
          <a:p>
            <a:r>
              <a:t>CE QUE J'EN AI COMPRIS : mon travail n'etait pas de trancher ces tensions, c'etait de les rendre visibles pour que la decision se prenne en connaissance de cause. Un developpeur qui ignore ces tensions livre un logiciel que personne n'utilise.</a:t>
            </a:r>
          </a:p>
        </p:txBody>
      </p:sp>
      <p:sp>
        <p:nvSpPr>
          <p:cNvPr id="4" name="Slide Number Placeholder 3"/>
          <p:cNvSpPr>
            <a:spLocks noGrp="1"/>
          </p:cNvSpPr>
          <p:nvPr>
            <p:ph type="sldNum" sz="quarter" idx="5"/>
          </p:nvPr>
        </p:nvSpPr>
        <p:spPr/>
        <p:txBody>
          <a:bodyPr/>
          <a:lstStyle/>
          <a:p>
            <a:fld id="{762E3BE8-23BF-48B5-BAA7-A4159FF841E8}" type="slidenum">
              <a:rPr lang="en-US" smtClean="0"/>
              <a:t>23</a:t>
            </a:fld>
            <a:endParaRPr lang="en-US"/>
          </a:p>
        </p:txBody>
      </p:sp>
    </p:spTree>
    <p:extLst>
      <p:ext uri="{BB962C8B-B14F-4D97-AF65-F5344CB8AC3E}">
        <p14:creationId xmlns:p14="http://schemas.microsoft.com/office/powerpoint/2010/main" val="1090547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15  -  cumul 19:50]</a:t>
            </a:r>
          </a:p>
          <a:p>
            <a:r>
              <a:t>Idrissou m'a fait decouvrir le Agile Manifesto des le debut de l'alternance. Ce n'etait pas un cours de methodologie, c'etait un outil de traduction.</a:t>
            </a:r>
          </a:p>
          <a:p>
            <a:r>
              <a:t>La methode concrete : on subdivise une grande demande en petites idees, et de fil en aiguille on remonte au vrai besoin - celui qui explique la demande initiale.</a:t>
            </a:r>
          </a:p>
          <a:p>
            <a:r>
              <a:t>Raconte un cas vecu : on me demande une fonctionnalite X ; en la decomposant avec le demandeur, on decouvre que le vrai probleme etait ailleurs.</a:t>
            </a:r>
          </a:p>
          <a:p>
            <a:r>
              <a:t>POURQUOI C'EST CENTRAL POUR MA PROBLEMATIQUE : la fonctionnalite la plus sobre est celle qu'on ne developpe pas. Une part importante de ce qu'on livre n'est jamais utilise. Bien analyser un besoin, c'est deja de l'eco-conception - et ca ne coute pas un euro de plus.</a:t>
            </a:r>
          </a:p>
          <a:p>
            <a:r>
              <a:t>Sois honnete sur l'agilite : dis ce qui etait vraiment applique et ce qui ne l'etait pas.</a:t>
            </a:r>
          </a:p>
        </p:txBody>
      </p:sp>
      <p:sp>
        <p:nvSpPr>
          <p:cNvPr id="4" name="Slide Number Placeholder 3"/>
          <p:cNvSpPr>
            <a:spLocks noGrp="1"/>
          </p:cNvSpPr>
          <p:nvPr>
            <p:ph type="sldNum" sz="quarter" idx="5"/>
          </p:nvPr>
        </p:nvSpPr>
        <p:spPr/>
        <p:txBody>
          <a:bodyPr/>
          <a:lstStyle/>
          <a:p>
            <a:fld id="{762E3BE8-23BF-48B5-BAA7-A4159FF841E8}" type="slidenum">
              <a:rPr lang="en-US" smtClean="0"/>
              <a:t>24</a:t>
            </a:fld>
            <a:endParaRPr lang="en-US"/>
          </a:p>
        </p:txBody>
      </p:sp>
    </p:spTree>
    <p:extLst>
      <p:ext uri="{BB962C8B-B14F-4D97-AF65-F5344CB8AC3E}">
        <p14:creationId xmlns:p14="http://schemas.microsoft.com/office/powerpoint/2010/main" val="2098370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15  -  cumul 21:05]</a:t>
            </a:r>
          </a:p>
          <a:p>
            <a:r>
              <a:t>Explique la difference simplement, pour le president du jury.</a:t>
            </a:r>
          </a:p>
          <a:p>
            <a:r>
              <a:t>LE WATERFALL : on analyse tout, on concoit tout, on developpe tout, puis on livre. Un seul passage. Le probleme : si le besoin a ete mal compris au depart, on ne s'en apercoit qu'a la livraison - c'est-a-dire trop tard.</a:t>
            </a:r>
          </a:p>
          <a:p>
            <a:r>
              <a:t>L'ITERATIF : on livre un petit morceau, on le montre, on recueille le retour, on ajuste, et on recommence. On se trompe plus souvent mais moins gravement.</a:t>
            </a:r>
          </a:p>
          <a:p>
            <a:r>
              <a:t>Sur SUNset, la suite de tests a suivi exactement ce mouvement : la premiere version en Selenium, c'etait une approche en un seul bloc. Le hackathon a introduit le cycle court.</a:t>
            </a:r>
          </a:p>
          <a:p>
            <a:r>
              <a:t>LA PHRASE : l'iteratif ne fait pas gagner du temps sur le papier. Il fait economiser le temps qu'on aurait perdu a construire la mauvaise chose.</a:t>
            </a:r>
          </a:p>
          <a:p>
            <a:r>
              <a:t>Reste honnete : nous n'etions pas en Scrum strict. Points reguliers, revues de code, ajustements continus - dis-le comme ca.</a:t>
            </a:r>
          </a:p>
        </p:txBody>
      </p:sp>
      <p:sp>
        <p:nvSpPr>
          <p:cNvPr id="4" name="Slide Number Placeholder 3"/>
          <p:cNvSpPr>
            <a:spLocks noGrp="1"/>
          </p:cNvSpPr>
          <p:nvPr>
            <p:ph type="sldNum" sz="quarter" idx="5"/>
          </p:nvPr>
        </p:nvSpPr>
        <p:spPr/>
        <p:txBody>
          <a:bodyPr/>
          <a:lstStyle/>
          <a:p>
            <a:fld id="{762E3BE8-23BF-48B5-BAA7-A4159FF841E8}" type="slidenum">
              <a:rPr lang="en-US" smtClean="0"/>
              <a:t>25</a:t>
            </a:fld>
            <a:endParaRPr lang="en-US"/>
          </a:p>
        </p:txBody>
      </p:sp>
    </p:spTree>
    <p:extLst>
      <p:ext uri="{BB962C8B-B14F-4D97-AF65-F5344CB8AC3E}">
        <p14:creationId xmlns:p14="http://schemas.microsoft.com/office/powerpoint/2010/main" val="3753829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55  -  cumul 22:00]</a:t>
            </a:r>
          </a:p>
          <a:p>
            <a:r>
              <a:t>Le modele C4 : une facon de decrire une architecture en zoomant progressivement, du plus general au plus detaille.</a:t>
            </a:r>
          </a:p>
          <a:p>
            <a:r>
              <a:t>NIVEAU 1, le contexte : qui utilise le systeme et avec quoi il dialogue. C'est ce que je montre a un scientifique ou a un responsable.</a:t>
            </a:r>
          </a:p>
          <a:p>
            <a:r>
              <a:t>NIVEAU 2, les conteneurs : les applications et leurs bases de donnees.</a:t>
            </a:r>
          </a:p>
          <a:p>
            <a:r>
              <a:t>NIVEAU 3, les composants : les blocs internes de chaque application.</a:t>
            </a:r>
          </a:p>
          <a:p>
            <a:r>
              <a:t>NIVEAU 4, le code : les classes et les fonctions. C'est ce que je discute avec Idrissou.</a:t>
            </a:r>
          </a:p>
          <a:p>
            <a:r>
              <a:t>POURQUOI CA COMPTE ICI : ce n'est pas un outil technique, c'est un outil de COMMUNICATION. Le meme systeme se raconte a quatre niveaux differents selon l'interlocuteur. Choisir le bon niveau, c'est respecter son auditoire - exactement ce que je fais devant vous en ce moment.</a:t>
            </a:r>
          </a:p>
        </p:txBody>
      </p:sp>
      <p:sp>
        <p:nvSpPr>
          <p:cNvPr id="4" name="Slide Number Placeholder 3"/>
          <p:cNvSpPr>
            <a:spLocks noGrp="1"/>
          </p:cNvSpPr>
          <p:nvPr>
            <p:ph type="sldNum" sz="quarter" idx="5"/>
          </p:nvPr>
        </p:nvSpPr>
        <p:spPr/>
        <p:txBody>
          <a:bodyPr/>
          <a:lstStyle/>
          <a:p>
            <a:fld id="{762E3BE8-23BF-48B5-BAA7-A4159FF841E8}" type="slidenum">
              <a:rPr lang="en-US" smtClean="0"/>
              <a:t>26</a:t>
            </a:fld>
            <a:endParaRPr lang="en-US"/>
          </a:p>
        </p:txBody>
      </p:sp>
    </p:spTree>
    <p:extLst>
      <p:ext uri="{BB962C8B-B14F-4D97-AF65-F5344CB8AC3E}">
        <p14:creationId xmlns:p14="http://schemas.microsoft.com/office/powerpoint/2010/main" val="5221327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23:10]</a:t>
            </a:r>
          </a:p>
          <a:p>
            <a:r>
              <a:t>Ce que le livret appelle le projet d'interconnexion, c'est concretement la chaine d'outils qui permet a sept personnes de travailler sur le meme systeme sans se marcher dessus.</a:t>
            </a:r>
          </a:p>
          <a:p>
            <a:r>
              <a:t>JIRA : le suivi. Chaque evolution de la suite de tests est un ticket, sous la cle SUNAUTO, et chaque branche Git porte son numero. Le code est ainsi relie a la decision qui l'a motive.</a:t>
            </a:r>
          </a:p>
          <a:p>
            <a:r>
              <a:t>CONFLUENCE : la documentation partagee, celle qui survit au depart de son auteur.</a:t>
            </a:r>
          </a:p>
          <a:p>
            <a:r>
              <a:t>GITLAB : le code, les revues, et l'integration continue au meme endroit.</a:t>
            </a:r>
          </a:p>
          <a:p>
            <a:r>
              <a:t>LA MESSAGERIE : ce qui debloque en dix minutes ce qu'on chercherait seul pendant deux jours.</a:t>
            </a:r>
          </a:p>
          <a:p>
            <a:r>
              <a:t>CE QUE J'EN RETIENS : ces outils ne produisent pas une ligne de code. Ils produisent de la CONTINUITE - entre les personnes, et dans le temps. C'est exactement ce dont un logiciel qui vit vingt ans a besoin.</a:t>
            </a:r>
          </a:p>
        </p:txBody>
      </p:sp>
      <p:sp>
        <p:nvSpPr>
          <p:cNvPr id="4" name="Slide Number Placeholder 3"/>
          <p:cNvSpPr>
            <a:spLocks noGrp="1"/>
          </p:cNvSpPr>
          <p:nvPr>
            <p:ph type="sldNum" sz="quarter" idx="5"/>
          </p:nvPr>
        </p:nvSpPr>
        <p:spPr/>
        <p:txBody>
          <a:bodyPr/>
          <a:lstStyle/>
          <a:p>
            <a:fld id="{762E3BE8-23BF-48B5-BAA7-A4159FF841E8}" type="slidenum">
              <a:rPr lang="en-US" smtClean="0"/>
              <a:t>27</a:t>
            </a:fld>
            <a:endParaRPr lang="en-US"/>
          </a:p>
        </p:txBody>
      </p:sp>
    </p:spTree>
    <p:extLst>
      <p:ext uri="{BB962C8B-B14F-4D97-AF65-F5344CB8AC3E}">
        <p14:creationId xmlns:p14="http://schemas.microsoft.com/office/powerpoint/2010/main" val="10774734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24:20]</a:t>
            </a:r>
          </a:p>
          <a:p>
            <a:r>
              <a:t>IDRISSOU EST DANS LA SALLE. Cette slide est un hommage, pas une critique. Regarde-le en la disant.</a:t>
            </a:r>
          </a:p>
          <a:p>
            <a:r>
              <a:t>Assume franchement : j'ai dit assez souvent a mon maitre d'apprentissage je ne pense pas que ce soit la bonne solution.</a:t>
            </a:r>
          </a:p>
          <a:p>
            <a:r>
              <a:t>L'ANALYSE, ET C'EST ELLE QUI COMPTE : Idrissou a beaucoup plus de recul et d'experience que moi. Moi, j'arrive avec un regard neuf et non biaise sur les technologies recentes. Je pense que c'est pour ca que j'ai ete recrute.</a:t>
            </a:r>
          </a:p>
          <a:p>
            <a:r>
              <a:t>La conclusion : couplees, ces deux choses sont tres puissantes. Quand on parlait architecture ou workflow, on ne se mettait pas toujours d'accord tout de suite - et c'est exactement la que les bonnes decisions se prenaient. La discussion est centrale ; on ne peut pas avancer sans discuter.</a:t>
            </a:r>
          </a:p>
          <a:p>
            <a:r>
              <a:t>Ce que ca dit de mon positionnement : un ingenieur qui n'ose pas contredire son responsable ne sert a rien. Mais il faut avoir de quoi argumenter.</a:t>
            </a:r>
          </a:p>
        </p:txBody>
      </p:sp>
      <p:sp>
        <p:nvSpPr>
          <p:cNvPr id="4" name="Slide Number Placeholder 3"/>
          <p:cNvSpPr>
            <a:spLocks noGrp="1"/>
          </p:cNvSpPr>
          <p:nvPr>
            <p:ph type="sldNum" sz="quarter" idx="5"/>
          </p:nvPr>
        </p:nvSpPr>
        <p:spPr/>
        <p:txBody>
          <a:bodyPr/>
          <a:lstStyle/>
          <a:p>
            <a:fld id="{762E3BE8-23BF-48B5-BAA7-A4159FF841E8}" type="slidenum">
              <a:rPr lang="en-US" smtClean="0"/>
              <a:t>28</a:t>
            </a:fld>
            <a:endParaRPr lang="en-US"/>
          </a:p>
        </p:txBody>
      </p:sp>
    </p:spTree>
    <p:extLst>
      <p:ext uri="{BB962C8B-B14F-4D97-AF65-F5344CB8AC3E}">
        <p14:creationId xmlns:p14="http://schemas.microsoft.com/office/powerpoint/2010/main" val="42757914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25:30]</a:t>
            </a:r>
          </a:p>
          <a:p>
            <a:r>
              <a:t>YAMNA EST DANS LE JURY. Raconte cette histoire en la nommant - c'est le genre de moment qui fait une soutenance.</a:t>
            </a:r>
          </a:p>
          <a:p>
            <a:r>
              <a:t>Le blocage : j'etais coince sur la lecture de tableaux HTML complexes, en particulier sur l'ecran de planification. Je m'acharnais.</a:t>
            </a:r>
          </a:p>
          <a:p>
            <a:r>
              <a:t>Le deblocage : Yamna a propose une approche plus simple qui a tout debloque d'un coup.</a:t>
            </a:r>
          </a:p>
          <a:p>
            <a:r>
              <a:t>LE VRAI ENSEIGNEMENT, ET IL EST DOUBLE : d'abord j'ai compris apres coup pourquoi je n'y arrivais pas. Ensuite, et c'est plus important : je cherchais une solution complexe a un probleme qui en avait une simple.</a:t>
            </a:r>
          </a:p>
          <a:p>
            <a:r>
              <a:t>LA GENERALISATION : demander de l'aide, ce n'est pas perdre du temps, c'est en economiser. J'ai mis plusieurs jours a comprendre ce qu'une conversation de dix minutes a resolu. Ca aussi, c'est de la sobriete.</a:t>
            </a:r>
          </a:p>
        </p:txBody>
      </p:sp>
      <p:sp>
        <p:nvSpPr>
          <p:cNvPr id="4" name="Slide Number Placeholder 3"/>
          <p:cNvSpPr>
            <a:spLocks noGrp="1"/>
          </p:cNvSpPr>
          <p:nvPr>
            <p:ph type="sldNum" sz="quarter" idx="5"/>
          </p:nvPr>
        </p:nvSpPr>
        <p:spPr/>
        <p:txBody>
          <a:bodyPr/>
          <a:lstStyle/>
          <a:p>
            <a:fld id="{762E3BE8-23BF-48B5-BAA7-A4159FF841E8}" type="slidenum">
              <a:rPr lang="en-US" smtClean="0"/>
              <a:t>29</a:t>
            </a:fld>
            <a:endParaRPr lang="en-US"/>
          </a:p>
        </p:txBody>
      </p:sp>
    </p:spTree>
    <p:extLst>
      <p:ext uri="{BB962C8B-B14F-4D97-AF65-F5344CB8AC3E}">
        <p14:creationId xmlns:p14="http://schemas.microsoft.com/office/powerpoint/2010/main" val="22919344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 min 40  -  cumul 26:45]</a:t>
            </a:r>
          </a:p>
          <a:p>
            <a:r>
              <a:t>Avant de passer a la decision, elargis ce que Yamna et Idrissou t'ont appris sur SUN Auto - ne reste pas sur l'anecdote seule.</a:t>
            </a:r>
          </a:p>
          <a:p>
            <a:r>
              <a:t>C'est un constat largement documente en genie logiciel : une part importante des fonctionnalites livrees dans les projets ne sont jamais, ou tres peu, utilisees - precisement parce que le besoin reel n'avait pas ete identifie avant de coder.</a:t>
            </a:r>
          </a:p>
          <a:p>
            <a:r>
              <a:t>Chaque fonctionnalite developpee pour rien, ce n'est pas qu'une perte de temps : c'est du code a maintenir, a securiser, a faire tourner sur des serveurs, pour un usage qui n'existe pas.</a:t>
            </a:r>
          </a:p>
          <a:p>
            <a:r>
              <a:t>DONC : l'analyse du besoin n'est pas qu'une competence humaine agreable a avoir. C'est un des leviers de sobriete numerique les plus puissants qui existent - parce qu'il agit AVANT que la moindre ressource soit consommee.</a:t>
            </a:r>
          </a:p>
          <a:p>
            <a:r>
              <a:t>Cette generalisation est ta reponse a la problematique pour cette partie - l'anecdote humaine n'est que la preuve.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20  -  cumul 25:50]</a:t>
            </a:r>
          </a:p>
          <a:p>
            <a:r>
              <a:t>SLIDE DE RESPIRATION - 20 secondes.</a:t>
            </a:r>
          </a:p>
          <a:p>
            <a:r>
              <a:t>Annonce : la technique sait construire, l'humain sait ce qu'il faut construire. Reste la question la plus difficile : faut-il construire ?</a:t>
            </a:r>
          </a:p>
          <a:p>
            <a:r>
              <a:t>Precise que cette partie porte ma reflexion ethique - non pas comme un cours de philosophie, mais comme une grille de decision appliquee a un cas reel.</a:t>
            </a:r>
          </a:p>
        </p:txBody>
      </p:sp>
      <p:sp>
        <p:nvSpPr>
          <p:cNvPr id="4" name="Slide Number Placeholder 3"/>
          <p:cNvSpPr>
            <a:spLocks noGrp="1"/>
          </p:cNvSpPr>
          <p:nvPr>
            <p:ph type="sldNum" sz="quarter" idx="5"/>
          </p:nvPr>
        </p:nvSpPr>
        <p:spPr/>
        <p:txBody>
          <a:bodyPr/>
          <a:lstStyle/>
          <a:p>
            <a:fld id="{762E3BE8-23BF-48B5-BAA7-A4159FF841E8}" type="slidenum">
              <a:rPr lang="en-US" smtClean="0"/>
              <a:t>31</a:t>
            </a:fld>
            <a:endParaRPr lang="en-US"/>
          </a:p>
        </p:txBody>
      </p:sp>
    </p:spTree>
    <p:extLst>
      <p:ext uri="{BB962C8B-B14F-4D97-AF65-F5344CB8AC3E}">
        <p14:creationId xmlns:p14="http://schemas.microsoft.com/office/powerpoint/2010/main" val="2576728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10  -  cumul 27:00]</a:t>
            </a:r>
          </a:p>
          <a:p>
            <a:r>
              <a:t>Rappelle la dette : la version PHP est largement abandonnee mais des scripts tournent encore. La version Java porte le service aujourd'hui.</a:t>
            </a:r>
          </a:p>
          <a:p>
            <a:r>
              <a:t>La question posee : faut-il faire evoluer la technologie de SUNset, et vers quoi ?</a:t>
            </a:r>
          </a:p>
          <a:p>
            <a:r>
              <a:t>LE PIEGE QUE J'AI IDENTIFIE TOUT DE SUITE : la reponse par defaut de notre metier, c'est ON REECRIT. C'est presque toujours la plus couteuse et la plus risquee.</a:t>
            </a:r>
          </a:p>
          <a:p>
            <a:r>
              <a:t>Mon mandat : objectiver une decision, pas ecrire du code. On m'a confie une mission d'aide a la decision - c'est valorisant, et c'est vrai.</a:t>
            </a:r>
          </a:p>
        </p:txBody>
      </p:sp>
      <p:sp>
        <p:nvSpPr>
          <p:cNvPr id="4" name="Slide Number Placeholder 3"/>
          <p:cNvSpPr>
            <a:spLocks noGrp="1"/>
          </p:cNvSpPr>
          <p:nvPr>
            <p:ph type="sldNum" sz="quarter" idx="5"/>
          </p:nvPr>
        </p:nvSpPr>
        <p:spPr/>
        <p:txBody>
          <a:bodyPr/>
          <a:lstStyle/>
          <a:p>
            <a:fld id="{762E3BE8-23BF-48B5-BAA7-A4159FF841E8}" type="slidenum">
              <a:rPr lang="en-US" smtClean="0"/>
              <a:t>32</a:t>
            </a:fld>
            <a:endParaRPr lang="en-US"/>
          </a:p>
        </p:txBody>
      </p:sp>
    </p:spTree>
    <p:extLst>
      <p:ext uri="{BB962C8B-B14F-4D97-AF65-F5344CB8AC3E}">
        <p14:creationId xmlns:p14="http://schemas.microsoft.com/office/powerpoint/2010/main" val="83967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15  -  cumul 28:15]</a:t>
            </a:r>
          </a:p>
          <a:p>
            <a:r>
              <a:t>LA SLIDE LA PLUS IMPORTANTE DE TA DEMONSTRATION. Prends ton temps, laisse un silence.</a:t>
            </a:r>
          </a:p>
          <a:p>
            <a:r>
              <a:t>Le raisonnement : avant de comparer des frameworks, je me suis pose une autre question. Tous les synchrotrons du monde ont exactement le meme besoin - recevoir des demandes de temps de faisceau, les faire evaluer par des pairs, valider la securite, planifier. Est-ce que quelqu'un a deja resolu ce probleme, et publie sa solution ?</a:t>
            </a:r>
          </a:p>
          <a:p>
            <a:r>
              <a:t>J'ai donc cherche dans l'open source scientifique.</a:t>
            </a:r>
          </a:p>
          <a:p>
            <a:r>
              <a:t>LA PHRASE, LENTEMENT : le code le plus sobre est celui qu'on n'ecrit pas. Et dans la recherche publique il y a une raison de plus : reecrire, ce serait faire financer deux fois, par de l'argent public, la meme fonctionnalite.</a:t>
            </a:r>
          </a:p>
          <a:p>
            <a:r>
              <a:t>Relie a l'ethique : ce n'est pas seulement de l'economie de ressources, c'est de la cooperation scientifique.</a:t>
            </a:r>
          </a:p>
        </p:txBody>
      </p:sp>
      <p:sp>
        <p:nvSpPr>
          <p:cNvPr id="4" name="Slide Number Placeholder 3"/>
          <p:cNvSpPr>
            <a:spLocks noGrp="1"/>
          </p:cNvSpPr>
          <p:nvPr>
            <p:ph type="sldNum" sz="quarter" idx="5"/>
          </p:nvPr>
        </p:nvSpPr>
        <p:spPr/>
        <p:txBody>
          <a:bodyPr/>
          <a:lstStyle/>
          <a:p>
            <a:fld id="{762E3BE8-23BF-48B5-BAA7-A4159FF841E8}" type="slidenum">
              <a:rPr lang="en-US" smtClean="0"/>
              <a:t>33</a:t>
            </a:fld>
            <a:endParaRPr lang="en-US"/>
          </a:p>
        </p:txBody>
      </p:sp>
    </p:spTree>
    <p:extLst>
      <p:ext uri="{BB962C8B-B14F-4D97-AF65-F5344CB8AC3E}">
        <p14:creationId xmlns:p14="http://schemas.microsoft.com/office/powerpoint/2010/main" val="3660809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25  -  cumul 29:40]</a:t>
            </a:r>
          </a:p>
          <a:p>
            <a:r>
              <a:t>Deux solutions retenues : DUO ESS, developpe par l'European Spallation Source en Suede, en React.js. Et USO, User System Online, du synchrotron canadien.</a:t>
            </a:r>
          </a:p>
          <a:p>
            <a:r>
              <a:t>MONTRE LA CAPTURE : on n'est pas restes sur la documentation. On a DEPLOYE une instance de DUO ESS en interne et on l'a utilisee - propositions, appels, personnes, instruments, comites d'evaluation.</a:t>
            </a:r>
          </a:p>
          <a:p>
            <a:r>
              <a:t>Ma methode : cartographier toutes les fonctionnalites de SUNset, puis rejouer le workflow complet dans chaque candidat, fonction par fonction.</a:t>
            </a:r>
          </a:p>
          <a:p>
            <a:r>
              <a:t>SOIS HONNETE SUR LE RESULTAT : il y avait des nuances. Tout ne se transposait pas - nos parcours, nos regles de securite et certains types de demande sont specifiques.</a:t>
            </a:r>
          </a:p>
          <a:p>
            <a:r>
              <a:t>La conclusion : c'est vers USO qu'on s'est oriente en fin d'analyse, avec Idrissou.</a:t>
            </a:r>
          </a:p>
        </p:txBody>
      </p:sp>
      <p:sp>
        <p:nvSpPr>
          <p:cNvPr id="4" name="Slide Number Placeholder 3"/>
          <p:cNvSpPr>
            <a:spLocks noGrp="1"/>
          </p:cNvSpPr>
          <p:nvPr>
            <p:ph type="sldNum" sz="quarter" idx="5"/>
          </p:nvPr>
        </p:nvSpPr>
        <p:spPr/>
        <p:txBody>
          <a:bodyPr/>
          <a:lstStyle/>
          <a:p>
            <a:fld id="{762E3BE8-23BF-48B5-BAA7-A4159FF841E8}" type="slidenum">
              <a:rPr lang="en-US" smtClean="0"/>
              <a:t>34</a:t>
            </a:fld>
            <a:endParaRPr lang="en-US"/>
          </a:p>
        </p:txBody>
      </p:sp>
    </p:spTree>
    <p:extLst>
      <p:ext uri="{BB962C8B-B14F-4D97-AF65-F5344CB8AC3E}">
        <p14:creationId xmlns:p14="http://schemas.microsoft.com/office/powerpoint/2010/main" val="2832215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45  -  cumul 30:25]</a:t>
            </a:r>
          </a:p>
          <a:p>
            <a:r>
              <a:t>Le livrable d'une etude de faisabilite n'est pas obligatoirement un feu vert. NE PAS FAIRE EST AUSSI UN LIVRABLE, et souvent le plus econome.</a:t>
            </a:r>
          </a:p>
          <a:p>
            <a:r>
              <a:t>Le saut professionnel : passer de quelle techno je prefere a quelle techno sert le besoin dans quinze ans. C'est ce qui separe un developpeur d'un ingenieur.</a:t>
            </a:r>
          </a:p>
          <a:p>
            <a:r>
              <a:t>Les criteres que j'ai appris a integrer : la PERENNITE (sera-t-elle encore maintenue ?), la DEPENDANCE (qui la controle ?), et le COUT TOTAL sur la duree de vie plutot que le cout de developpement initial.</a:t>
            </a:r>
          </a:p>
          <a:p>
            <a:r>
              <a:t>Et l'humilite : la decision finale ne m'appartenait pas. Mon role etait de la rendre eclairee.</a:t>
            </a:r>
          </a:p>
        </p:txBody>
      </p:sp>
      <p:sp>
        <p:nvSpPr>
          <p:cNvPr id="4" name="Slide Number Placeholder 3"/>
          <p:cNvSpPr>
            <a:spLocks noGrp="1"/>
          </p:cNvSpPr>
          <p:nvPr>
            <p:ph type="sldNum" sz="quarter" idx="5"/>
          </p:nvPr>
        </p:nvSpPr>
        <p:spPr/>
        <p:txBody>
          <a:bodyPr/>
          <a:lstStyle/>
          <a:p>
            <a:fld id="{762E3BE8-23BF-48B5-BAA7-A4159FF841E8}" type="slidenum">
              <a:rPr lang="en-US" smtClean="0"/>
              <a:t>35</a:t>
            </a:fld>
            <a:endParaRPr lang="en-US"/>
          </a:p>
        </p:txBody>
      </p:sp>
    </p:spTree>
    <p:extLst>
      <p:ext uri="{BB962C8B-B14F-4D97-AF65-F5344CB8AC3E}">
        <p14:creationId xmlns:p14="http://schemas.microsoft.com/office/powerpoint/2010/main" val="5447553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25  -  cumul 31:50]</a:t>
            </a:r>
          </a:p>
          <a:p>
            <a:r>
              <a:t>Va vite et ancre CHAQUE grille sur un exemple de ton alternance - sinon le jury retiendra il a recite un cours.</a:t>
            </a:r>
          </a:p>
          <a:p>
            <a:r>
              <a:t>DEONTOLOGIE, les regles : le RGPD. SUNset manipule des donnees personnelles de chercheurs du monde entier. Limite : on peut etre parfaitement conforme et pourtant nuisible.</a:t>
            </a:r>
          </a:p>
          <a:p>
            <a:r>
              <a:t>UTILITARISME, les consequences : c'est le raisonnement de mon etude de faisabilite, cout total contre benefice sur quinze ans. Limite : l'effet rebond - un gain d'efficacite absorbe par une hausse des usages.</a:t>
            </a:r>
          </a:p>
          <a:p>
            <a:r>
              <a:t>CARE, les personnes : le chercheur bloque par un champ mal signale, et le collegue qui reprendra mon code. Mes tests et ma documentation sont litteralement du soin envers quelqu'un que je ne connais pas encore.</a:t>
            </a:r>
          </a:p>
          <a:p>
            <a:r>
              <a:t>VERTU, quel ingenieur je veux devenir : savoir jeter son propre code, et oser dire je ne sais pas.</a:t>
            </a:r>
          </a:p>
          <a:p>
            <a:r>
              <a:t>CONCLUSION : aucune ne suffit seule. Elles servent a se poser la question AVANT de coder, pas a fournir la reponse.</a:t>
            </a:r>
          </a:p>
        </p:txBody>
      </p:sp>
      <p:sp>
        <p:nvSpPr>
          <p:cNvPr id="4" name="Slide Number Placeholder 3"/>
          <p:cNvSpPr>
            <a:spLocks noGrp="1"/>
          </p:cNvSpPr>
          <p:nvPr>
            <p:ph type="sldNum" sz="quarter" idx="5"/>
          </p:nvPr>
        </p:nvSpPr>
        <p:spPr/>
        <p:txBody>
          <a:bodyPr/>
          <a:lstStyle/>
          <a:p>
            <a:fld id="{762E3BE8-23BF-48B5-BAA7-A4159FF841E8}" type="slidenum">
              <a:rPr lang="en-US" smtClean="0"/>
              <a:t>36</a:t>
            </a:fld>
            <a:endParaRPr lang="en-US"/>
          </a:p>
        </p:txBody>
      </p:sp>
    </p:spTree>
    <p:extLst>
      <p:ext uri="{BB962C8B-B14F-4D97-AF65-F5344CB8AC3E}">
        <p14:creationId xmlns:p14="http://schemas.microsoft.com/office/powerpoint/2010/main" val="41108664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45  -  cumul 32:35]</a:t>
            </a:r>
          </a:p>
          <a:p>
            <a:r>
              <a:t>Le jury va tester ta lucidite. Prends les limites toi-meme, avant qu'on te les oppose.</a:t>
            </a:r>
          </a:p>
          <a:p>
            <a:r>
              <a:t>EFFET REBOND : optimiser peut augmenter la consommation totale si l'usage explose. L'optimisation seule n'est pas une politique environnementale.</a:t>
            </a:r>
          </a:p>
          <a:p>
            <a:r>
              <a:t>ECHELLE : mon levier est reel sur la conception, faible sur les decisions d'usage, nul sur la fabrication du materiel. Je ne pretends pas que la sobriete du code resout le probleme. Je dis que c'est la part sur laquelle j'ai la main, et qu'il serait etrange de ne pas la prendre.</a:t>
            </a:r>
          </a:p>
          <a:p>
            <a:r>
              <a:t>MESURE : je n'ai jamais mesure la consommation reelle de ce que je produis. Je parle de sobriete pendant quarante minutes, et sur ce point precis je n'ai que des convictions et pas de donnees. C'est ma limite et ma prochaine etape.</a:t>
            </a:r>
          </a:p>
          <a:p>
            <a:r>
              <a:t>Ce dernier aveu desamorce l'objection la plus dangereuse et prouve la lucidite que la grille recompense.</a:t>
            </a:r>
          </a:p>
        </p:txBody>
      </p:sp>
      <p:sp>
        <p:nvSpPr>
          <p:cNvPr id="4" name="Slide Number Placeholder 3"/>
          <p:cNvSpPr>
            <a:spLocks noGrp="1"/>
          </p:cNvSpPr>
          <p:nvPr>
            <p:ph type="sldNum" sz="quarter" idx="5"/>
          </p:nvPr>
        </p:nvSpPr>
        <p:spPr/>
        <p:txBody>
          <a:bodyPr/>
          <a:lstStyle/>
          <a:p>
            <a:fld id="{762E3BE8-23BF-48B5-BAA7-A4159FF841E8}" type="slidenum">
              <a:rPr lang="en-US" smtClean="0"/>
              <a:t>37</a:t>
            </a:fld>
            <a:endParaRPr lang="en-US"/>
          </a:p>
        </p:txBody>
      </p:sp>
    </p:spTree>
    <p:extLst>
      <p:ext uri="{BB962C8B-B14F-4D97-AF65-F5344CB8AC3E}">
        <p14:creationId xmlns:p14="http://schemas.microsoft.com/office/powerpoint/2010/main" val="1892337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 min 40  -  cumul 34:30]</a:t>
            </a:r>
          </a:p>
          <a:p>
            <a:r>
              <a:t>Avant de conclure sur la durabilite, elargis ta demarche de faisabilite - c'est le moment ou tu dois repondre le plus directement a la problematique.</a:t>
            </a:r>
          </a:p>
          <a:p>
            <a:r>
              <a:t>Ce que j'ai fait a petite echelle - chercher si une solution existe deja avant d'en construire une nouvelle - est un principe qui, generalise, change l'equation de tout un secteur.</a:t>
            </a:r>
          </a:p>
          <a:p>
            <a:r>
              <a:t>Historiquement, chaque grand instrument de recherche a eu tendance a redevelopper ses propres outils de gestion des utilisateurs. C'est exactement ce qui a motive des initiatives comme DUO ESS ou USO : sortir de cette redondance en mutualisant le developpement entre institutions.</a:t>
            </a:r>
          </a:p>
          <a:p>
            <a:r>
              <a:t>DONC : arbitrer plutot que construire par reflexe n'est pas qu'une competence individuelle. A l'echelle de centaines d'institutions confrontees aux memes besoins, c'est un des leviers de sobriete les plus significatifs qui soit - parce qu'il evite la duplication a la source.</a:t>
            </a:r>
          </a:p>
          <a:p>
            <a:r>
              <a:t>C'est cette generalisation, et pas seulement mon cas, qui repond a la problematique.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 min 20  -  cumul 32:55]</a:t>
            </a:r>
          </a:p>
          <a:p>
            <a:r>
              <a:t>SLIDE DE RESPIRATION - 20 secondes.</a:t>
            </a:r>
          </a:p>
          <a:p>
            <a:r>
              <a:t>Annonce : derniere entree, et celle qui repond le plus directement a ma problematique. Deux volets : la sobriete numerique, et l'approche cyclique.</a:t>
            </a:r>
          </a:p>
        </p:txBody>
      </p:sp>
      <p:sp>
        <p:nvSpPr>
          <p:cNvPr id="4" name="Slide Number Placeholder 3"/>
          <p:cNvSpPr>
            <a:spLocks noGrp="1"/>
          </p:cNvSpPr>
          <p:nvPr>
            <p:ph type="sldNum" sz="quarter" idx="5"/>
          </p:nvPr>
        </p:nvSpPr>
        <p:spPr/>
        <p:txBody>
          <a:bodyPr/>
          <a:lstStyle/>
          <a:p>
            <a:fld id="{762E3BE8-23BF-48B5-BAA7-A4159FF841E8}" type="slidenum">
              <a:rPr lang="en-US" smtClean="0"/>
              <a:t>39</a:t>
            </a:fld>
            <a:endParaRPr lang="en-US"/>
          </a:p>
        </p:txBody>
      </p:sp>
    </p:spTree>
    <p:extLst>
      <p:ext uri="{BB962C8B-B14F-4D97-AF65-F5344CB8AC3E}">
        <p14:creationId xmlns:p14="http://schemas.microsoft.com/office/powerpoint/2010/main" val="2101409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00  -  cumul 33:55]</a:t>
            </a:r>
          </a:p>
          <a:p>
            <a:r>
              <a:t>LE CONTRE-INTUITIF : la majorite de l'impact du numerique ne vient pas de l'electricite des serveurs, mais de la FABRICATION des equipements, surtout des terminaux.</a:t>
            </a:r>
          </a:p>
          <a:p>
            <a:r>
              <a:t>LA CONSEQUENCE POUR UN DEVELOPPEUR, et c'est le point central : le premier levier n'est pas d'optimiser des cycles de calcul, c'est d'allonger la duree de vie du materiel. Donc ne pas exiger toujours plus de puissance, rester compatible, ne pas rendre obsolete un poste qui fonctionne.</a:t>
            </a:r>
          </a:p>
          <a:p>
            <a:r>
              <a:t>LA FORMULE : chaque fois que mon logiciel force quelqu'un a changer de machine, j'ai annule des annees d'optimisation.</a:t>
            </a:r>
          </a:p>
          <a:p>
            <a:r>
              <a:t>Cite ta source (ADEME et ARCEP pour la France, The Shift Project a l'international) AVEC l'annee, ou reste sur l'ordre de grandeur et dis-le.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10  -  cumul 35:05]</a:t>
            </a:r>
          </a:p>
          <a:p>
            <a:r>
              <a:t>CONCEVOIR - le levier le plus puissant et le moins technique. La fonctionnalite la plus sobre est celle qu'on ne developpe pas. Renvoi a l'analyse du besoin de la partie II.</a:t>
            </a:r>
          </a:p>
          <a:p>
            <a:r>
              <a:t>CODER - choisir le bon algorithme (la complexite pese bien plus que les micro-optimisations), limiter les dependances, ne pas interroger un service en boucle quand on peut etre notifie, mettre en cache ce qui ne change pas.</a:t>
            </a:r>
          </a:p>
          <a:p>
            <a:r>
              <a:t>EXPLOITER - ne pas tout stocker au cas ou, definir des durees de retention pour les journaux et les donnees. Point sensible dans un contexte de recherche ou les volumes explosent.</a:t>
            </a:r>
          </a:p>
          <a:p>
            <a:r>
              <a:t>MESURER - conclus la-dessus. Sans mesure on optimise a l'aveugle. C'est ma limite, donc c'est ma priorite.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15  -  cumul 36:20]</a:t>
            </a:r>
          </a:p>
          <a:p>
            <a:r>
              <a:t>Le point de bascule de cette partie : un logiciel ne s'arrete pas a la livraison. Il vit, il se maintient, il vieillit, et un jour il faut decider quoi en faire.</a:t>
            </a:r>
          </a:p>
          <a:p>
            <a:r>
              <a:t>Le cycle : concevoir, developper, tester, exploiter - et surtout REEVALUER, l'etape que tout le monde oublie.</a:t>
            </a:r>
          </a:p>
          <a:p>
            <a:r>
              <a:t>C'est exactement ce que j'ai fait avec l'etude de faisabilite : reevaluer SUNset apres quinze ans d'existence, au lieu de le laisser deriver ou de le reecrire par reflexe.</a:t>
            </a:r>
          </a:p>
          <a:p>
            <a:r>
              <a:t>LA PHRASE : prolonger et fiabiliser l'existant est presque toujours moins couteux, en euros comme en ressources, qu'une reecriture complete. Un logiciel qu'on refait tous les trois ans, c'est du gaspillage humain, financier et materiel.</a:t>
            </a:r>
          </a:p>
          <a:p>
            <a:r>
              <a:t>Fais le lien avec la fin de vie : archiver proprement, documenter, permettre a quelqu'un d'autre de reprendre. C'est la partie du cycle qui rend tout le reste durable.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10  -  cumul 37:30]</a:t>
            </a:r>
          </a:p>
          <a:p>
            <a:r>
              <a:t>C'EST LA SLIDE QUE LE LIVRET DEMANDE EXPLICITEMENT : analyser l'utilite et la portee de ses propres actions.</a:t>
            </a:r>
          </a:p>
          <a:p>
            <a:r>
              <a:t>FIABILISER : un logiciel teste dure plus longtemps et se refait moins. Et les bugs que j'attrape font recharger et recommencer des dizaines d'utilisateurs pendant des mois.</a:t>
            </a:r>
          </a:p>
          <a:p>
            <a:r>
              <a:t>ARBITRER : chercher une solution existante dans l'open source scientifique plutot que reecrire - le geste le plus econome de mes deux ans, en ressources comme en argent public.</a:t>
            </a:r>
          </a:p>
          <a:p>
            <a:r>
              <a:t>TRANSMETTRE : j'ai documente et forme. Un logiciel qu'on abandonne parce que plus personne ne le comprend, c'est du gaspillage integral.</a:t>
            </a:r>
          </a:p>
          <a:p>
            <a:r>
              <a:t>LA PREUVE D'HONNETETE A PLACER ICI, ELLE VAUT DE L'OR : je pourrais vous laisser croire que j'ai pense a tout ca des le depart. Ce serait faux. J'ai choisi SOLEIL pour l'ambiance de recherche, pas pour l'ecologie. Mais en relisant mon bilan de PoC d'avril 2024, j'ai retrouve un mot que j'avais ecrit sans y penser : il fallait, je cite, optimiser l'efficacite et LA DURABILITE de l'application. La preoccupation etait deja la. Elle n'avait pas encore de nom.</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10  -  cumul 38:40]</a:t>
            </a:r>
          </a:p>
          <a:p>
            <a:r>
              <a:t>LA LECON CENTRALE DE MES DEUX ANS, dis-la lentement.</a:t>
            </a:r>
          </a:p>
          <a:p>
            <a:r>
              <a:t>Aucun des outils dont je vous ai parle n'a resolu un probleme technique. La suite de tests a resolu un probleme de confiance dans les livraisons. Le BDD a resolu un probleme de langue commune entre developpeurs et metier. L'etude de faisabilite a resolu un probleme de decision.</a:t>
            </a:r>
          </a:p>
          <a:p>
            <a:r>
              <a:t>Les competences qui ont vraiment fait la difference : la MEDIATION - traduire entre des mondes qui ne parlent pas la meme langue. L'ECOUTE ACTIVE - entendre le besoin derriere la demande. Et la capacite a concevoir des processus que des humains vont reellement suivre.</a:t>
            </a:r>
          </a:p>
          <a:p>
            <a:r>
              <a:t>LA FORMULE : un programme qui fonctionne parfaitement mais que personne n'utilise est un echec complet. Un programme imparfait mais adopte a de la valeur.</a:t>
            </a:r>
          </a:p>
          <a:p>
            <a:r>
              <a:t>C'est pour ca que je ne crois pas a la separation entre competences techniques et competences humaines. Elles ne sont pas deux listes : c'est le meme metier.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00  -  cumul 39:40]</a:t>
            </a:r>
          </a:p>
          <a:p>
            <a:r>
              <a:t>Reprends les quatre entrees de ma presentation et montre qu'elles ne sont pas quatre chapitres, mais quatre faces d'une meme competence.</a:t>
            </a:r>
          </a:p>
          <a:p>
            <a:r>
              <a:t>FIABILITE TECHNIQUE sans comprehension humaine : on construit des outils que personne n'utilise.</a:t>
            </a:r>
          </a:p>
          <a:p>
            <a:r>
              <a:t>COMPREHENSION HUMAINE sans fiabilite technique : on promet ce qu'on ne sait pas tenir.</a:t>
            </a:r>
          </a:p>
          <a:p>
            <a:r>
              <a:t>LES DEUX sans reflexion ethique : on construit tres bien des choses qui n'auraient pas du exister.</a:t>
            </a:r>
          </a:p>
          <a:p>
            <a:r>
              <a:t>LES TROIS sans durabilite : on resout le probleme d'aujourd'hui en creant celui de demain.</a:t>
            </a:r>
          </a:p>
          <a:p>
            <a:r>
              <a:t>LA PHRASE : retirez un pilier, l'ensemble ne tient plus. C'est ce que j'appelle une expertise holistique, et c'est le profil d'ingenieur que ces deux ans ont construit chez moi.</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10  -  cumul 40:50]</a:t>
            </a:r>
          </a:p>
          <a:p>
            <a:r>
              <a:t>LE LIVRET DEMANDE EXPLICITEMENT le projet professionnel a court et moyen terme, et en quoi tu es legitime.</a:t>
            </a:r>
          </a:p>
          <a:p>
            <a:r>
              <a:t>MA LEGITIMITE, reponds-y frontalement : je ne suis pas un expert du numerique responsable. Mais j'ai PRATIQUE les gestes qui y menent, sur un logiciel critique, pendant deux ans. Je sais ce que ca coute et ou ca resiste.</a:t>
            </a:r>
          </a:p>
          <a:p>
            <a:r>
              <a:t>COURT TERME : ingenieur logiciel sur des sujets de qualite, de test et de DevOps.</a:t>
            </a:r>
          </a:p>
          <a:p>
            <a:r>
              <a:t>MOYEN TERME : les systemes distribues. Et ce n'est pas un hasard - une architecture maintenable, c'est une architecture qu'on ne refait pas.</a:t>
            </a:r>
          </a:p>
          <a:p>
            <a:r>
              <a:t>L'OPEN SOURCE : apres cette etude de faisabilite, je sais pourquoi je veux y contribuer. J'ai vu ce que ca fait gagner quand un laboratoire publie sa solution. Je voudrais etre de l'autre cote.</a:t>
            </a:r>
          </a:p>
          <a:p>
            <a:r>
              <a:t>OU VA LE METIER : l'IA generative produit du code de plus en plus vite. Donc la question de savoir si ce code doit exister devient plus urgente, pas moins. Et la regulation arrive - accessibilite, sobriete, reporting. Ce qui est aujourd'hui une conviction sera demain une contrainte.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10  -  cumul 42:00]</a:t>
            </a:r>
          </a:p>
          <a:p>
            <a:r>
              <a:t>Rappelle l'ampleur : c'est un enjeu de societe, il ne se referme pas en quarante minutes. Ce que je propose, c'est une reponse a l'echelle ou j'ai reellement eu prise.</a:t>
            </a:r>
          </a:p>
          <a:p>
            <a:r>
              <a:t>LE SOCLE TECHNIQUE : un logiciel teste dure plus longtemps et se refait moins. La qualite est la premiere forme de sobriete.</a:t>
            </a:r>
          </a:p>
          <a:p>
            <a:r>
              <a:t>LA DIMENSION HUMAINE : la fonctionnalite la plus sobre est celle qu'on ne developpe pas - et on ne le decouvre qu'en ecoutant vraiment le besoin.</a:t>
            </a:r>
          </a:p>
          <a:p>
            <a:r>
              <a:t>LA DECISION : chercher avant de construire. Le code le plus sobre est celui qu'on n'ecrit pas.</a:t>
            </a:r>
          </a:p>
          <a:p>
            <a:r>
              <a:t>LA DURABILITE : un logiciel ne s'arrete pas a la livraison, et prolonger coute moins cher que reconstruire.</a:t>
            </a:r>
          </a:p>
          <a:p>
            <a:r>
              <a:t>Et la limite, une derniere fois - c'est elle qui rend le reste credible : il me manque la mesure. C'est ma prochaine etape.</a:t>
            </a:r>
          </a:p>
          <a:p>
            <a:r>
              <a:t>LA PHRASE DE FIN, LENTEMENT : la performance n'est pas l'ennemie. Le probleme, c'est quand elle est le seul critere. Un ingenieur responsable, ce n'est pas quelqu'un qui optimise moins - c'est quelqu'un qui sait AU NOM DE QUOI il optimise.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 min 25  -  cumul 42:25]</a:t>
            </a:r>
          </a:p>
          <a:p>
            <a:r>
              <a:t>Laisse la citation s'installer deux secondes avant de remercier.</a:t>
            </a:r>
          </a:p>
          <a:p>
            <a:r>
              <a:t>Elle dit exactement ta these : l'outil n'a de valeur que par ce qu'il permet. Un synchrotron, une suite de tests, une application de gestion - ce ne sont pas des buts.</a:t>
            </a:r>
          </a:p>
          <a:p>
            <a:r>
              <a:t>Remercie l'equipe ISG, Idrissou, Yamna, et l'ecole. Court et sincere, 15 secondes.</a:t>
            </a:r>
          </a:p>
          <a:p>
            <a:r>
              <a:t>Je suis a votre disposition pour vos questions.</a:t>
            </a:r>
          </a:p>
          <a:p>
            <a:r>
              <a:t>ATTENTION SOURCE : tu m'avais propose la formule la technique ne vaut que par l'idee qu'elle sert. Je n'ai pas pu la sourcer de facon fiable chez Saint-Exupery, donc je l'ai remplacee par cette phrase-la, qui est bien de Terre des hommes (1939) et qui dit la meme chose. Si un juré te demande la reference, tu es couvert.</a:t>
            </a:r>
          </a:p>
          <a:p>
            <a:r>
              <a:t>RAPPEL QUESTIONS : reformule chaque question avant d'y repondre (c'est un item note). 30 a 60 secondes par reponse. Si tu ne sais pas : je ne l'ai pas mesure, voila comment je m'y prendrais.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 min 00  -  cumul 42:25]</a:t>
            </a:r>
          </a:p>
          <a:p>
            <a:r>
              <a:t>Non presentees. Elles servent uniquement a repondre aux questions.</a:t>
            </a:r>
          </a:p>
          <a:p>
            <a:r>
              <a:t>Pouvoir dire j'ai une slide la-dessus et l'afficher, c'est l'effet le plus fort de toute la session de questions.</a:t>
            </a:r>
          </a:p>
          <a:p>
            <a:r>
              <a:t>Prepare surtout le GHERKIN et le BILAN DE POC : c'est la qu'Idrissou ira te chercher.</a:t>
            </a:r>
          </a:p>
          <a:p>
            <a:r>
              <a:t>Glossaire pour toi : regression, BDD, Gherkin, PoC, CI/CD, faux positif, C4.</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7/23/2026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‹N°›</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7/23/2026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7/23/2026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7/23/2026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7/23/2026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7/23/2026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7/23/2026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7/23/2026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7/23/2026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7/23/2026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7/23/2026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7/23/2026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‹N°›</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3.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45.jpeg"/><Relationship Id="rId7" Type="http://schemas.openxmlformats.org/officeDocument/2006/relationships/diagramQuickStyle" Target="../diagrams/quickStyle6.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3.png"/><Relationship Id="rId9" Type="http://schemas.microsoft.com/office/2007/relationships/diagramDrawing" Target="../diagrams/drawing6.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6.jpe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369509DD-2C4B-40B0-93E8-528BC669D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pic>
        <p:nvPicPr>
          <p:cNvPr id="1035" name="Picture 1034">
            <a:extLst>
              <a:ext uri="{FF2B5EF4-FFF2-40B4-BE49-F238E27FC236}">
                <a16:creationId xmlns:a16="http://schemas.microsoft.com/office/drawing/2014/main" id="{1C3899A3-DE34-4F0E-83CB-9868850C6C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37" name="Picture 1036">
            <a:extLst>
              <a:ext uri="{FF2B5EF4-FFF2-40B4-BE49-F238E27FC236}">
                <a16:creationId xmlns:a16="http://schemas.microsoft.com/office/drawing/2014/main" id="{1E5DD7BF-E6F5-4226-B70E-FC6946E4D5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39" name="Rectangle 1038">
            <a:extLst>
              <a:ext uri="{FF2B5EF4-FFF2-40B4-BE49-F238E27FC236}">
                <a16:creationId xmlns:a16="http://schemas.microsoft.com/office/drawing/2014/main" id="{4B08778D-2BE1-4F12-B224-CEF0DBC73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041" name="Rectangle 1040">
            <a:extLst>
              <a:ext uri="{FF2B5EF4-FFF2-40B4-BE49-F238E27FC236}">
                <a16:creationId xmlns:a16="http://schemas.microsoft.com/office/drawing/2014/main" id="{D778B3B5-F160-47D1-88A3-8BA190A4A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043" name="Rectangle 1042">
            <a:extLst>
              <a:ext uri="{FF2B5EF4-FFF2-40B4-BE49-F238E27FC236}">
                <a16:creationId xmlns:a16="http://schemas.microsoft.com/office/drawing/2014/main" id="{CC3E6A0D-6F28-4D2B-A564-A614A95E3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4" y="0"/>
            <a:ext cx="573952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2" name="Title 1">
            <a:extLst>
              <a:ext uri="{FF2B5EF4-FFF2-40B4-BE49-F238E27FC236}">
                <a16:creationId xmlns:a16="http://schemas.microsoft.com/office/drawing/2014/main" id="{044E7B14-44F5-0C1F-5F41-A7F34C37ABB6}"/>
              </a:ext>
            </a:extLst>
          </p:cNvPr>
          <p:cNvSpPr>
            <a:spLocks noGrp="1"/>
          </p:cNvSpPr>
          <p:nvPr>
            <p:ph type="ctrTitle"/>
          </p:nvPr>
        </p:nvSpPr>
        <p:spPr>
          <a:xfrm>
            <a:off x="807364" y="3428998"/>
            <a:ext cx="5135364" cy="2268559"/>
          </a:xfrm>
        </p:spPr>
        <p:txBody>
          <a:bodyPr>
            <a:noAutofit/>
          </a:bodyPr>
          <a:lstStyle/>
          <a:p>
            <a:r>
              <a:rPr lang="fr-FR" sz="4000" b="1" noProof="0"/>
              <a:t>Le code comme levier de sobriété et de responsabilité</a:t>
            </a:r>
            <a:endParaRPr lang="fr-FR" sz="3600" noProof="0"/>
          </a:p>
        </p:txBody>
      </p:sp>
      <p:sp>
        <p:nvSpPr>
          <p:cNvPr id="3" name="Subtitle 2">
            <a:extLst>
              <a:ext uri="{FF2B5EF4-FFF2-40B4-BE49-F238E27FC236}">
                <a16:creationId xmlns:a16="http://schemas.microsoft.com/office/drawing/2014/main" id="{D17600ED-ED4E-6676-744D-3314770FBF7F}"/>
              </a:ext>
            </a:extLst>
          </p:cNvPr>
          <p:cNvSpPr>
            <a:spLocks noGrp="1"/>
          </p:cNvSpPr>
          <p:nvPr>
            <p:ph type="subTitle" idx="1"/>
          </p:nvPr>
        </p:nvSpPr>
        <p:spPr>
          <a:xfrm>
            <a:off x="2124907" y="2268786"/>
            <a:ext cx="3817821" cy="1160213"/>
          </a:xfrm>
        </p:spPr>
        <p:txBody>
          <a:bodyPr>
            <a:normAutofit/>
          </a:bodyPr>
          <a:lstStyle/>
          <a:p>
            <a:r>
              <a:rPr lang="fr-FR" noProof="0"/>
              <a:t>Présenté par Alexy VANOT</a:t>
            </a:r>
          </a:p>
        </p:txBody>
      </p:sp>
      <p:sp>
        <p:nvSpPr>
          <p:cNvPr id="1045" name="Rectangle 1044">
            <a:extLst>
              <a:ext uri="{FF2B5EF4-FFF2-40B4-BE49-F238E27FC236}">
                <a16:creationId xmlns:a16="http://schemas.microsoft.com/office/drawing/2014/main" id="{63D6BF39-D420-4578-B10E-1EC1DFEDB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7059" y="0"/>
            <a:ext cx="463757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pic>
        <p:nvPicPr>
          <p:cNvPr id="1028" name="Picture 4" descr="Home page | French national synchrotron facility">
            <a:extLst>
              <a:ext uri="{FF2B5EF4-FFF2-40B4-BE49-F238E27FC236}">
                <a16:creationId xmlns:a16="http://schemas.microsoft.com/office/drawing/2014/main" id="{94010BFF-AE82-3BEE-E92E-7211F9C959DE}"/>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068445" y="824821"/>
            <a:ext cx="4000238" cy="1932482"/>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1047" name="Rectangle 1046">
            <a:extLst>
              <a:ext uri="{FF2B5EF4-FFF2-40B4-BE49-F238E27FC236}">
                <a16:creationId xmlns:a16="http://schemas.microsoft.com/office/drawing/2014/main" id="{E33D5E90-56E3-4018-A258-E6DE88065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86920" y="230859"/>
            <a:ext cx="4158433" cy="310853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pic>
        <p:nvPicPr>
          <p:cNvPr id="5" name="Picture 4">
            <a:extLst>
              <a:ext uri="{FF2B5EF4-FFF2-40B4-BE49-F238E27FC236}">
                <a16:creationId xmlns:a16="http://schemas.microsoft.com/office/drawing/2014/main" id="{4D49E1FB-47BE-3B8E-27CA-0B8852AD6899}"/>
              </a:ext>
            </a:extLst>
          </p:cNvPr>
          <p:cNvPicPr>
            <a:picLocks noChangeAspect="1"/>
          </p:cNvPicPr>
          <p:nvPr/>
        </p:nvPicPr>
        <p:blipFill>
          <a:blip r:embed="rId7"/>
          <a:stretch>
            <a:fillRect/>
          </a:stretch>
        </p:blipFill>
        <p:spPr>
          <a:xfrm>
            <a:off x="7066046" y="3928221"/>
            <a:ext cx="3996858" cy="2258224"/>
          </a:xfrm>
          <a:prstGeom prst="rect">
            <a:avLst/>
          </a:prstGeom>
          <a:ln w="12700">
            <a:noFill/>
          </a:ln>
        </p:spPr>
      </p:pic>
      <p:sp>
        <p:nvSpPr>
          <p:cNvPr id="1049" name="Rectangle 1048">
            <a:extLst>
              <a:ext uri="{FF2B5EF4-FFF2-40B4-BE49-F238E27FC236}">
                <a16:creationId xmlns:a16="http://schemas.microsoft.com/office/drawing/2014/main" id="{E0FE89D1-82AA-4F2D-9B8F-A12BBCFDB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86920" y="3509633"/>
            <a:ext cx="4158433" cy="310853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051" name="Rectangle 1050">
            <a:extLst>
              <a:ext uri="{FF2B5EF4-FFF2-40B4-BE49-F238E27FC236}">
                <a16:creationId xmlns:a16="http://schemas.microsoft.com/office/drawing/2014/main" id="{DC30B14F-3796-4168-80E0-3F11C3571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a:p>
        </p:txBody>
      </p:sp>
    </p:spTree>
    <p:extLst>
      <p:ext uri="{BB962C8B-B14F-4D97-AF65-F5344CB8AC3E}">
        <p14:creationId xmlns:p14="http://schemas.microsoft.com/office/powerpoint/2010/main" val="207456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B1395C1E-2648-4FFC-AC7C-2C17083518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0" name="Picture 39">
            <a:extLst>
              <a:ext uri="{FF2B5EF4-FFF2-40B4-BE49-F238E27FC236}">
                <a16:creationId xmlns:a16="http://schemas.microsoft.com/office/drawing/2014/main" id="{1C7379FE-10D6-4FEA-BEA3-5E2034A44C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41" name="Rectangle 40">
            <a:extLst>
              <a:ext uri="{FF2B5EF4-FFF2-40B4-BE49-F238E27FC236}">
                <a16:creationId xmlns:a16="http://schemas.microsoft.com/office/drawing/2014/main" id="{90FB7BFA-EBDD-467C-B253-EFA700504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2" name="Rectangle 41">
            <a:extLst>
              <a:ext uri="{FF2B5EF4-FFF2-40B4-BE49-F238E27FC236}">
                <a16:creationId xmlns:a16="http://schemas.microsoft.com/office/drawing/2014/main" id="{23A9D773-2FA9-4E93-A01A-AEECF93EB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3" name="Rectangle 42">
            <a:extLst>
              <a:ext uri="{FF2B5EF4-FFF2-40B4-BE49-F238E27FC236}">
                <a16:creationId xmlns:a16="http://schemas.microsoft.com/office/drawing/2014/main" id="{694E884E-CFA2-4B31-8157-DA73B88463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4" name="Rectangle 43">
            <a:extLst>
              <a:ext uri="{FF2B5EF4-FFF2-40B4-BE49-F238E27FC236}">
                <a16:creationId xmlns:a16="http://schemas.microsoft.com/office/drawing/2014/main" id="{3655E855-74FA-4AD3-B859-2488383A9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5" name="TextBox 44">
            <a:extLst>
              <a:ext uri="{FF2B5EF4-FFF2-40B4-BE49-F238E27FC236}">
                <a16:creationId xmlns:a16="http://schemas.microsoft.com/office/drawing/2014/main" id="{2E91CD00-2EAB-4689-A44A-C4687605E1D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46" name="Rectangle 45">
            <a:extLst>
              <a:ext uri="{FF2B5EF4-FFF2-40B4-BE49-F238E27FC236}">
                <a16:creationId xmlns:a16="http://schemas.microsoft.com/office/drawing/2014/main" id="{CE4E23EB-7D1F-4223-8BC1-FB83F69F2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B2698634-69E1-4F09-BCF7-366A5A5C4F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8" name="Picture 47">
            <a:extLst>
              <a:ext uri="{FF2B5EF4-FFF2-40B4-BE49-F238E27FC236}">
                <a16:creationId xmlns:a16="http://schemas.microsoft.com/office/drawing/2014/main" id="{3675C6A3-66C2-4CB7-AC7E-F274B7277E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49" name="Rectangle 48">
            <a:extLst>
              <a:ext uri="{FF2B5EF4-FFF2-40B4-BE49-F238E27FC236}">
                <a16:creationId xmlns:a16="http://schemas.microsoft.com/office/drawing/2014/main" id="{62E5A367-0F56-4156-A2AE-FAD07299A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1AAEB5E-C547-4C88-B0D8-F24BE79FD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B74DCE7-E922-457A-88B0-4299A3DA68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3CB46-4884-367C-C1E9-F81B7285BCD1}"/>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4100"/>
              <a:t>Le numérique n'est pas immatériel</a:t>
            </a:r>
          </a:p>
        </p:txBody>
      </p:sp>
      <p:sp>
        <p:nvSpPr>
          <p:cNvPr id="3" name="Content Placeholder 2">
            <a:extLst>
              <a:ext uri="{FF2B5EF4-FFF2-40B4-BE49-F238E27FC236}">
                <a16:creationId xmlns:a16="http://schemas.microsoft.com/office/drawing/2014/main" id="{B710DA9D-6582-ED09-41C1-361C0325E582}"/>
              </a:ext>
            </a:extLst>
          </p:cNvPr>
          <p:cNvSpPr>
            <a:spLocks noGrp="1"/>
          </p:cNvSpPr>
          <p:nvPr>
            <p:ph idx="1"/>
          </p:nvPr>
        </p:nvSpPr>
        <p:spPr>
          <a:xfrm>
            <a:off x="2133536" y="4752007"/>
            <a:ext cx="8286075" cy="414413"/>
          </a:xfrm>
        </p:spPr>
        <p:txBody>
          <a:bodyPr vert="horz" lIns="91440" tIns="0" rIns="91440" bIns="45720" rtlCol="0" anchor="b">
            <a:normAutofit/>
          </a:bodyPr>
          <a:lstStyle/>
          <a:p>
            <a:pPr marL="0" indent="0" algn="r">
              <a:buNone/>
            </a:pPr>
            <a:r>
              <a:rPr lang="en-US" sz="1800"/>
              <a:t>L'essentiel de l'impact : la fabrication du matériel</a:t>
            </a:r>
          </a:p>
        </p:txBody>
      </p:sp>
      <p:pic>
        <p:nvPicPr>
          <p:cNvPr id="4" name="Picture 3" descr="image.jpg"/>
          <p:cNvPicPr>
            <a:picLocks noChangeAspect="1"/>
          </p:cNvPicPr>
          <p:nvPr/>
        </p:nvPicPr>
        <p:blipFill>
          <a:blip r:embed="rId6"/>
          <a:srcRect l="3753" r="20211" b="1"/>
          <a:stretch>
            <a:fillRect/>
          </a:stretch>
        </p:blipFill>
        <p:spPr>
          <a:xfrm>
            <a:off x="1648589" y="647190"/>
            <a:ext cx="4447502" cy="3290126"/>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pic>
        <p:nvPicPr>
          <p:cNvPr id="6" name="Picture 5" descr="The importance of data centers as an asset class for the construction  industry">
            <a:extLst>
              <a:ext uri="{FF2B5EF4-FFF2-40B4-BE49-F238E27FC236}">
                <a16:creationId xmlns:a16="http://schemas.microsoft.com/office/drawing/2014/main" id="{765D272D-E517-BE01-E29B-DBE5C6A2777F}"/>
              </a:ext>
            </a:extLst>
          </p:cNvPr>
          <p:cNvPicPr>
            <a:picLocks noChangeAspect="1"/>
          </p:cNvPicPr>
          <p:nvPr/>
        </p:nvPicPr>
        <p:blipFill>
          <a:blip r:embed="rId7"/>
          <a:srcRect t="1779" r="2" b="2"/>
          <a:stretch>
            <a:fillRect/>
          </a:stretch>
        </p:blipFill>
        <p:spPr>
          <a:xfrm>
            <a:off x="6275762" y="647191"/>
            <a:ext cx="4466306" cy="3290126"/>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2" name="Rectangle 51">
            <a:extLst>
              <a:ext uri="{FF2B5EF4-FFF2-40B4-BE49-F238E27FC236}">
                <a16:creationId xmlns:a16="http://schemas.microsoft.com/office/drawing/2014/main" id="{047B410D-C384-4834-95F7-EFE768C43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670584" y="6053328"/>
            <a:ext cx="1899879" cy="246221"/>
          </a:xfrm>
          <a:prstGeom prst="rect">
            <a:avLst/>
          </a:prstGeom>
          <a:noFill/>
        </p:spPr>
        <p:txBody>
          <a:bodyPr wrap="none">
            <a:spAutoFit/>
          </a:bodyPr>
          <a:lstStyle/>
          <a:p>
            <a:pPr algn="r">
              <a:spcAft>
                <a:spcPts val="600"/>
              </a:spcAft>
            </a:pPr>
            <a:r>
              <a:rPr lang="en-US" sz="1000" i="1">
                <a:solidFill>
                  <a:srgbClr val="93A79C"/>
                </a:solidFill>
              </a:rPr>
              <a:t>Photo : Unsplash, licence libre</a:t>
            </a:r>
          </a:p>
        </p:txBody>
      </p:sp>
    </p:spTree>
    <p:extLst>
      <p:ext uri="{BB962C8B-B14F-4D97-AF65-F5344CB8AC3E}">
        <p14:creationId xmlns:p14="http://schemas.microsoft.com/office/powerpoint/2010/main" val="1994268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2" name="Rectangle 11">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4" name="Rectangle 13">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4174" y="0"/>
            <a:ext cx="959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a:extLst>
              <a:ext uri="{FF2B5EF4-FFF2-40B4-BE49-F238E27FC236}">
                <a16:creationId xmlns:a16="http://schemas.microsoft.com/office/drawing/2014/main" id="{6512CE76-9A16-3AC5-1839-F55AAC9F2C53}"/>
              </a:ext>
            </a:extLst>
          </p:cNvPr>
          <p:cNvSpPr>
            <a:spLocks noGrp="1"/>
          </p:cNvSpPr>
          <p:nvPr>
            <p:ph type="title"/>
          </p:nvPr>
        </p:nvSpPr>
        <p:spPr>
          <a:xfrm>
            <a:off x="1759309" y="326017"/>
            <a:ext cx="7710140" cy="1077229"/>
          </a:xfrm>
        </p:spPr>
        <p:txBody>
          <a:bodyPr anchor="b">
            <a:normAutofit/>
          </a:bodyPr>
          <a:lstStyle/>
          <a:p>
            <a:r>
              <a:rPr lang="fr-FR" sz="4000">
                <a:cs typeface="Arial"/>
              </a:rPr>
              <a:t>Problématique</a:t>
            </a:r>
            <a:endParaRPr lang="fr-FR" sz="4000"/>
          </a:p>
        </p:txBody>
      </p:sp>
      <p:sp>
        <p:nvSpPr>
          <p:cNvPr id="16" name="Right Triangle 15">
            <a:extLst>
              <a:ext uri="{FF2B5EF4-FFF2-40B4-BE49-F238E27FC236}">
                <a16:creationId xmlns:a16="http://schemas.microsoft.com/office/drawing/2014/main" id="{16E2DAB7-48CB-400E-9ED2-FB1762BE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9589439" y="326017"/>
            <a:ext cx="239869" cy="239869"/>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9FBB94-91D5-A84A-6F6D-295787722F55}"/>
              </a:ext>
            </a:extLst>
          </p:cNvPr>
          <p:cNvSpPr>
            <a:spLocks noGrp="1"/>
          </p:cNvSpPr>
          <p:nvPr>
            <p:ph idx="1"/>
          </p:nvPr>
        </p:nvSpPr>
        <p:spPr>
          <a:xfrm>
            <a:off x="1077137" y="1591733"/>
            <a:ext cx="9154312" cy="4684887"/>
          </a:xfrm>
          <a:solidFill>
            <a:schemeClr val="tx2">
              <a:lumMod val="10000"/>
            </a:schemeClr>
          </a:solidFill>
        </p:spPr>
        <p:txBody>
          <a:bodyPr anchor="ctr">
            <a:normAutofit/>
          </a:bodyPr>
          <a:lstStyle/>
          <a:p>
            <a:pPr marL="0" indent="0" algn="just">
              <a:buNone/>
            </a:pPr>
            <a:r>
              <a:rPr lang="en-US" sz="3200">
                <a:solidFill>
                  <a:schemeClr val="tx2">
                    <a:lumMod val="76000"/>
                  </a:schemeClr>
                </a:solidFill>
              </a:rPr>
              <a:t>« Face à </a:t>
            </a:r>
            <a:r>
              <a:rPr lang="en-US" sz="3200" err="1">
                <a:solidFill>
                  <a:schemeClr val="tx2">
                    <a:lumMod val="76000"/>
                  </a:schemeClr>
                </a:solidFill>
              </a:rPr>
              <a:t>l'urgence</a:t>
            </a:r>
            <a:r>
              <a:rPr lang="en-US" sz="3200">
                <a:solidFill>
                  <a:schemeClr val="tx2">
                    <a:lumMod val="76000"/>
                  </a:schemeClr>
                </a:solidFill>
              </a:rPr>
              <a:t> </a:t>
            </a:r>
            <a:r>
              <a:rPr lang="en-US" sz="3200" err="1">
                <a:solidFill>
                  <a:schemeClr val="tx2">
                    <a:lumMod val="76000"/>
                  </a:schemeClr>
                </a:solidFill>
              </a:rPr>
              <a:t>environnementale</a:t>
            </a:r>
            <a:r>
              <a:rPr lang="en-US" sz="3200">
                <a:solidFill>
                  <a:schemeClr val="tx2">
                    <a:lumMod val="76000"/>
                  </a:schemeClr>
                </a:solidFill>
              </a:rPr>
              <a:t> et aux </a:t>
            </a:r>
            <a:r>
              <a:rPr lang="en-US" sz="3200" err="1">
                <a:solidFill>
                  <a:schemeClr val="tx2">
                    <a:lumMod val="76000"/>
                  </a:schemeClr>
                </a:solidFill>
              </a:rPr>
              <a:t>enjeux</a:t>
            </a:r>
            <a:r>
              <a:rPr lang="en-US" sz="3200">
                <a:solidFill>
                  <a:schemeClr val="tx2">
                    <a:lumMod val="76000"/>
                  </a:schemeClr>
                </a:solidFill>
              </a:rPr>
              <a:t> </a:t>
            </a:r>
            <a:r>
              <a:rPr lang="en-US" sz="3200" err="1">
                <a:solidFill>
                  <a:schemeClr val="tx2">
                    <a:lumMod val="76000"/>
                  </a:schemeClr>
                </a:solidFill>
              </a:rPr>
              <a:t>éthiques</a:t>
            </a:r>
            <a:r>
              <a:rPr lang="en-US" sz="3200">
                <a:solidFill>
                  <a:schemeClr val="tx2">
                    <a:lumMod val="76000"/>
                  </a:schemeClr>
                </a:solidFill>
              </a:rPr>
              <a:t> </a:t>
            </a:r>
            <a:r>
              <a:rPr lang="en-US" sz="3200" err="1">
                <a:solidFill>
                  <a:schemeClr val="tx2">
                    <a:lumMod val="76000"/>
                  </a:schemeClr>
                </a:solidFill>
              </a:rPr>
              <a:t>soulevés</a:t>
            </a:r>
            <a:r>
              <a:rPr lang="en-US" sz="3200">
                <a:solidFill>
                  <a:schemeClr val="tx2">
                    <a:lumMod val="76000"/>
                  </a:schemeClr>
                </a:solidFill>
              </a:rPr>
              <a:t> par la place </a:t>
            </a:r>
            <a:r>
              <a:rPr lang="en-US" sz="3200" err="1">
                <a:solidFill>
                  <a:schemeClr val="tx2">
                    <a:lumMod val="76000"/>
                  </a:schemeClr>
                </a:solidFill>
              </a:rPr>
              <a:t>croissante</a:t>
            </a:r>
            <a:r>
              <a:rPr lang="en-US" sz="3200">
                <a:solidFill>
                  <a:schemeClr val="tx2">
                    <a:lumMod val="76000"/>
                  </a:schemeClr>
                </a:solidFill>
              </a:rPr>
              <a:t> du numérique dans </a:t>
            </a:r>
            <a:r>
              <a:rPr lang="en-US" sz="3200" err="1">
                <a:solidFill>
                  <a:schemeClr val="tx2">
                    <a:lumMod val="76000"/>
                  </a:schemeClr>
                </a:solidFill>
              </a:rPr>
              <a:t>nos</a:t>
            </a:r>
            <a:r>
              <a:rPr lang="en-US" sz="3200">
                <a:solidFill>
                  <a:schemeClr val="tx2">
                    <a:lumMod val="76000"/>
                  </a:schemeClr>
                </a:solidFill>
              </a:rPr>
              <a:t> sociétés, comment le </a:t>
            </a:r>
            <a:r>
              <a:rPr lang="en-US" sz="3200" err="1">
                <a:solidFill>
                  <a:schemeClr val="tx2">
                    <a:lumMod val="76000"/>
                  </a:schemeClr>
                </a:solidFill>
              </a:rPr>
              <a:t>développement</a:t>
            </a:r>
            <a:r>
              <a:rPr lang="en-US" sz="3200">
                <a:solidFill>
                  <a:schemeClr val="tx2">
                    <a:lumMod val="76000"/>
                  </a:schemeClr>
                </a:solidFill>
              </a:rPr>
              <a:t> </a:t>
            </a:r>
            <a:r>
              <a:rPr lang="en-US" sz="3200" err="1">
                <a:solidFill>
                  <a:schemeClr val="tx2">
                    <a:lumMod val="76000"/>
                  </a:schemeClr>
                </a:solidFill>
              </a:rPr>
              <a:t>logiciel</a:t>
            </a:r>
            <a:r>
              <a:rPr lang="en-US" sz="3200">
                <a:solidFill>
                  <a:schemeClr val="tx2">
                    <a:lumMod val="76000"/>
                  </a:schemeClr>
                </a:solidFill>
              </a:rPr>
              <a:t> </a:t>
            </a:r>
            <a:r>
              <a:rPr lang="en-US" sz="3200" err="1">
                <a:solidFill>
                  <a:schemeClr val="tx2">
                    <a:lumMod val="76000"/>
                  </a:schemeClr>
                </a:solidFill>
              </a:rPr>
              <a:t>peut</a:t>
            </a:r>
            <a:r>
              <a:rPr lang="en-US" sz="3200">
                <a:solidFill>
                  <a:schemeClr val="tx2">
                    <a:lumMod val="76000"/>
                  </a:schemeClr>
                </a:solidFill>
              </a:rPr>
              <a:t>-il </a:t>
            </a:r>
            <a:r>
              <a:rPr lang="en-US" sz="3200" err="1">
                <a:solidFill>
                  <a:schemeClr val="tx2">
                    <a:lumMod val="76000"/>
                  </a:schemeClr>
                </a:solidFill>
              </a:rPr>
              <a:t>devenir</a:t>
            </a:r>
            <a:r>
              <a:rPr lang="en-US" sz="3200">
                <a:solidFill>
                  <a:schemeClr val="tx2">
                    <a:lumMod val="76000"/>
                  </a:schemeClr>
                </a:solidFill>
              </a:rPr>
              <a:t> un levier de </a:t>
            </a:r>
            <a:r>
              <a:rPr lang="en-US" sz="3200" err="1">
                <a:solidFill>
                  <a:schemeClr val="tx2">
                    <a:lumMod val="76000"/>
                  </a:schemeClr>
                </a:solidFill>
              </a:rPr>
              <a:t>sobriété</a:t>
            </a:r>
            <a:r>
              <a:rPr lang="en-US" sz="3200">
                <a:solidFill>
                  <a:schemeClr val="tx2">
                    <a:lumMod val="76000"/>
                  </a:schemeClr>
                </a:solidFill>
              </a:rPr>
              <a:t> et de </a:t>
            </a:r>
            <a:r>
              <a:rPr lang="en-US" sz="3200" err="1">
                <a:solidFill>
                  <a:schemeClr val="tx2">
                    <a:lumMod val="76000"/>
                  </a:schemeClr>
                </a:solidFill>
              </a:rPr>
              <a:t>responsabilité</a:t>
            </a:r>
            <a:r>
              <a:rPr lang="en-US" sz="3200">
                <a:solidFill>
                  <a:schemeClr val="tx2">
                    <a:lumMod val="76000"/>
                  </a:schemeClr>
                </a:solidFill>
              </a:rPr>
              <a:t>, </a:t>
            </a:r>
            <a:r>
              <a:rPr lang="en-US" sz="3200" err="1">
                <a:solidFill>
                  <a:schemeClr val="tx2">
                    <a:lumMod val="76000"/>
                  </a:schemeClr>
                </a:solidFill>
              </a:rPr>
              <a:t>plutôt</a:t>
            </a:r>
            <a:r>
              <a:rPr lang="en-US" sz="3200">
                <a:solidFill>
                  <a:schemeClr val="tx2">
                    <a:lumMod val="76000"/>
                  </a:schemeClr>
                </a:solidFill>
              </a:rPr>
              <a:t> </a:t>
            </a:r>
            <a:r>
              <a:rPr lang="en-US" sz="3200" err="1">
                <a:solidFill>
                  <a:schemeClr val="tx2">
                    <a:lumMod val="76000"/>
                  </a:schemeClr>
                </a:solidFill>
              </a:rPr>
              <a:t>qu'un</a:t>
            </a:r>
            <a:r>
              <a:rPr lang="en-US" sz="3200">
                <a:solidFill>
                  <a:schemeClr val="tx2">
                    <a:lumMod val="76000"/>
                  </a:schemeClr>
                </a:solidFill>
              </a:rPr>
              <a:t> simple </a:t>
            </a:r>
            <a:r>
              <a:rPr lang="en-US" sz="3200" err="1">
                <a:solidFill>
                  <a:schemeClr val="tx2">
                    <a:lumMod val="76000"/>
                  </a:schemeClr>
                </a:solidFill>
              </a:rPr>
              <a:t>outil</a:t>
            </a:r>
            <a:r>
              <a:rPr lang="en-US" sz="3200">
                <a:solidFill>
                  <a:schemeClr val="tx2">
                    <a:lumMod val="76000"/>
                  </a:schemeClr>
                </a:solidFill>
              </a:rPr>
              <a:t> de performance ? »</a:t>
            </a:r>
            <a:endParaRPr lang="en-US" sz="3200">
              <a:solidFill>
                <a:schemeClr val="tx2">
                  <a:lumMod val="76000"/>
                </a:schemeClr>
              </a:solidFill>
              <a:cs typeface="Arial"/>
            </a:endParaRPr>
          </a:p>
        </p:txBody>
      </p:sp>
    </p:spTree>
    <p:extLst>
      <p:ext uri="{BB962C8B-B14F-4D97-AF65-F5344CB8AC3E}">
        <p14:creationId xmlns:p14="http://schemas.microsoft.com/office/powerpoint/2010/main" val="4245145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B4E7D395-0531-4A17-A276-FDA3EB7792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1" name="Rectangle 20">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229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a:extLst>
              <a:ext uri="{FF2B5EF4-FFF2-40B4-BE49-F238E27FC236}">
                <a16:creationId xmlns:a16="http://schemas.microsoft.com/office/drawing/2014/main" id="{4FFA97CC-DCE4-FDCC-2FF9-A09C91122317}"/>
              </a:ext>
            </a:extLst>
          </p:cNvPr>
          <p:cNvSpPr>
            <a:spLocks noGrp="1"/>
          </p:cNvSpPr>
          <p:nvPr>
            <p:ph type="title"/>
          </p:nvPr>
        </p:nvSpPr>
        <p:spPr>
          <a:xfrm>
            <a:off x="1337191" y="1064365"/>
            <a:ext cx="2856582" cy="3313671"/>
          </a:xfrm>
        </p:spPr>
        <p:txBody>
          <a:bodyPr>
            <a:normAutofit/>
          </a:bodyPr>
          <a:lstStyle/>
          <a:p>
            <a:pPr algn="l"/>
            <a:r>
              <a:rPr lang="en-US">
                <a:solidFill>
                  <a:schemeClr val="bg1"/>
                </a:solidFill>
              </a:rPr>
              <a:t>Sommaire</a:t>
            </a:r>
          </a:p>
        </p:txBody>
      </p:sp>
      <p:sp>
        <p:nvSpPr>
          <p:cNvPr id="22" name="Rectangle 21">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769"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aphicFrame>
        <p:nvGraphicFramePr>
          <p:cNvPr id="6" name="Content Placeholder 2">
            <a:extLst>
              <a:ext uri="{FF2B5EF4-FFF2-40B4-BE49-F238E27FC236}">
                <a16:creationId xmlns:a16="http://schemas.microsoft.com/office/drawing/2014/main" id="{E899DBA1-411A-73F2-3EE0-F32DCE383293}"/>
              </a:ext>
            </a:extLst>
          </p:cNvPr>
          <p:cNvGraphicFramePr>
            <a:graphicFrameLocks noGrp="1"/>
          </p:cNvGraphicFramePr>
          <p:nvPr>
            <p:ph idx="1"/>
            <p:extLst>
              <p:ext uri="{D42A27DB-BD31-4B8C-83A1-F6EECF244321}">
                <p14:modId xmlns:p14="http://schemas.microsoft.com/office/powerpoint/2010/main" val="2555026351"/>
              </p:ext>
            </p:extLst>
          </p:nvPr>
        </p:nvGraphicFramePr>
        <p:xfrm>
          <a:off x="4890326" y="200849"/>
          <a:ext cx="7152427" cy="6560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5790820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3BBAF34-367D-4E18-A62E-4602BD908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jpg"/>
          <p:cNvPicPr>
            <a:picLocks noChangeAspect="1"/>
          </p:cNvPicPr>
          <p:nvPr/>
        </p:nvPicPr>
        <p:blipFill>
          <a:blip r:embed="rId4"/>
          <a:srcRect t="8261" r="9091" b="23555"/>
          <a:stretch>
            <a:fillRect/>
          </a:stretch>
        </p:blipFill>
        <p:spPr>
          <a:xfrm>
            <a:off x="20" y="227"/>
            <a:ext cx="12191675" cy="6858000"/>
          </a:xfrm>
          <a:prstGeom prst="rect">
            <a:avLst/>
          </a:prstGeom>
        </p:spPr>
      </p:pic>
      <p:pic>
        <p:nvPicPr>
          <p:cNvPr id="24" name="Picture 23">
            <a:extLst>
              <a:ext uri="{FF2B5EF4-FFF2-40B4-BE49-F238E27FC236}">
                <a16:creationId xmlns:a16="http://schemas.microsoft.com/office/drawing/2014/main" id="{D445918B-6272-4727-A3FA-F23651AECA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5" name="Picture 24">
            <a:extLst>
              <a:ext uri="{FF2B5EF4-FFF2-40B4-BE49-F238E27FC236}">
                <a16:creationId xmlns:a16="http://schemas.microsoft.com/office/drawing/2014/main" id="{A9A96FF2-ACD7-48C4-BCE1-FC7F421086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6" name="Rectangle 25">
            <a:extLst>
              <a:ext uri="{FF2B5EF4-FFF2-40B4-BE49-F238E27FC236}">
                <a16:creationId xmlns:a16="http://schemas.microsoft.com/office/drawing/2014/main" id="{99A4CF08-858A-49E4-B707-4E7585D11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6938E62-910D-4D69-AA09-567AAAC37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74E54C6-D084-4BC8-B3F9-8B9EC22A6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5" y="0"/>
            <a:ext cx="589207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77252-57CA-362E-F2C1-8187DBCFC571}"/>
              </a:ext>
            </a:extLst>
          </p:cNvPr>
          <p:cNvSpPr>
            <a:spLocks noGrp="1"/>
          </p:cNvSpPr>
          <p:nvPr>
            <p:ph type="title"/>
          </p:nvPr>
        </p:nvSpPr>
        <p:spPr>
          <a:xfrm>
            <a:off x="1974738" y="808056"/>
            <a:ext cx="4119672" cy="1077229"/>
          </a:xfrm>
        </p:spPr>
        <p:txBody>
          <a:bodyPr>
            <a:normAutofit/>
          </a:bodyPr>
          <a:lstStyle/>
          <a:p>
            <a:pPr algn="l"/>
            <a:r>
              <a:rPr lang="en-US"/>
              <a:t>Le Synchrotron SOLEIL</a:t>
            </a:r>
          </a:p>
        </p:txBody>
      </p:sp>
      <p:sp>
        <p:nvSpPr>
          <p:cNvPr id="3" name="Content Placeholder 2">
            <a:extLst>
              <a:ext uri="{FF2B5EF4-FFF2-40B4-BE49-F238E27FC236}">
                <a16:creationId xmlns:a16="http://schemas.microsoft.com/office/drawing/2014/main" id="{CAA63D91-CDCE-101C-26C8-CA5E7E36D272}"/>
              </a:ext>
            </a:extLst>
          </p:cNvPr>
          <p:cNvSpPr>
            <a:spLocks noGrp="1"/>
          </p:cNvSpPr>
          <p:nvPr>
            <p:ph idx="1"/>
          </p:nvPr>
        </p:nvSpPr>
        <p:spPr>
          <a:xfrm>
            <a:off x="1974739" y="2052116"/>
            <a:ext cx="4119672" cy="3997828"/>
          </a:xfrm>
        </p:spPr>
        <p:txBody>
          <a:bodyPr>
            <a:normAutofit/>
          </a:bodyPr>
          <a:lstStyle/>
          <a:p>
            <a:r>
              <a:rPr lang="en-US" sz="1800"/>
              <a:t>Un microscope géant : la lumière d'électrons accélérés</a:t>
            </a:r>
          </a:p>
          <a:p>
            <a:r>
              <a:rPr lang="en-US" sz="1800"/>
              <a:t>Une très grande infrastructure de recherche publique</a:t>
            </a:r>
          </a:p>
          <a:p>
            <a:r>
              <a:rPr lang="en-US" sz="1800"/>
              <a:t>Des équipes du monde entier candidatent pour du temps de faisceau</a:t>
            </a:r>
          </a:p>
        </p:txBody>
      </p:sp>
      <p:sp>
        <p:nvSpPr>
          <p:cNvPr id="29" name="Rectangle 28">
            <a:extLst>
              <a:ext uri="{FF2B5EF4-FFF2-40B4-BE49-F238E27FC236}">
                <a16:creationId xmlns:a16="http://schemas.microsoft.com/office/drawing/2014/main" id="{777713DB-A0B1-4507-9991-B6DCAE436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99610"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439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a:extLst>
            <a:ext uri="{FF2B5EF4-FFF2-40B4-BE49-F238E27FC236}">
              <a16:creationId xmlns:a16="http://schemas.microsoft.com/office/drawing/2014/main" id="{16D569C4-E408-C023-9784-DC17F09F7B8D}"/>
            </a:ext>
          </a:extLst>
        </p:cNvPr>
        <p:cNvGrpSpPr/>
        <p:nvPr/>
      </p:nvGrpSpPr>
      <p:grpSpPr>
        <a:xfrm>
          <a:off x="0" y="0"/>
          <a:ext cx="0" cy="0"/>
          <a:chOff x="0" y="0"/>
          <a:chExt cx="0" cy="0"/>
        </a:xfrm>
      </p:grpSpPr>
      <p:pic>
        <p:nvPicPr>
          <p:cNvPr id="82" name="Picture 81">
            <a:extLst>
              <a:ext uri="{FF2B5EF4-FFF2-40B4-BE49-F238E27FC236}">
                <a16:creationId xmlns:a16="http://schemas.microsoft.com/office/drawing/2014/main" id="{B1395C1E-2648-4FFC-AC7C-2C17083518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84" name="Picture 83">
            <a:extLst>
              <a:ext uri="{FF2B5EF4-FFF2-40B4-BE49-F238E27FC236}">
                <a16:creationId xmlns:a16="http://schemas.microsoft.com/office/drawing/2014/main" id="{1C7379FE-10D6-4FEA-BEA3-5E2034A44C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6" name="Rectangle 85">
            <a:extLst>
              <a:ext uri="{FF2B5EF4-FFF2-40B4-BE49-F238E27FC236}">
                <a16:creationId xmlns:a16="http://schemas.microsoft.com/office/drawing/2014/main" id="{90FB7BFA-EBDD-467C-B253-EFA700504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8" name="Rectangle 87">
            <a:extLst>
              <a:ext uri="{FF2B5EF4-FFF2-40B4-BE49-F238E27FC236}">
                <a16:creationId xmlns:a16="http://schemas.microsoft.com/office/drawing/2014/main" id="{23A9D773-2FA9-4E93-A01A-AEECF93EB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0" name="Rectangle 89">
            <a:extLst>
              <a:ext uri="{FF2B5EF4-FFF2-40B4-BE49-F238E27FC236}">
                <a16:creationId xmlns:a16="http://schemas.microsoft.com/office/drawing/2014/main" id="{694E884E-CFA2-4B31-8157-DA73B88463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2" name="Rectangle 91">
            <a:extLst>
              <a:ext uri="{FF2B5EF4-FFF2-40B4-BE49-F238E27FC236}">
                <a16:creationId xmlns:a16="http://schemas.microsoft.com/office/drawing/2014/main" id="{3655E855-74FA-4AD3-B859-2488383A9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4" name="TextBox 93">
            <a:extLst>
              <a:ext uri="{FF2B5EF4-FFF2-40B4-BE49-F238E27FC236}">
                <a16:creationId xmlns:a16="http://schemas.microsoft.com/office/drawing/2014/main" id="{2E91CD00-2EAB-4689-A44A-C4687605E1D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96" name="Rectangle 95">
            <a:extLst>
              <a:ext uri="{FF2B5EF4-FFF2-40B4-BE49-F238E27FC236}">
                <a16:creationId xmlns:a16="http://schemas.microsoft.com/office/drawing/2014/main" id="{948486C0-49DA-4D10-8819-B10285CD8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a:extLst>
              <a:ext uri="{FF2B5EF4-FFF2-40B4-BE49-F238E27FC236}">
                <a16:creationId xmlns:a16="http://schemas.microsoft.com/office/drawing/2014/main" id="{B8A866DF-DE37-42DA-9FDB-F0D875D0C7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0" name="Picture 99">
            <a:extLst>
              <a:ext uri="{FF2B5EF4-FFF2-40B4-BE49-F238E27FC236}">
                <a16:creationId xmlns:a16="http://schemas.microsoft.com/office/drawing/2014/main" id="{EB59A018-AA80-47D3-B6EF-EF3F8C03A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2" name="Rectangle 101">
            <a:extLst>
              <a:ext uri="{FF2B5EF4-FFF2-40B4-BE49-F238E27FC236}">
                <a16:creationId xmlns:a16="http://schemas.microsoft.com/office/drawing/2014/main" id="{5FAB0ACF-C18A-4363-AEE3-B648B3C2A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7A74C6D6-F33A-4619-8326-43FCD454A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249318D-70B7-4AAC-B5F2-4A9385AA9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6D4EA4-B89A-A512-7DD1-E84E4EDEB284}"/>
              </a:ext>
            </a:extLst>
          </p:cNvPr>
          <p:cNvSpPr>
            <a:spLocks noGrp="1"/>
          </p:cNvSpPr>
          <p:nvPr>
            <p:ph type="title"/>
          </p:nvPr>
        </p:nvSpPr>
        <p:spPr>
          <a:xfrm>
            <a:off x="1969804" y="3428998"/>
            <a:ext cx="3132384" cy="2268559"/>
          </a:xfrm>
        </p:spPr>
        <p:txBody>
          <a:bodyPr vert="horz" lIns="91440" tIns="45720" rIns="91440" bIns="45720" rtlCol="0" anchor="t">
            <a:normAutofit/>
          </a:bodyPr>
          <a:lstStyle/>
          <a:p>
            <a:r>
              <a:rPr lang="en-US" sz="4200"/>
              <a:t>Le Synchrotron SOLEIL</a:t>
            </a:r>
          </a:p>
        </p:txBody>
      </p:sp>
      <p:pic>
        <p:nvPicPr>
          <p:cNvPr id="6" name="Image 5">
            <a:extLst>
              <a:ext uri="{FF2B5EF4-FFF2-40B4-BE49-F238E27FC236}">
                <a16:creationId xmlns:a16="http://schemas.microsoft.com/office/drawing/2014/main" id="{2A4C2481-AF7A-9B1C-6641-F8926F31BAB2}"/>
              </a:ext>
            </a:extLst>
          </p:cNvPr>
          <p:cNvPicPr>
            <a:picLocks noChangeAspect="1"/>
          </p:cNvPicPr>
          <p:nvPr/>
        </p:nvPicPr>
        <p:blipFill>
          <a:blip r:embed="rId6"/>
          <a:srcRect t="14521" r="2" b="15675"/>
          <a:stretch>
            <a:fillRect/>
          </a:stretch>
        </p:blipFill>
        <p:spPr>
          <a:xfrm>
            <a:off x="5764159" y="645833"/>
            <a:ext cx="4977910" cy="2701708"/>
          </a:xfrm>
          <a:prstGeom prst="rect">
            <a:avLst/>
          </a:prstGeom>
          <a:ln>
            <a:solidFill>
              <a:schemeClr val="accent6"/>
            </a:solidFill>
          </a:ln>
        </p:spPr>
      </p:pic>
      <p:pic>
        <p:nvPicPr>
          <p:cNvPr id="10" name="Image 9">
            <a:extLst>
              <a:ext uri="{FF2B5EF4-FFF2-40B4-BE49-F238E27FC236}">
                <a16:creationId xmlns:a16="http://schemas.microsoft.com/office/drawing/2014/main" id="{CC004BC9-E2E8-131E-9001-3A5129CBFBF4}"/>
              </a:ext>
            </a:extLst>
          </p:cNvPr>
          <p:cNvPicPr>
            <a:picLocks noChangeAspect="1"/>
          </p:cNvPicPr>
          <p:nvPr/>
        </p:nvPicPr>
        <p:blipFill>
          <a:blip r:embed="rId7"/>
          <a:srcRect l="5073" r="12473" b="-2"/>
          <a:stretch>
            <a:fillRect/>
          </a:stretch>
        </p:blipFill>
        <p:spPr>
          <a:xfrm>
            <a:off x="5764159" y="3509767"/>
            <a:ext cx="4977910" cy="2701708"/>
          </a:xfrm>
          <a:prstGeom prst="rect">
            <a:avLst/>
          </a:prstGeom>
          <a:ln>
            <a:solidFill>
              <a:schemeClr val="accent6"/>
            </a:solidFill>
          </a:ln>
        </p:spPr>
      </p:pic>
      <p:sp>
        <p:nvSpPr>
          <p:cNvPr id="108" name="Rectangle 107">
            <a:extLst>
              <a:ext uri="{FF2B5EF4-FFF2-40B4-BE49-F238E27FC236}">
                <a16:creationId xmlns:a16="http://schemas.microsoft.com/office/drawing/2014/main" id="{961C9783-C98B-471C-BA0A-68F30239D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44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a:extLst>
            <a:ext uri="{FF2B5EF4-FFF2-40B4-BE49-F238E27FC236}">
              <a16:creationId xmlns:a16="http://schemas.microsoft.com/office/drawing/2014/main" id="{0CC68CA3-21AA-7F35-8BB5-634FA091E259}"/>
            </a:ext>
          </a:extLst>
        </p:cNvPr>
        <p:cNvGrpSpPr/>
        <p:nvPr/>
      </p:nvGrpSpPr>
      <p:grpSpPr>
        <a:xfrm>
          <a:off x="0" y="0"/>
          <a:ext cx="0" cy="0"/>
          <a:chOff x="0" y="0"/>
          <a:chExt cx="0" cy="0"/>
        </a:xfrm>
      </p:grpSpPr>
      <p:pic>
        <p:nvPicPr>
          <p:cNvPr id="82" name="Picture 81">
            <a:extLst>
              <a:ext uri="{FF2B5EF4-FFF2-40B4-BE49-F238E27FC236}">
                <a16:creationId xmlns:a16="http://schemas.microsoft.com/office/drawing/2014/main" id="{E46CB17C-13CB-913D-C477-ECD06FA41C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84" name="Picture 83">
            <a:extLst>
              <a:ext uri="{FF2B5EF4-FFF2-40B4-BE49-F238E27FC236}">
                <a16:creationId xmlns:a16="http://schemas.microsoft.com/office/drawing/2014/main" id="{D03C5BC3-C018-9517-B982-780BB5D63A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6" name="Rectangle 85">
            <a:extLst>
              <a:ext uri="{FF2B5EF4-FFF2-40B4-BE49-F238E27FC236}">
                <a16:creationId xmlns:a16="http://schemas.microsoft.com/office/drawing/2014/main" id="{7CC169E1-3F5F-BEB7-B000-79C56707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8" name="Rectangle 87">
            <a:extLst>
              <a:ext uri="{FF2B5EF4-FFF2-40B4-BE49-F238E27FC236}">
                <a16:creationId xmlns:a16="http://schemas.microsoft.com/office/drawing/2014/main" id="{BF5E7001-048B-E501-241F-FC3D8E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0" name="Rectangle 89">
            <a:extLst>
              <a:ext uri="{FF2B5EF4-FFF2-40B4-BE49-F238E27FC236}">
                <a16:creationId xmlns:a16="http://schemas.microsoft.com/office/drawing/2014/main" id="{7CAC9A54-60E1-7ADD-426A-75D3B6EF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2" name="Rectangle 91">
            <a:extLst>
              <a:ext uri="{FF2B5EF4-FFF2-40B4-BE49-F238E27FC236}">
                <a16:creationId xmlns:a16="http://schemas.microsoft.com/office/drawing/2014/main" id="{E6A2827E-BEE8-E51C-0B60-099D37B6D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4" name="TextBox 93">
            <a:extLst>
              <a:ext uri="{FF2B5EF4-FFF2-40B4-BE49-F238E27FC236}">
                <a16:creationId xmlns:a16="http://schemas.microsoft.com/office/drawing/2014/main" id="{E98CCF3A-D555-F360-962B-8459520632EC}"/>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96" name="Rectangle 95">
            <a:extLst>
              <a:ext uri="{FF2B5EF4-FFF2-40B4-BE49-F238E27FC236}">
                <a16:creationId xmlns:a16="http://schemas.microsoft.com/office/drawing/2014/main" id="{7ED801DE-EA3B-7946-D425-05F6E18AF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a:extLst>
              <a:ext uri="{FF2B5EF4-FFF2-40B4-BE49-F238E27FC236}">
                <a16:creationId xmlns:a16="http://schemas.microsoft.com/office/drawing/2014/main" id="{60A91E36-7F9C-AA23-46CC-F95087FF8C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0" name="Picture 99">
            <a:extLst>
              <a:ext uri="{FF2B5EF4-FFF2-40B4-BE49-F238E27FC236}">
                <a16:creationId xmlns:a16="http://schemas.microsoft.com/office/drawing/2014/main" id="{3AA8F057-E1EB-74A8-5FF0-0F76A4D3A0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2" name="Rectangle 101">
            <a:extLst>
              <a:ext uri="{FF2B5EF4-FFF2-40B4-BE49-F238E27FC236}">
                <a16:creationId xmlns:a16="http://schemas.microsoft.com/office/drawing/2014/main" id="{EB4B5127-7A88-C7D4-B4BE-B95526478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D9C8BC6F-53CC-1468-242E-1EBEB2D76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905168DF-D2CB-F6C7-7B23-17E408299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C06BCB48-7E40-4959-0304-DB8A2BFF3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0400FF14-1302-ECD4-9F3C-33AE7CE69075}"/>
              </a:ext>
            </a:extLst>
          </p:cNvPr>
          <p:cNvSpPr>
            <a:spLocks noGrp="1"/>
          </p:cNvSpPr>
          <p:nvPr>
            <p:ph type="title"/>
          </p:nvPr>
        </p:nvSpPr>
        <p:spPr/>
        <p:txBody>
          <a:bodyPr/>
          <a:lstStyle/>
          <a:p>
            <a:endParaRPr lang="fr-FR"/>
          </a:p>
        </p:txBody>
      </p:sp>
      <p:pic>
        <p:nvPicPr>
          <p:cNvPr id="9" name="Image 8">
            <a:extLst>
              <a:ext uri="{FF2B5EF4-FFF2-40B4-BE49-F238E27FC236}">
                <a16:creationId xmlns:a16="http://schemas.microsoft.com/office/drawing/2014/main" id="{9C13CD54-AE03-E3A7-0DE3-C8DA0956338C}"/>
              </a:ext>
            </a:extLst>
          </p:cNvPr>
          <p:cNvPicPr>
            <a:picLocks noChangeAspect="1"/>
          </p:cNvPicPr>
          <p:nvPr/>
        </p:nvPicPr>
        <p:blipFill>
          <a:blip r:embed="rId6"/>
          <a:stretch>
            <a:fillRect/>
          </a:stretch>
        </p:blipFill>
        <p:spPr>
          <a:xfrm>
            <a:off x="147673" y="224170"/>
            <a:ext cx="11894519" cy="6539027"/>
          </a:xfrm>
          <a:prstGeom prst="rect">
            <a:avLst/>
          </a:prstGeom>
        </p:spPr>
      </p:pic>
    </p:spTree>
    <p:extLst>
      <p:ext uri="{BB962C8B-B14F-4D97-AF65-F5344CB8AC3E}">
        <p14:creationId xmlns:p14="http://schemas.microsoft.com/office/powerpoint/2010/main" val="893543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83C0B-8F73-6AAC-3F0B-5DCBED82B44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C9ED62E-4849-0855-8B00-A343D6CA9F62}"/>
              </a:ext>
            </a:extLst>
          </p:cNvPr>
          <p:cNvSpPr>
            <a:spLocks noGrp="1"/>
          </p:cNvSpPr>
          <p:nvPr>
            <p:ph idx="1"/>
          </p:nvPr>
        </p:nvSpPr>
        <p:spPr/>
        <p:txBody>
          <a:bodyPr/>
          <a:lstStyle/>
          <a:p>
            <a:endParaRPr lang="fr-FR"/>
          </a:p>
        </p:txBody>
      </p:sp>
      <p:pic>
        <p:nvPicPr>
          <p:cNvPr id="6" name="Image 5" descr="File:Schéma de principe du synchrotron.png - Wikimedia Commons">
            <a:extLst>
              <a:ext uri="{FF2B5EF4-FFF2-40B4-BE49-F238E27FC236}">
                <a16:creationId xmlns:a16="http://schemas.microsoft.com/office/drawing/2014/main" id="{EF9718FF-D961-32B2-1CC7-16F6082BAA0A}"/>
              </a:ext>
            </a:extLst>
          </p:cNvPr>
          <p:cNvPicPr>
            <a:picLocks noChangeAspect="1"/>
          </p:cNvPicPr>
          <p:nvPr/>
        </p:nvPicPr>
        <p:blipFill>
          <a:blip r:embed="rId2"/>
          <a:stretch>
            <a:fillRect/>
          </a:stretch>
        </p:blipFill>
        <p:spPr>
          <a:xfrm>
            <a:off x="738438" y="29192"/>
            <a:ext cx="10715123" cy="6799615"/>
          </a:xfrm>
          <a:prstGeom prst="rect">
            <a:avLst/>
          </a:prstGeom>
        </p:spPr>
      </p:pic>
    </p:spTree>
    <p:extLst>
      <p:ext uri="{BB962C8B-B14F-4D97-AF65-F5344CB8AC3E}">
        <p14:creationId xmlns:p14="http://schemas.microsoft.com/office/powerpoint/2010/main" val="359966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35FDF-9FDC-AC3A-33F0-45957DBD37E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9429F8-AD8E-6A3B-B24B-0C66A97F1D1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46FA39D-9502-37BE-1BC4-C9DFA858BB72}"/>
              </a:ext>
            </a:extLst>
          </p:cNvPr>
          <p:cNvSpPr>
            <a:spLocks noGrp="1"/>
          </p:cNvSpPr>
          <p:nvPr>
            <p:ph idx="1"/>
          </p:nvPr>
        </p:nvSpPr>
        <p:spPr/>
        <p:txBody>
          <a:bodyPr/>
          <a:lstStyle/>
          <a:p>
            <a:endParaRPr lang="fr-FR"/>
          </a:p>
        </p:txBody>
      </p:sp>
      <p:pic>
        <p:nvPicPr>
          <p:cNvPr id="20" name="Image 19">
            <a:extLst>
              <a:ext uri="{FF2B5EF4-FFF2-40B4-BE49-F238E27FC236}">
                <a16:creationId xmlns:a16="http://schemas.microsoft.com/office/drawing/2014/main" id="{2C363907-1F8E-BCC9-28E6-A5272E42A46F}"/>
              </a:ext>
            </a:extLst>
          </p:cNvPr>
          <p:cNvPicPr>
            <a:picLocks noChangeAspect="1"/>
          </p:cNvPicPr>
          <p:nvPr/>
        </p:nvPicPr>
        <p:blipFill>
          <a:blip r:embed="rId2"/>
          <a:stretch>
            <a:fillRect/>
          </a:stretch>
        </p:blipFill>
        <p:spPr>
          <a:xfrm>
            <a:off x="653770" y="190333"/>
            <a:ext cx="10884459" cy="6477333"/>
          </a:xfrm>
          <a:prstGeom prst="rect">
            <a:avLst/>
          </a:prstGeom>
        </p:spPr>
      </p:pic>
    </p:spTree>
    <p:extLst>
      <p:ext uri="{BB962C8B-B14F-4D97-AF65-F5344CB8AC3E}">
        <p14:creationId xmlns:p14="http://schemas.microsoft.com/office/powerpoint/2010/main" val="2824654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D557CE-2AB8-44E1-AABA-A21D2274F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8DCB6E5-A344-4A17-A353-EC4D71E6C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4D82F4F2-6117-4CCD-94A7-4AFD603EC3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3CCA9FB2-FFC7-4B6D-8E30-9D2CC14E7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F6D6F6-E7F9-4521-BD22-74A61D8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B566E74-1425-46AC-885D-D2DAEE365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0324E0-585B-4B5C-3D2D-DF07DA2C6323}"/>
              </a:ext>
            </a:extLst>
          </p:cNvPr>
          <p:cNvSpPr>
            <a:spLocks noGrp="1"/>
          </p:cNvSpPr>
          <p:nvPr>
            <p:ph type="title"/>
          </p:nvPr>
        </p:nvSpPr>
        <p:spPr>
          <a:xfrm>
            <a:off x="1969804" y="808056"/>
            <a:ext cx="3317492" cy="1077229"/>
          </a:xfrm>
        </p:spPr>
        <p:txBody>
          <a:bodyPr>
            <a:normAutofit/>
          </a:bodyPr>
          <a:lstStyle/>
          <a:p>
            <a:pPr algn="l"/>
            <a:r>
              <a:t>Le groupe ISG</a:t>
            </a:r>
            <a:endParaRPr lang="en-US"/>
          </a:p>
        </p:txBody>
      </p:sp>
      <p:sp>
        <p:nvSpPr>
          <p:cNvPr id="3" name="Content Placeholder 2">
            <a:extLst>
              <a:ext uri="{FF2B5EF4-FFF2-40B4-BE49-F238E27FC236}">
                <a16:creationId xmlns:a16="http://schemas.microsoft.com/office/drawing/2014/main" id="{17167244-EDCC-C75B-7986-DA930624CAD4}"/>
              </a:ext>
            </a:extLst>
          </p:cNvPr>
          <p:cNvSpPr>
            <a:spLocks noGrp="1"/>
          </p:cNvSpPr>
          <p:nvPr>
            <p:ph idx="1"/>
          </p:nvPr>
        </p:nvSpPr>
        <p:spPr>
          <a:xfrm>
            <a:off x="1236832" y="2102915"/>
            <a:ext cx="2838522" cy="3947029"/>
          </a:xfrm>
        </p:spPr>
        <p:txBody>
          <a:bodyPr>
            <a:normAutofit/>
          </a:bodyPr>
          <a:lstStyle/>
          <a:p>
            <a:pPr marL="344170" indent="-344170"/>
            <a:r>
              <a:rPr sz="1800"/>
              <a:t>ISG - Infrastructure des Systèmes de Gestion</a:t>
            </a:r>
            <a:endParaRPr lang="en-US"/>
          </a:p>
          <a:p>
            <a:pPr marL="344170" indent="-344170"/>
            <a:r>
              <a:rPr sz="1800"/>
              <a:t>Une équipe de 7 personnes</a:t>
            </a:r>
            <a:endParaRPr sz="1800">
              <a:cs typeface="Arial" panose="020B0604020202020204"/>
            </a:endParaRPr>
          </a:p>
          <a:p>
            <a:pPr marL="344170" indent="-344170"/>
            <a:r>
              <a:rPr sz="1800"/>
              <a:t>Mes interlocuteurs ne sont pas des informaticiens</a:t>
            </a:r>
            <a:endParaRPr sz="1800">
              <a:cs typeface="Arial" panose="020B0604020202020204"/>
            </a:endParaRPr>
          </a:p>
        </p:txBody>
      </p:sp>
      <p:pic>
        <p:nvPicPr>
          <p:cNvPr id="5" name="Picture 4">
            <a:extLst>
              <a:ext uri="{FF2B5EF4-FFF2-40B4-BE49-F238E27FC236}">
                <a16:creationId xmlns:a16="http://schemas.microsoft.com/office/drawing/2014/main" id="{35138BF5-83F1-B730-E4E6-0A0B0EFED24D}"/>
              </a:ext>
            </a:extLst>
          </p:cNvPr>
          <p:cNvPicPr>
            <a:picLocks noChangeAspect="1"/>
          </p:cNvPicPr>
          <p:nvPr/>
        </p:nvPicPr>
        <p:blipFill>
          <a:blip r:embed="rId6"/>
          <a:stretch>
            <a:fillRect/>
          </a:stretch>
        </p:blipFill>
        <p:spPr>
          <a:xfrm>
            <a:off x="4294995" y="1715621"/>
            <a:ext cx="7198875" cy="5118331"/>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22" name="Rectangle 21">
            <a:extLst>
              <a:ext uri="{FF2B5EF4-FFF2-40B4-BE49-F238E27FC236}">
                <a16:creationId xmlns:a16="http://schemas.microsoft.com/office/drawing/2014/main" id="{06858379-D070-40E4-8A3D-F29E90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4470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CD557CE-2AB8-44E1-AABA-A21D2274F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58DCB6E5-A344-4A17-A353-EC4D71E6C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0" name="Picture 39">
            <a:extLst>
              <a:ext uri="{FF2B5EF4-FFF2-40B4-BE49-F238E27FC236}">
                <a16:creationId xmlns:a16="http://schemas.microsoft.com/office/drawing/2014/main" id="{4D82F4F2-6117-4CCD-94A7-4AFD603EC3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41" name="Rectangle 40">
            <a:extLst>
              <a:ext uri="{FF2B5EF4-FFF2-40B4-BE49-F238E27FC236}">
                <a16:creationId xmlns:a16="http://schemas.microsoft.com/office/drawing/2014/main" id="{3CCA9FB2-FFC7-4B6D-8E30-9D2CC14E7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CF6D6F6-E7F9-4521-BD22-74A61D8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B566E74-1425-46AC-885D-D2DAEE365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BCBE46-9722-3B02-7960-7E39AF3F517D}"/>
              </a:ext>
            </a:extLst>
          </p:cNvPr>
          <p:cNvSpPr>
            <a:spLocks noGrp="1"/>
          </p:cNvSpPr>
          <p:nvPr>
            <p:ph type="title"/>
          </p:nvPr>
        </p:nvSpPr>
        <p:spPr>
          <a:xfrm>
            <a:off x="1969804" y="808056"/>
            <a:ext cx="3317492" cy="1077229"/>
          </a:xfrm>
        </p:spPr>
        <p:txBody>
          <a:bodyPr>
            <a:normAutofit/>
          </a:bodyPr>
          <a:lstStyle/>
          <a:p>
            <a:pPr algn="l"/>
            <a:r>
              <a:rPr lang="en-US" sz="2400"/>
              <a:t>SUNset : la porte d'entrée de la science</a:t>
            </a:r>
          </a:p>
        </p:txBody>
      </p:sp>
      <p:sp>
        <p:nvSpPr>
          <p:cNvPr id="3" name="Content Placeholder 2">
            <a:extLst>
              <a:ext uri="{FF2B5EF4-FFF2-40B4-BE49-F238E27FC236}">
                <a16:creationId xmlns:a16="http://schemas.microsoft.com/office/drawing/2014/main" id="{326BAB55-1A2A-C066-D19C-6E0C4CF59865}"/>
              </a:ext>
            </a:extLst>
          </p:cNvPr>
          <p:cNvSpPr>
            <a:spLocks noGrp="1"/>
          </p:cNvSpPr>
          <p:nvPr>
            <p:ph idx="1"/>
          </p:nvPr>
        </p:nvSpPr>
        <p:spPr>
          <a:xfrm>
            <a:off x="1251346" y="2052116"/>
            <a:ext cx="3085265" cy="3997828"/>
          </a:xfrm>
        </p:spPr>
        <p:txBody>
          <a:bodyPr>
            <a:normAutofit/>
          </a:bodyPr>
          <a:lstStyle/>
          <a:p>
            <a:pPr marL="344170" indent="-344170"/>
            <a:r>
              <a:rPr lang="en-US" sz="1800" dirty="0" err="1"/>
              <a:t>L'application</a:t>
            </a:r>
            <a:r>
              <a:rPr lang="en-US" sz="1800" dirty="0"/>
              <a:t> par </a:t>
            </a:r>
            <a:r>
              <a:rPr lang="en-US" sz="1800" dirty="0" err="1"/>
              <a:t>laquelle</a:t>
            </a:r>
            <a:r>
              <a:rPr lang="en-US" sz="1800" dirty="0"/>
              <a:t> les </a:t>
            </a:r>
            <a:r>
              <a:rPr lang="en-US" sz="1800" dirty="0" err="1"/>
              <a:t>scientifiques</a:t>
            </a:r>
            <a:r>
              <a:rPr lang="en-US" sz="1800" dirty="0"/>
              <a:t> </a:t>
            </a:r>
            <a:r>
              <a:rPr lang="en-US" sz="1800" dirty="0" err="1"/>
              <a:t>demandent</a:t>
            </a:r>
            <a:r>
              <a:rPr lang="en-US" sz="1800" dirty="0"/>
              <a:t> du temps de </a:t>
            </a:r>
            <a:r>
              <a:rPr lang="en-US" sz="1800" dirty="0" err="1"/>
              <a:t>faisceau</a:t>
            </a:r>
            <a:endParaRPr lang="en-US" dirty="0"/>
          </a:p>
          <a:p>
            <a:pPr marL="344170" indent="-344170"/>
            <a:r>
              <a:rPr lang="en-US" sz="1800" dirty="0"/>
              <a:t>16 steps, </a:t>
            </a:r>
            <a:r>
              <a:rPr lang="en-US" sz="1800"/>
              <a:t>5 workflows </a:t>
            </a:r>
            <a:r>
              <a:rPr lang="en-US" sz="1800" dirty="0" err="1"/>
              <a:t>différents</a:t>
            </a:r>
            <a:endParaRPr lang="en-US" sz="1800" dirty="0">
              <a:cs typeface="Arial" panose="020B0604020202020204"/>
            </a:endParaRPr>
          </a:p>
          <a:p>
            <a:pPr marL="344170" indent="-344170"/>
            <a:r>
              <a:rPr lang="en-US" sz="1800" dirty="0"/>
              <a:t>Une version PHP, </a:t>
            </a:r>
            <a:r>
              <a:rPr lang="en-US" sz="1800" dirty="0" err="1"/>
              <a:t>puis</a:t>
            </a:r>
            <a:r>
              <a:rPr lang="en-US" sz="1800" dirty="0"/>
              <a:t> </a:t>
            </a:r>
            <a:r>
              <a:rPr lang="en-US" sz="1800" dirty="0" err="1"/>
              <a:t>une</a:t>
            </a:r>
            <a:r>
              <a:rPr lang="en-US" sz="1800" dirty="0"/>
              <a:t> version Java</a:t>
            </a:r>
            <a:endParaRPr lang="en-US" sz="1800" dirty="0">
              <a:cs typeface="Arial" panose="020B0604020202020204"/>
            </a:endParaRPr>
          </a:p>
        </p:txBody>
      </p:sp>
      <p:pic>
        <p:nvPicPr>
          <p:cNvPr id="4" name="Picture 3" descr="image.png"/>
          <p:cNvPicPr>
            <a:picLocks noChangeAspect="1"/>
          </p:cNvPicPr>
          <p:nvPr/>
        </p:nvPicPr>
        <p:blipFill>
          <a:blip r:embed="rId6"/>
          <a:stretch>
            <a:fillRect/>
          </a:stretch>
        </p:blipFill>
        <p:spPr>
          <a:xfrm>
            <a:off x="5151338" y="2317095"/>
            <a:ext cx="6415103" cy="3465444"/>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44" name="Rectangle 43">
            <a:extLst>
              <a:ext uri="{FF2B5EF4-FFF2-40B4-BE49-F238E27FC236}">
                <a16:creationId xmlns:a16="http://schemas.microsoft.com/office/drawing/2014/main" id="{06858379-D070-40E4-8A3D-F29E90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360931" y="6053328"/>
            <a:ext cx="3209532" cy="246221"/>
          </a:xfrm>
          <a:prstGeom prst="rect">
            <a:avLst/>
          </a:prstGeom>
          <a:noFill/>
        </p:spPr>
        <p:txBody>
          <a:bodyPr wrap="none">
            <a:spAutoFit/>
          </a:bodyPr>
          <a:lstStyle/>
          <a:p>
            <a:pPr algn="r">
              <a:spcAft>
                <a:spcPts val="600"/>
              </a:spcAft>
            </a:pPr>
            <a:r>
              <a:rPr lang="en-US" sz="1000" i="1">
                <a:solidFill>
                  <a:srgbClr val="93A79C"/>
                </a:solidFill>
              </a:rPr>
              <a:t>SUNset - depot d'une demande de temps de faisceau</a:t>
            </a:r>
          </a:p>
        </p:txBody>
      </p:sp>
    </p:spTree>
    <p:extLst>
      <p:ext uri="{BB962C8B-B14F-4D97-AF65-F5344CB8AC3E}">
        <p14:creationId xmlns:p14="http://schemas.microsoft.com/office/powerpoint/2010/main" val="62385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EC89-0E92-B27A-3247-356C798AD6C6}"/>
              </a:ext>
            </a:extLst>
          </p:cNvPr>
          <p:cNvSpPr>
            <a:spLocks noGrp="1"/>
          </p:cNvSpPr>
          <p:nvPr>
            <p:ph type="title"/>
          </p:nvPr>
        </p:nvSpPr>
        <p:spPr/>
        <p:txBody>
          <a:bodyPr/>
          <a:lstStyle/>
          <a:p>
            <a:r>
              <a:t>I.  Le socle technique</a:t>
            </a:r>
          </a:p>
        </p:txBody>
      </p:sp>
      <p:sp>
        <p:nvSpPr>
          <p:cNvPr id="3" name="Content Placeholder 2">
            <a:extLst>
              <a:ext uri="{FF2B5EF4-FFF2-40B4-BE49-F238E27FC236}">
                <a16:creationId xmlns:a16="http://schemas.microsoft.com/office/drawing/2014/main" id="{BB71311C-81DB-1CE9-93D2-847F60C2BBD5}"/>
              </a:ext>
            </a:extLst>
          </p:cNvPr>
          <p:cNvSpPr>
            <a:spLocks noGrp="1"/>
          </p:cNvSpPr>
          <p:nvPr>
            <p:ph idx="1"/>
          </p:nvPr>
        </p:nvSpPr>
        <p:spPr>
          <a:xfrm>
            <a:off x="2770632" y="2011680"/>
            <a:ext cx="7799831" cy="3931920"/>
          </a:xfrm>
        </p:spPr>
        <p:txBody>
          <a:bodyPr wrap="square" anchor="t">
            <a:noAutofit/>
          </a:bodyPr>
          <a:lstStyle/>
          <a:p>
            <a:endParaRPr/>
          </a:p>
        </p:txBody>
      </p:sp>
      <p:pic>
        <p:nvPicPr>
          <p:cNvPr id="6" name="Picture 5" descr="stack_technique.png">
            <a:extLst>
              <a:ext uri="{FF2B5EF4-FFF2-40B4-BE49-F238E27FC236}">
                <a16:creationId xmlns:a16="http://schemas.microsoft.com/office/drawing/2014/main" id="{A69F8DAC-B680-8F96-3E9D-45C823011A3C}"/>
              </a:ext>
            </a:extLst>
          </p:cNvPr>
          <p:cNvPicPr>
            <a:picLocks noChangeAspect="1"/>
          </p:cNvPicPr>
          <p:nvPr/>
        </p:nvPicPr>
        <p:blipFill>
          <a:blip r:embed="rId3"/>
          <a:stretch>
            <a:fillRect/>
          </a:stretch>
        </p:blipFill>
        <p:spPr>
          <a:xfrm>
            <a:off x="716861" y="1348301"/>
            <a:ext cx="11043773" cy="3940053"/>
          </a:xfrm>
          <a:prstGeom prst="rect">
            <a:avLst/>
          </a:prstGeom>
        </p:spPr>
      </p:pic>
    </p:spTree>
    <p:extLst>
      <p:ext uri="{BB962C8B-B14F-4D97-AF65-F5344CB8AC3E}">
        <p14:creationId xmlns:p14="http://schemas.microsoft.com/office/powerpoint/2010/main" val="2841050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1EEE-E382-BDD7-1506-86BFA8A5F0A1}"/>
              </a:ext>
            </a:extLst>
          </p:cNvPr>
          <p:cNvSpPr>
            <a:spLocks noGrp="1"/>
          </p:cNvSpPr>
          <p:nvPr>
            <p:ph type="title"/>
          </p:nvPr>
        </p:nvSpPr>
        <p:spPr/>
        <p:txBody>
          <a:bodyPr/>
          <a:lstStyle/>
          <a:p>
            <a:r>
              <a:t>A.  Mes compétences techniques</a:t>
            </a:r>
          </a:p>
        </p:txBody>
      </p:sp>
      <p:sp>
        <p:nvSpPr>
          <p:cNvPr id="3" name="Content Placeholder 2">
            <a:extLst>
              <a:ext uri="{FF2B5EF4-FFF2-40B4-BE49-F238E27FC236}">
                <a16:creationId xmlns:a16="http://schemas.microsoft.com/office/drawing/2014/main" id="{3EA108E5-2387-2C3C-67D6-EECA3F60447F}"/>
              </a:ext>
            </a:extLst>
          </p:cNvPr>
          <p:cNvSpPr>
            <a:spLocks noGrp="1"/>
          </p:cNvSpPr>
          <p:nvPr>
            <p:ph idx="1"/>
          </p:nvPr>
        </p:nvSpPr>
        <p:spPr>
          <a:xfrm>
            <a:off x="2197317" y="5716306"/>
            <a:ext cx="7799831" cy="1051560"/>
          </a:xfrm>
        </p:spPr>
        <p:txBody>
          <a:bodyPr wrap="square" anchor="t">
            <a:noAutofit/>
          </a:bodyPr>
          <a:lstStyle/>
          <a:p>
            <a:pPr marL="0" indent="0" algn="ctr">
              <a:buNone/>
            </a:pPr>
            <a:r>
              <a:rPr lang="en-US" sz="2400" err="1"/>
              <a:t>Aproche</a:t>
            </a:r>
            <a:r>
              <a:rPr lang="en-US" sz="2400"/>
              <a:t> </a:t>
            </a:r>
            <a:r>
              <a:rPr lang="en-US" sz="2400" err="1"/>
              <a:t>pragmatique</a:t>
            </a:r>
            <a:r>
              <a:rPr lang="en-US" sz="2400"/>
              <a:t>: savoir</a:t>
            </a:r>
            <a:r>
              <a:rPr sz="2400"/>
              <a:t> </a:t>
            </a:r>
            <a:r>
              <a:rPr sz="2400" err="1"/>
              <a:t>choisir</a:t>
            </a:r>
            <a:r>
              <a:rPr sz="2400"/>
              <a:t>, pas </a:t>
            </a:r>
            <a:r>
              <a:rPr sz="2400" err="1"/>
              <a:t>accumuler</a:t>
            </a:r>
            <a:endParaRPr lang="en-US" sz="2400">
              <a:cs typeface="Arial"/>
            </a:endParaRPr>
          </a:p>
        </p:txBody>
      </p:sp>
      <p:pic>
        <p:nvPicPr>
          <p:cNvPr id="6" name="Picture 5" descr="stack_technique.png">
            <a:extLst>
              <a:ext uri="{FF2B5EF4-FFF2-40B4-BE49-F238E27FC236}">
                <a16:creationId xmlns:a16="http://schemas.microsoft.com/office/drawing/2014/main" id="{0A1082C7-D2C1-D130-50BB-399C0F3D63DE}"/>
              </a:ext>
            </a:extLst>
          </p:cNvPr>
          <p:cNvPicPr>
            <a:picLocks noChangeAspect="1"/>
          </p:cNvPicPr>
          <p:nvPr/>
        </p:nvPicPr>
        <p:blipFill>
          <a:blip r:embed="rId3"/>
          <a:stretch>
            <a:fillRect/>
          </a:stretch>
        </p:blipFill>
        <p:spPr>
          <a:xfrm>
            <a:off x="716861" y="1348301"/>
            <a:ext cx="11043773" cy="3940053"/>
          </a:xfrm>
          <a:prstGeom prst="rect">
            <a:avLst/>
          </a:prstGeom>
        </p:spPr>
      </p:pic>
    </p:spTree>
    <p:extLst>
      <p:ext uri="{BB962C8B-B14F-4D97-AF65-F5344CB8AC3E}">
        <p14:creationId xmlns:p14="http://schemas.microsoft.com/office/powerpoint/2010/main" val="2463539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CD557CE-2AB8-44E1-AABA-A21D2274F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58DCB6E5-A344-4A17-A353-EC4D71E6C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6" name="Picture 25">
            <a:extLst>
              <a:ext uri="{FF2B5EF4-FFF2-40B4-BE49-F238E27FC236}">
                <a16:creationId xmlns:a16="http://schemas.microsoft.com/office/drawing/2014/main" id="{4D82F4F2-6117-4CCD-94A7-4AFD603EC3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7" name="Rectangle 26">
            <a:extLst>
              <a:ext uri="{FF2B5EF4-FFF2-40B4-BE49-F238E27FC236}">
                <a16:creationId xmlns:a16="http://schemas.microsoft.com/office/drawing/2014/main" id="{3CCA9FB2-FFC7-4B6D-8E30-9D2CC14E7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CF6D6F6-E7F9-4521-BD22-74A61D8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B566E74-1425-46AC-885D-D2DAEE365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095B09-A097-1BBD-6B06-00DF68B0D90B}"/>
              </a:ext>
            </a:extLst>
          </p:cNvPr>
          <p:cNvSpPr>
            <a:spLocks noGrp="1"/>
          </p:cNvSpPr>
          <p:nvPr>
            <p:ph type="title"/>
          </p:nvPr>
        </p:nvSpPr>
        <p:spPr>
          <a:xfrm>
            <a:off x="1969804" y="808056"/>
            <a:ext cx="3317492" cy="1077229"/>
          </a:xfrm>
        </p:spPr>
        <p:txBody>
          <a:bodyPr>
            <a:normAutofit/>
          </a:bodyPr>
          <a:lstStyle/>
          <a:p>
            <a:pPr algn="l"/>
            <a:r>
              <a:rPr lang="en-US"/>
              <a:t>Le diagnostic : une base fragile</a:t>
            </a:r>
          </a:p>
        </p:txBody>
      </p:sp>
      <p:sp>
        <p:nvSpPr>
          <p:cNvPr id="3" name="Content Placeholder 2">
            <a:extLst>
              <a:ext uri="{FF2B5EF4-FFF2-40B4-BE49-F238E27FC236}">
                <a16:creationId xmlns:a16="http://schemas.microsoft.com/office/drawing/2014/main" id="{286EF1F1-C961-0834-F286-172520D69794}"/>
              </a:ext>
            </a:extLst>
          </p:cNvPr>
          <p:cNvSpPr>
            <a:spLocks noGrp="1"/>
          </p:cNvSpPr>
          <p:nvPr>
            <p:ph idx="1"/>
          </p:nvPr>
        </p:nvSpPr>
        <p:spPr>
          <a:xfrm>
            <a:off x="1207803" y="2081144"/>
            <a:ext cx="4079493" cy="3968800"/>
          </a:xfrm>
        </p:spPr>
        <p:txBody>
          <a:bodyPr>
            <a:normAutofit/>
          </a:bodyPr>
          <a:lstStyle/>
          <a:p>
            <a:pPr marL="344170" indent="-344170"/>
            <a:r>
              <a:rPr lang="en-US" sz="2400"/>
              <a:t>Stage : premiers tests </a:t>
            </a:r>
            <a:r>
              <a:rPr lang="en-US" sz="2400" err="1"/>
              <a:t>en</a:t>
            </a:r>
            <a:r>
              <a:rPr lang="en-US" sz="2400"/>
              <a:t> Selenium / Java</a:t>
            </a:r>
            <a:endParaRPr lang="en-US" sz="2400">
              <a:cs typeface="Arial"/>
            </a:endParaRPr>
          </a:p>
          <a:p>
            <a:pPr marL="344170" indent="-344170"/>
            <a:r>
              <a:rPr lang="en-US" sz="2400" err="1"/>
              <a:t>Fonctionnel</a:t>
            </a:r>
            <a:r>
              <a:rPr lang="en-US" sz="2400"/>
              <a:t>, </a:t>
            </a:r>
            <a:r>
              <a:rPr lang="en-US" sz="2400" err="1"/>
              <a:t>mais</a:t>
            </a:r>
            <a:r>
              <a:rPr lang="en-US" sz="2400"/>
              <a:t> </a:t>
            </a:r>
            <a:r>
              <a:rPr lang="en-US" sz="2400" err="1"/>
              <a:t>coûteux</a:t>
            </a:r>
            <a:r>
              <a:rPr lang="en-US" sz="2400"/>
              <a:t> à faire </a:t>
            </a:r>
            <a:r>
              <a:rPr lang="en-US" sz="2400" err="1"/>
              <a:t>évoluer</a:t>
            </a:r>
            <a:endParaRPr lang="en-US" sz="2400" err="1">
              <a:cs typeface="Arial"/>
            </a:endParaRPr>
          </a:p>
        </p:txBody>
      </p:sp>
      <p:pic>
        <p:nvPicPr>
          <p:cNvPr id="4" name="Picture 3" descr="image.png"/>
          <p:cNvPicPr>
            <a:picLocks noChangeAspect="1"/>
          </p:cNvPicPr>
          <p:nvPr/>
        </p:nvPicPr>
        <p:blipFill>
          <a:blip r:embed="rId6"/>
          <a:stretch>
            <a:fillRect/>
          </a:stretch>
        </p:blipFill>
        <p:spPr>
          <a:xfrm>
            <a:off x="5630309" y="678731"/>
            <a:ext cx="5616818" cy="5370570"/>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0" name="Rectangle 29">
            <a:extLst>
              <a:ext uri="{FF2B5EF4-FFF2-40B4-BE49-F238E27FC236}">
                <a16:creationId xmlns:a16="http://schemas.microsoft.com/office/drawing/2014/main" id="{06858379-D070-40E4-8A3D-F29E90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441355" y="6053328"/>
            <a:ext cx="2129108" cy="246221"/>
          </a:xfrm>
          <a:prstGeom prst="rect">
            <a:avLst/>
          </a:prstGeom>
          <a:noFill/>
        </p:spPr>
        <p:txBody>
          <a:bodyPr wrap="none">
            <a:spAutoFit/>
          </a:bodyPr>
          <a:lstStyle/>
          <a:p>
            <a:pPr algn="r">
              <a:spcAft>
                <a:spcPts val="600"/>
              </a:spcAft>
            </a:pPr>
            <a:r>
              <a:rPr lang="en-US" sz="1000" i="1">
                <a:solidFill>
                  <a:srgbClr val="93A79C"/>
                </a:solidFill>
              </a:rPr>
              <a:t>Ma premiere version, en Selenium</a:t>
            </a:r>
          </a:p>
        </p:txBody>
      </p:sp>
    </p:spTree>
    <p:extLst>
      <p:ext uri="{BB962C8B-B14F-4D97-AF65-F5344CB8AC3E}">
        <p14:creationId xmlns:p14="http://schemas.microsoft.com/office/powerpoint/2010/main" val="384118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D67C9-4015-0A7B-3A10-F2DF07295890}"/>
              </a:ext>
            </a:extLst>
          </p:cNvPr>
          <p:cNvSpPr>
            <a:spLocks noGrp="1"/>
          </p:cNvSpPr>
          <p:nvPr>
            <p:ph type="title"/>
          </p:nvPr>
        </p:nvSpPr>
        <p:spPr/>
        <p:txBody>
          <a:bodyPr/>
          <a:lstStyle/>
          <a:p>
            <a:r>
              <a:t>Le hackathon : repartir proprement</a:t>
            </a:r>
          </a:p>
        </p:txBody>
      </p:sp>
      <p:sp>
        <p:nvSpPr>
          <p:cNvPr id="3" name="Content Placeholder 2">
            <a:extLst>
              <a:ext uri="{FF2B5EF4-FFF2-40B4-BE49-F238E27FC236}">
                <a16:creationId xmlns:a16="http://schemas.microsoft.com/office/drawing/2014/main" id="{CB5DE5EF-C3C5-CF84-92B4-41664FCF6E8B}"/>
              </a:ext>
            </a:extLst>
          </p:cNvPr>
          <p:cNvSpPr>
            <a:spLocks noGrp="1"/>
          </p:cNvSpPr>
          <p:nvPr>
            <p:ph idx="1"/>
          </p:nvPr>
        </p:nvSpPr>
        <p:spPr>
          <a:xfrm>
            <a:off x="1435318" y="1710364"/>
            <a:ext cx="9541545" cy="1334588"/>
          </a:xfrm>
        </p:spPr>
        <p:txBody>
          <a:bodyPr wrap="square" anchor="t">
            <a:noAutofit/>
          </a:bodyPr>
          <a:lstStyle/>
          <a:p>
            <a:pPr marL="344170" indent="-344170"/>
            <a:r>
              <a:rPr sz="2400"/>
              <a:t>Un hackathon </a:t>
            </a:r>
            <a:r>
              <a:rPr sz="2400" err="1"/>
              <a:t>proposé</a:t>
            </a:r>
            <a:r>
              <a:rPr sz="2400"/>
              <a:t> par </a:t>
            </a:r>
            <a:r>
              <a:rPr sz="2400" err="1"/>
              <a:t>mon</a:t>
            </a:r>
            <a:r>
              <a:rPr sz="2400"/>
              <a:t> maître </a:t>
            </a:r>
            <a:r>
              <a:rPr sz="2400" err="1"/>
              <a:t>d'apprentissage</a:t>
            </a:r>
            <a:endParaRPr lang="en-US" sz="3200" err="1"/>
          </a:p>
          <a:p>
            <a:pPr marL="344170" indent="-344170"/>
            <a:r>
              <a:rPr sz="2400"/>
              <a:t>Une base saine </a:t>
            </a:r>
            <a:r>
              <a:rPr sz="2400" err="1"/>
              <a:t>plutôt</a:t>
            </a:r>
            <a:r>
              <a:rPr sz="2400"/>
              <a:t> </a:t>
            </a:r>
            <a:r>
              <a:rPr sz="2400" err="1"/>
              <a:t>qu'un</a:t>
            </a:r>
            <a:r>
              <a:rPr sz="2400"/>
              <a:t> </a:t>
            </a:r>
            <a:r>
              <a:rPr sz="2400" err="1"/>
              <a:t>rafistolage</a:t>
            </a:r>
            <a:endParaRPr sz="2400" err="1">
              <a:cs typeface="Arial"/>
            </a:endParaRPr>
          </a:p>
        </p:txBody>
      </p:sp>
      <p:pic>
        <p:nvPicPr>
          <p:cNvPr id="4" name="Picture 3" descr="stack_apres.png"/>
          <p:cNvPicPr>
            <a:picLocks noChangeAspect="1"/>
          </p:cNvPicPr>
          <p:nvPr/>
        </p:nvPicPr>
        <p:blipFill>
          <a:blip r:embed="rId3"/>
          <a:stretch>
            <a:fillRect/>
          </a:stretch>
        </p:blipFill>
        <p:spPr>
          <a:xfrm>
            <a:off x="1624003" y="3286321"/>
            <a:ext cx="9592345" cy="3453824"/>
          </a:xfrm>
          <a:prstGeom prst="rect">
            <a:avLst/>
          </a:prstGeom>
        </p:spPr>
      </p:pic>
    </p:spTree>
    <p:extLst>
      <p:ext uri="{BB962C8B-B14F-4D97-AF65-F5344CB8AC3E}">
        <p14:creationId xmlns:p14="http://schemas.microsoft.com/office/powerpoint/2010/main" val="4121147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BEDFD2F-1480-498D-9A62-BA55B14A3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2D381FB-9400-4C85-9074-8D2C4A88D8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048C39C2-D375-4197-8882-9EBD58C853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C306EEC9-6E83-4555-A9D3-7910ED27B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86F7B80-3B04-4C72-BA77-E34EF7FAC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1AC6C6-FE68-4B13-BFCF-D0E8B3D81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3C3A04-0C54-0293-E00A-164E0D729FD7}"/>
              </a:ext>
            </a:extLst>
          </p:cNvPr>
          <p:cNvSpPr>
            <a:spLocks noGrp="1"/>
          </p:cNvSpPr>
          <p:nvPr>
            <p:ph type="title"/>
          </p:nvPr>
        </p:nvSpPr>
        <p:spPr>
          <a:xfrm>
            <a:off x="1964445" y="808056"/>
            <a:ext cx="2668106" cy="1077229"/>
          </a:xfrm>
        </p:spPr>
        <p:txBody>
          <a:bodyPr>
            <a:normAutofit/>
          </a:bodyPr>
          <a:lstStyle/>
          <a:p>
            <a:pPr algn="l"/>
            <a:r>
              <a:rPr lang="en-US" sz="2200"/>
              <a:t>B.  L'exigence de qualité : écrire les tests en français</a:t>
            </a:r>
          </a:p>
        </p:txBody>
      </p:sp>
      <p:sp>
        <p:nvSpPr>
          <p:cNvPr id="3" name="Content Placeholder 2">
            <a:extLst>
              <a:ext uri="{FF2B5EF4-FFF2-40B4-BE49-F238E27FC236}">
                <a16:creationId xmlns:a16="http://schemas.microsoft.com/office/drawing/2014/main" id="{B65C9BB7-A709-880A-8098-93EB1B195940}"/>
              </a:ext>
            </a:extLst>
          </p:cNvPr>
          <p:cNvSpPr>
            <a:spLocks noGrp="1"/>
          </p:cNvSpPr>
          <p:nvPr>
            <p:ph idx="1"/>
          </p:nvPr>
        </p:nvSpPr>
        <p:spPr>
          <a:xfrm>
            <a:off x="1964444" y="2052116"/>
            <a:ext cx="2664217" cy="3997828"/>
          </a:xfrm>
        </p:spPr>
        <p:txBody>
          <a:bodyPr>
            <a:normAutofit/>
          </a:bodyPr>
          <a:lstStyle/>
          <a:p>
            <a:r>
              <a:rPr lang="en-US" sz="1600"/>
              <a:t>Le BDD : décrire le comportement attendu en langage naturel</a:t>
            </a:r>
          </a:p>
          <a:p>
            <a:r>
              <a:rPr lang="en-US" sz="1600"/>
              <a:t>Étant donné... Quand... Alors...</a:t>
            </a:r>
          </a:p>
          <a:p>
            <a:r>
              <a:rPr lang="en-US" sz="1600"/>
              <a:t>66 fichiers de scénarios, 5 parcours</a:t>
            </a:r>
          </a:p>
        </p:txBody>
      </p:sp>
      <p:sp>
        <p:nvSpPr>
          <p:cNvPr id="22" name="Rectangle 21">
            <a:extLst>
              <a:ext uri="{FF2B5EF4-FFF2-40B4-BE49-F238E27FC236}">
                <a16:creationId xmlns:a16="http://schemas.microsoft.com/office/drawing/2014/main" id="{7E2C0214-1438-4F5F-8BB7-847D7B2B3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151" y="0"/>
            <a:ext cx="595084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jpg"/>
          <p:cNvPicPr>
            <a:picLocks noChangeAspect="1"/>
          </p:cNvPicPr>
          <p:nvPr/>
        </p:nvPicPr>
        <p:blipFill>
          <a:blip r:embed="rId6"/>
          <a:stretch>
            <a:fillRect/>
          </a:stretch>
        </p:blipFill>
        <p:spPr>
          <a:xfrm>
            <a:off x="4790855" y="1569023"/>
            <a:ext cx="6980373" cy="4133070"/>
          </a:xfrm>
          <a:prstGeom prst="rect">
            <a:avLst/>
          </a:prstGeom>
          <a:ln w="12700">
            <a:noFill/>
          </a:ln>
        </p:spPr>
      </p:pic>
      <p:sp>
        <p:nvSpPr>
          <p:cNvPr id="24" name="Rectangle 23">
            <a:extLst>
              <a:ext uri="{FF2B5EF4-FFF2-40B4-BE49-F238E27FC236}">
                <a16:creationId xmlns:a16="http://schemas.microsoft.com/office/drawing/2014/main" id="{41CFFB3C-DBCC-498B-B635-CD1FA730D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6044" y="240175"/>
            <a:ext cx="5461080" cy="6371837"/>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B289EA-43E0-4FC3-A38C-8168D8F18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465126" y="6053328"/>
            <a:ext cx="3105337" cy="246221"/>
          </a:xfrm>
          <a:prstGeom prst="rect">
            <a:avLst/>
          </a:prstGeom>
          <a:noFill/>
        </p:spPr>
        <p:txBody>
          <a:bodyPr wrap="none">
            <a:spAutoFit/>
          </a:bodyPr>
          <a:lstStyle/>
          <a:p>
            <a:pPr algn="r">
              <a:spcAft>
                <a:spcPts val="600"/>
              </a:spcAft>
            </a:pPr>
            <a:r>
              <a:rPr sz="1000" i="1">
                <a:solidFill>
                  <a:srgbClr val="93A79C"/>
                </a:solidFill>
              </a:rPr>
              <a:t>Rapport Allure : les scenarios lus en langage metier</a:t>
            </a:r>
            <a:endParaRPr lang="en-US" sz="1000" i="1">
              <a:solidFill>
                <a:srgbClr val="93A79C"/>
              </a:solidFill>
            </a:endParaRPr>
          </a:p>
        </p:txBody>
      </p:sp>
    </p:spTree>
    <p:extLst>
      <p:ext uri="{BB962C8B-B14F-4D97-AF65-F5344CB8AC3E}">
        <p14:creationId xmlns:p14="http://schemas.microsoft.com/office/powerpoint/2010/main" val="997914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B0F3308-12C4-4DD7-ABB4-D0DFAA3C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24046D-AAB6-4470-AC22-6448D576E5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6" name="Picture 25">
            <a:extLst>
              <a:ext uri="{FF2B5EF4-FFF2-40B4-BE49-F238E27FC236}">
                <a16:creationId xmlns:a16="http://schemas.microsoft.com/office/drawing/2014/main" id="{211A0A85-392D-49DA-B9EC-82262B3B96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7" name="Rectangle 26">
            <a:extLst>
              <a:ext uri="{FF2B5EF4-FFF2-40B4-BE49-F238E27FC236}">
                <a16:creationId xmlns:a16="http://schemas.microsoft.com/office/drawing/2014/main" id="{73AFD74C-283C-45BD-885B-6E6635E4B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E3DE725-FEB0-422F-BDBA-A29C95768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5058156-257B-4118-BA50-5869C8AF6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874A3C-7039-DD12-7043-505858E3DE3D}"/>
              </a:ext>
            </a:extLst>
          </p:cNvPr>
          <p:cNvSpPr>
            <a:spLocks noGrp="1"/>
          </p:cNvSpPr>
          <p:nvPr>
            <p:ph type="title"/>
          </p:nvPr>
        </p:nvSpPr>
        <p:spPr>
          <a:xfrm>
            <a:off x="1969803" y="808056"/>
            <a:ext cx="8608037" cy="1077229"/>
          </a:xfrm>
        </p:spPr>
        <p:txBody>
          <a:bodyPr>
            <a:normAutofit/>
          </a:bodyPr>
          <a:lstStyle/>
          <a:p>
            <a:pPr algn="l"/>
            <a:r>
              <a:rPr lang="en-US"/>
              <a:t>Un rapport qui se lit et </a:t>
            </a:r>
            <a:r>
              <a:rPr lang="en-US" err="1"/>
              <a:t>s'interprête</a:t>
            </a:r>
            <a:endParaRPr lang="en-US" err="1">
              <a:cs typeface="Arial"/>
            </a:endParaRPr>
          </a:p>
        </p:txBody>
      </p:sp>
      <p:sp>
        <p:nvSpPr>
          <p:cNvPr id="3" name="Content Placeholder 2">
            <a:extLst>
              <a:ext uri="{FF2B5EF4-FFF2-40B4-BE49-F238E27FC236}">
                <a16:creationId xmlns:a16="http://schemas.microsoft.com/office/drawing/2014/main" id="{0E57308B-B596-E614-5B7F-D6B771F476FB}"/>
              </a:ext>
            </a:extLst>
          </p:cNvPr>
          <p:cNvSpPr>
            <a:spLocks noGrp="1"/>
          </p:cNvSpPr>
          <p:nvPr>
            <p:ph idx="1"/>
          </p:nvPr>
        </p:nvSpPr>
        <p:spPr>
          <a:xfrm>
            <a:off x="1242834" y="2095658"/>
            <a:ext cx="2600820" cy="3954286"/>
          </a:xfrm>
        </p:spPr>
        <p:txBody>
          <a:bodyPr>
            <a:normAutofit/>
          </a:bodyPr>
          <a:lstStyle/>
          <a:p>
            <a:pPr marL="344170" indent="-344170"/>
            <a:r>
              <a:rPr lang="en-US" sz="1600"/>
              <a:t>Allure : un rapport consultable et catégorisé</a:t>
            </a:r>
            <a:endParaRPr lang="en-US"/>
          </a:p>
          <a:p>
            <a:pPr marL="344170" indent="-344170"/>
            <a:r>
              <a:rPr lang="en-US" sz="1600"/>
              <a:t>Chaque scénario enregistré en vidéo</a:t>
            </a:r>
            <a:endParaRPr lang="en-US" sz="1600">
              <a:cs typeface="Arial" panose="020B0604020202020204"/>
            </a:endParaRPr>
          </a:p>
        </p:txBody>
      </p:sp>
      <p:pic>
        <p:nvPicPr>
          <p:cNvPr id="4" name="Picture 3" descr="image.jpg"/>
          <p:cNvPicPr>
            <a:picLocks noChangeAspect="1"/>
          </p:cNvPicPr>
          <p:nvPr/>
        </p:nvPicPr>
        <p:blipFill>
          <a:blip r:embed="rId6"/>
          <a:stretch>
            <a:fillRect/>
          </a:stretch>
        </p:blipFill>
        <p:spPr>
          <a:xfrm>
            <a:off x="4293621" y="1658067"/>
            <a:ext cx="7126745" cy="482746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0" name="Rectangle 29">
            <a:extLst>
              <a:ext uri="{FF2B5EF4-FFF2-40B4-BE49-F238E27FC236}">
                <a16:creationId xmlns:a16="http://schemas.microsoft.com/office/drawing/2014/main" id="{D23B4D99-FEA8-489A-8436-A2F113BE1B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081198" y="6488757"/>
            <a:ext cx="2975494" cy="246221"/>
          </a:xfrm>
          <a:prstGeom prst="rect">
            <a:avLst/>
          </a:prstGeom>
          <a:noFill/>
        </p:spPr>
        <p:txBody>
          <a:bodyPr wrap="none">
            <a:spAutoFit/>
          </a:bodyPr>
          <a:lstStyle/>
          <a:p>
            <a:pPr algn="r">
              <a:spcAft>
                <a:spcPts val="600"/>
              </a:spcAft>
            </a:pPr>
            <a:r>
              <a:rPr lang="en-US" sz="1000" i="1">
                <a:solidFill>
                  <a:srgbClr val="93A79C"/>
                </a:solidFill>
              </a:rPr>
              <a:t>TAP - Test Automation Panel, execution en direct</a:t>
            </a:r>
          </a:p>
        </p:txBody>
      </p:sp>
    </p:spTree>
    <p:extLst>
      <p:ext uri="{BB962C8B-B14F-4D97-AF65-F5344CB8AC3E}">
        <p14:creationId xmlns:p14="http://schemas.microsoft.com/office/powerpoint/2010/main" val="2938773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29AAE-CBE2-13E2-EE7D-5A43E09407FA}"/>
              </a:ext>
            </a:extLst>
          </p:cNvPr>
          <p:cNvSpPr>
            <a:spLocks noGrp="1"/>
          </p:cNvSpPr>
          <p:nvPr>
            <p:ph type="title"/>
          </p:nvPr>
        </p:nvSpPr>
        <p:spPr/>
        <p:txBody>
          <a:bodyPr/>
          <a:lstStyle/>
          <a:p>
            <a:r>
              <a:t>La chaîne d'intégration continue</a:t>
            </a:r>
          </a:p>
        </p:txBody>
      </p:sp>
      <p:sp>
        <p:nvSpPr>
          <p:cNvPr id="3" name="Content Placeholder 2">
            <a:extLst>
              <a:ext uri="{FF2B5EF4-FFF2-40B4-BE49-F238E27FC236}">
                <a16:creationId xmlns:a16="http://schemas.microsoft.com/office/drawing/2014/main" id="{6F53B5C0-56E3-7895-6E5E-003F6B3479A5}"/>
              </a:ext>
            </a:extLst>
          </p:cNvPr>
          <p:cNvSpPr>
            <a:spLocks noGrp="1"/>
          </p:cNvSpPr>
          <p:nvPr>
            <p:ph idx="1"/>
          </p:nvPr>
        </p:nvSpPr>
        <p:spPr>
          <a:xfrm>
            <a:off x="2770632" y="1993392"/>
            <a:ext cx="7799831" cy="1051560"/>
          </a:xfrm>
        </p:spPr>
        <p:txBody>
          <a:bodyPr wrap="square" anchor="t">
            <a:noAutofit/>
          </a:bodyPr>
          <a:lstStyle/>
          <a:p>
            <a:r>
              <a:rPr sz="1600"/>
              <a:t>Chaque modification déclenche la chaîne complète</a:t>
            </a:r>
          </a:p>
        </p:txBody>
      </p:sp>
      <p:pic>
        <p:nvPicPr>
          <p:cNvPr id="4" name="Picture 3" descr="cicd_chaine.png"/>
          <p:cNvPicPr>
            <a:picLocks noChangeAspect="1"/>
          </p:cNvPicPr>
          <p:nvPr/>
        </p:nvPicPr>
        <p:blipFill>
          <a:blip r:embed="rId3"/>
          <a:stretch>
            <a:fillRect/>
          </a:stretch>
        </p:blipFill>
        <p:spPr>
          <a:xfrm>
            <a:off x="789432" y="3043175"/>
            <a:ext cx="10956687" cy="3511945"/>
          </a:xfrm>
          <a:prstGeom prst="rect">
            <a:avLst/>
          </a:prstGeom>
        </p:spPr>
      </p:pic>
    </p:spTree>
    <p:extLst>
      <p:ext uri="{BB962C8B-B14F-4D97-AF65-F5344CB8AC3E}">
        <p14:creationId xmlns:p14="http://schemas.microsoft.com/office/powerpoint/2010/main" val="3668768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6AFA90-1DF2-427D-B002-A09D93A15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05602A8-6E8C-46E5-8FDD-2BC227550E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a:extLst>
              <a:ext uri="{FF2B5EF4-FFF2-40B4-BE49-F238E27FC236}">
                <a16:creationId xmlns:a16="http://schemas.microsoft.com/office/drawing/2014/main" id="{BB2E129B-3512-41A6-94F1-4B4FEA8178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7" name="Rectangle 16">
            <a:extLst>
              <a:ext uri="{FF2B5EF4-FFF2-40B4-BE49-F238E27FC236}">
                <a16:creationId xmlns:a16="http://schemas.microsoft.com/office/drawing/2014/main" id="{891C00A1-D917-4D03-B713-9881557CE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BA3F0C2-72FC-4945-8B22-3BE47B397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410D66C-3847-4B32-B505-01B23358B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F2115A-0DB8-1C83-E9CA-A7A9E687A91C}"/>
              </a:ext>
            </a:extLst>
          </p:cNvPr>
          <p:cNvSpPr>
            <a:spLocks noGrp="1"/>
          </p:cNvSpPr>
          <p:nvPr>
            <p:ph type="title"/>
          </p:nvPr>
        </p:nvSpPr>
        <p:spPr>
          <a:xfrm>
            <a:off x="1964445" y="808056"/>
            <a:ext cx="2668106" cy="1077229"/>
          </a:xfrm>
        </p:spPr>
        <p:txBody>
          <a:bodyPr>
            <a:normAutofit/>
          </a:bodyPr>
          <a:lstStyle/>
          <a:p>
            <a:pPr algn="l"/>
            <a:r>
              <a:rPr lang="fr-FR" sz="2400"/>
              <a:t>Ce que les tests attrapent vraiment</a:t>
            </a:r>
          </a:p>
        </p:txBody>
      </p:sp>
      <p:sp>
        <p:nvSpPr>
          <p:cNvPr id="3" name="Content Placeholder 2">
            <a:extLst>
              <a:ext uri="{FF2B5EF4-FFF2-40B4-BE49-F238E27FC236}">
                <a16:creationId xmlns:a16="http://schemas.microsoft.com/office/drawing/2014/main" id="{1EDC7B55-4D93-7E42-7DCE-F3FBD10668F2}"/>
              </a:ext>
            </a:extLst>
          </p:cNvPr>
          <p:cNvSpPr>
            <a:spLocks noGrp="1"/>
          </p:cNvSpPr>
          <p:nvPr>
            <p:ph idx="1"/>
          </p:nvPr>
        </p:nvSpPr>
        <p:spPr>
          <a:xfrm>
            <a:off x="1964444" y="2052116"/>
            <a:ext cx="2664217" cy="3997828"/>
          </a:xfrm>
        </p:spPr>
        <p:txBody>
          <a:bodyPr>
            <a:normAutofit/>
          </a:bodyPr>
          <a:lstStyle/>
          <a:p>
            <a:pPr marL="344170" indent="-344170"/>
            <a:r>
              <a:rPr lang="fr-FR"/>
              <a:t>Chargements qui ne finissent jamais</a:t>
            </a:r>
            <a:endParaRPr lang="fr-FR">
              <a:cs typeface="Arial"/>
            </a:endParaRPr>
          </a:p>
          <a:p>
            <a:r>
              <a:rPr lang="fr-FR"/>
              <a:t>Boutons inaccessibles</a:t>
            </a:r>
          </a:p>
          <a:p>
            <a:r>
              <a:rPr lang="fr-FR"/>
              <a:t>Champs bloquants non signalés</a:t>
            </a:r>
          </a:p>
        </p:txBody>
      </p:sp>
      <p:sp>
        <p:nvSpPr>
          <p:cNvPr id="23" name="Rectangle 22">
            <a:extLst>
              <a:ext uri="{FF2B5EF4-FFF2-40B4-BE49-F238E27FC236}">
                <a16:creationId xmlns:a16="http://schemas.microsoft.com/office/drawing/2014/main" id="{C43DB4DB-4F6A-4E8D-B9A3-74E5A8453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4647" y="0"/>
            <a:ext cx="5943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mage.png"/>
          <p:cNvPicPr>
            <a:picLocks noChangeAspect="1"/>
          </p:cNvPicPr>
          <p:nvPr/>
        </p:nvPicPr>
        <p:blipFill>
          <a:blip r:embed="rId6"/>
          <a:stretch>
            <a:fillRect/>
          </a:stretch>
        </p:blipFill>
        <p:spPr>
          <a:xfrm>
            <a:off x="6049258" y="316486"/>
            <a:ext cx="4722637" cy="2951648"/>
          </a:xfrm>
          <a:prstGeom prst="rect">
            <a:avLst/>
          </a:prstGeom>
          <a:ln w="12700">
            <a:noFill/>
          </a:ln>
        </p:spPr>
      </p:pic>
      <p:sp>
        <p:nvSpPr>
          <p:cNvPr id="25" name="Rectangle 24">
            <a:extLst>
              <a:ext uri="{FF2B5EF4-FFF2-40B4-BE49-F238E27FC236}">
                <a16:creationId xmlns:a16="http://schemas.microsoft.com/office/drawing/2014/main" id="{431FCBDC-FCD6-46FA-989A-9B7496896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2490" y="232459"/>
            <a:ext cx="5446447" cy="3114340"/>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png"/>
          <p:cNvPicPr>
            <a:picLocks noChangeAspect="1"/>
          </p:cNvPicPr>
          <p:nvPr/>
        </p:nvPicPr>
        <p:blipFill>
          <a:blip r:embed="rId7"/>
          <a:stretch>
            <a:fillRect/>
          </a:stretch>
        </p:blipFill>
        <p:spPr>
          <a:xfrm>
            <a:off x="5757967" y="3618162"/>
            <a:ext cx="5305219" cy="2878080"/>
          </a:xfrm>
          <a:prstGeom prst="rect">
            <a:avLst/>
          </a:prstGeom>
          <a:ln w="12700">
            <a:noFill/>
          </a:ln>
        </p:spPr>
      </p:pic>
      <p:sp>
        <p:nvSpPr>
          <p:cNvPr id="27" name="Rectangle 26">
            <a:extLst>
              <a:ext uri="{FF2B5EF4-FFF2-40B4-BE49-F238E27FC236}">
                <a16:creationId xmlns:a16="http://schemas.microsoft.com/office/drawing/2014/main" id="{C66EB2AB-6794-4C3C-A92D-4876AB0BE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2490" y="3500835"/>
            <a:ext cx="5446447" cy="3114340"/>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34BD4E6-C736-4064-AF1F-3C5B402E1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8309909" y="6053328"/>
            <a:ext cx="2260554" cy="246221"/>
          </a:xfrm>
          <a:prstGeom prst="rect">
            <a:avLst/>
          </a:prstGeom>
          <a:noFill/>
        </p:spPr>
        <p:txBody>
          <a:bodyPr wrap="none">
            <a:spAutoFit/>
          </a:bodyPr>
          <a:lstStyle/>
          <a:p>
            <a:pPr algn="r">
              <a:spcAft>
                <a:spcPts val="600"/>
              </a:spcAft>
            </a:pPr>
            <a:r>
              <a:rPr sz="1000" i="1">
                <a:solidFill>
                  <a:srgbClr val="93A79C"/>
                </a:solidFill>
              </a:rPr>
              <a:t>Deux bugs reels attrapes par la suite</a:t>
            </a:r>
            <a:endParaRPr lang="fr-FR" sz="1000" i="1">
              <a:solidFill>
                <a:srgbClr val="93A79C"/>
              </a:solidFill>
            </a:endParaRPr>
          </a:p>
        </p:txBody>
      </p:sp>
    </p:spTree>
    <p:extLst>
      <p:ext uri="{BB962C8B-B14F-4D97-AF65-F5344CB8AC3E}">
        <p14:creationId xmlns:p14="http://schemas.microsoft.com/office/powerpoint/2010/main" val="1805701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BEDFD2F-1480-498D-9A62-BA55B14A3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10">
            <a:extLst>
              <a:ext uri="{FF2B5EF4-FFF2-40B4-BE49-F238E27FC236}">
                <a16:creationId xmlns:a16="http://schemas.microsoft.com/office/drawing/2014/main" id="{52D381FB-9400-4C85-9074-8D2C4A88D8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3" name="Picture 12">
            <a:extLst>
              <a:ext uri="{FF2B5EF4-FFF2-40B4-BE49-F238E27FC236}">
                <a16:creationId xmlns:a16="http://schemas.microsoft.com/office/drawing/2014/main" id="{048C39C2-D375-4197-8882-9EBD58C853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4" name="Rectangle 33">
            <a:extLst>
              <a:ext uri="{FF2B5EF4-FFF2-40B4-BE49-F238E27FC236}">
                <a16:creationId xmlns:a16="http://schemas.microsoft.com/office/drawing/2014/main" id="{C306EEC9-6E83-4555-A9D3-7910ED27B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86F7B80-3B04-4C72-BA77-E34EF7FAC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D1AC6C6-FE68-4B13-BFCF-D0E8B3D81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026FF2-635E-B0DF-F9CC-F2BCB692B9CD}"/>
              </a:ext>
            </a:extLst>
          </p:cNvPr>
          <p:cNvSpPr>
            <a:spLocks noGrp="1"/>
          </p:cNvSpPr>
          <p:nvPr>
            <p:ph type="title"/>
          </p:nvPr>
        </p:nvSpPr>
        <p:spPr>
          <a:xfrm>
            <a:off x="1964445" y="808056"/>
            <a:ext cx="2668106" cy="1077229"/>
          </a:xfrm>
        </p:spPr>
        <p:txBody>
          <a:bodyPr>
            <a:normAutofit/>
          </a:bodyPr>
          <a:lstStyle/>
          <a:p>
            <a:pPr algn="l"/>
            <a:r>
              <a:rPr lang="fr-FR" sz="2200"/>
              <a:t>Les faux positifs : la rigueur d'un outil</a:t>
            </a:r>
          </a:p>
        </p:txBody>
      </p:sp>
      <p:sp>
        <p:nvSpPr>
          <p:cNvPr id="3" name="Content Placeholder 2">
            <a:extLst>
              <a:ext uri="{FF2B5EF4-FFF2-40B4-BE49-F238E27FC236}">
                <a16:creationId xmlns:a16="http://schemas.microsoft.com/office/drawing/2014/main" id="{EB9BBF8F-C137-21D2-38BA-066C0BA87A7B}"/>
              </a:ext>
            </a:extLst>
          </p:cNvPr>
          <p:cNvSpPr>
            <a:spLocks noGrp="1"/>
          </p:cNvSpPr>
          <p:nvPr>
            <p:ph idx="1"/>
          </p:nvPr>
        </p:nvSpPr>
        <p:spPr>
          <a:xfrm>
            <a:off x="1964444" y="2052116"/>
            <a:ext cx="2664217" cy="3997828"/>
          </a:xfrm>
        </p:spPr>
        <p:txBody>
          <a:bodyPr>
            <a:normAutofit/>
          </a:bodyPr>
          <a:lstStyle/>
          <a:p>
            <a:pPr marL="344170" indent="-344170"/>
            <a:r>
              <a:rPr lang="fr-FR" sz="1600"/>
              <a:t>L'environnement de test n'est pas l'environnement réel</a:t>
            </a:r>
          </a:p>
          <a:p>
            <a:r>
              <a:rPr lang="fr-FR" sz="1600"/>
              <a:t>Règle : les tests doivent avoir le champ libre</a:t>
            </a:r>
          </a:p>
        </p:txBody>
      </p:sp>
      <p:sp>
        <p:nvSpPr>
          <p:cNvPr id="37" name="Rectangle 36">
            <a:extLst>
              <a:ext uri="{FF2B5EF4-FFF2-40B4-BE49-F238E27FC236}">
                <a16:creationId xmlns:a16="http://schemas.microsoft.com/office/drawing/2014/main" id="{7E2C0214-1438-4F5F-8BB7-847D7B2B3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151" y="0"/>
            <a:ext cx="595084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jpg"/>
          <p:cNvPicPr>
            <a:picLocks noChangeAspect="1"/>
          </p:cNvPicPr>
          <p:nvPr/>
        </p:nvPicPr>
        <p:blipFill>
          <a:blip r:embed="rId6"/>
          <a:stretch>
            <a:fillRect/>
          </a:stretch>
        </p:blipFill>
        <p:spPr>
          <a:xfrm>
            <a:off x="4486053" y="1712643"/>
            <a:ext cx="7408546" cy="4186916"/>
          </a:xfrm>
          <a:prstGeom prst="rect">
            <a:avLst/>
          </a:prstGeom>
          <a:ln w="12700">
            <a:noFill/>
          </a:ln>
        </p:spPr>
      </p:pic>
      <p:sp>
        <p:nvSpPr>
          <p:cNvPr id="38" name="Rectangle 37">
            <a:extLst>
              <a:ext uri="{FF2B5EF4-FFF2-40B4-BE49-F238E27FC236}">
                <a16:creationId xmlns:a16="http://schemas.microsoft.com/office/drawing/2014/main" id="{41CFFB3C-DBCC-498B-B635-CD1FA730D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6044" y="240175"/>
            <a:ext cx="5461080" cy="6371837"/>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BB289EA-43E0-4FC3-A38C-8168D8F18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2015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 principe, pas une exception</a:t>
            </a:r>
          </a:p>
        </p:txBody>
      </p:sp>
      <p:graphicFrame>
        <p:nvGraphicFramePr>
          <p:cNvPr id="5" name="Content Placeholder 2">
            <a:extLst>
              <a:ext uri="{FF2B5EF4-FFF2-40B4-BE49-F238E27FC236}">
                <a16:creationId xmlns:a16="http://schemas.microsoft.com/office/drawing/2014/main" id="{2503120B-FF74-5EAA-5DA2-6FDD3661FB74}"/>
              </a:ext>
            </a:extLst>
          </p:cNvPr>
          <p:cNvGraphicFramePr>
            <a:graphicFrameLocks noGrp="1"/>
          </p:cNvGraphicFramePr>
          <p:nvPr>
            <p:ph idx="1"/>
          </p:nvPr>
        </p:nvGraphicFramePr>
        <p:xfrm>
          <a:off x="2770632" y="2011680"/>
          <a:ext cx="7799831" cy="3931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E0218-DF3F-D01A-D7D6-37EC04C83044}"/>
              </a:ext>
            </a:extLst>
          </p:cNvPr>
          <p:cNvSpPr>
            <a:spLocks noGrp="1"/>
          </p:cNvSpPr>
          <p:nvPr>
            <p:ph type="title"/>
          </p:nvPr>
        </p:nvSpPr>
        <p:spPr/>
        <p:txBody>
          <a:bodyPr/>
          <a:lstStyle/>
          <a:p>
            <a:r>
              <a:t>II.  La dimension humaine</a:t>
            </a:r>
          </a:p>
        </p:txBody>
      </p:sp>
      <p:sp>
        <p:nvSpPr>
          <p:cNvPr id="3" name="Content Placeholder 2">
            <a:extLst>
              <a:ext uri="{FF2B5EF4-FFF2-40B4-BE49-F238E27FC236}">
                <a16:creationId xmlns:a16="http://schemas.microsoft.com/office/drawing/2014/main" id="{35788447-B777-D329-FE95-A6B00455ABF0}"/>
              </a:ext>
            </a:extLst>
          </p:cNvPr>
          <p:cNvSpPr>
            <a:spLocks noGrp="1"/>
          </p:cNvSpPr>
          <p:nvPr>
            <p:ph idx="1"/>
          </p:nvPr>
        </p:nvSpPr>
        <p:spPr>
          <a:xfrm>
            <a:off x="2770632" y="2011680"/>
            <a:ext cx="7799831" cy="3931920"/>
          </a:xfrm>
        </p:spPr>
        <p:txBody>
          <a:bodyPr wrap="square" anchor="t">
            <a:noAutofit/>
          </a:bodyPr>
          <a:lstStyle/>
          <a:p>
            <a:endParaRPr/>
          </a:p>
        </p:txBody>
      </p:sp>
      <p:pic>
        <p:nvPicPr>
          <p:cNvPr id="4" name="Picture 3" descr="equipe1.jpg"/>
          <p:cNvPicPr>
            <a:picLocks noChangeAspect="1"/>
          </p:cNvPicPr>
          <p:nvPr/>
        </p:nvPicPr>
        <p:blipFill>
          <a:blip r:embed="rId3"/>
          <a:stretch>
            <a:fillRect/>
          </a:stretch>
        </p:blipFill>
        <p:spPr>
          <a:xfrm>
            <a:off x="2267047" y="1387567"/>
            <a:ext cx="7253972" cy="4812210"/>
          </a:xfrm>
          <a:prstGeom prst="rect">
            <a:avLst/>
          </a:prstGeom>
        </p:spPr>
      </p:pic>
      <p:sp>
        <p:nvSpPr>
          <p:cNvPr id="5" name="TextBox 4"/>
          <p:cNvSpPr txBox="1"/>
          <p:nvPr/>
        </p:nvSpPr>
        <p:spPr>
          <a:xfrm>
            <a:off x="2770632" y="6053328"/>
            <a:ext cx="7799831" cy="292608"/>
          </a:xfrm>
          <a:prstGeom prst="rect">
            <a:avLst/>
          </a:prstGeom>
          <a:noFill/>
        </p:spPr>
        <p:txBody>
          <a:bodyPr wrap="none">
            <a:spAutoFit/>
          </a:bodyPr>
          <a:lstStyle/>
          <a:p>
            <a:pPr algn="r"/>
            <a:r>
              <a:rPr sz="1000" i="1">
                <a:solidFill>
                  <a:srgbClr val="93A79C"/>
                </a:solidFill>
              </a:rPr>
              <a:t>Photo d'illustration : Unsplash, licence libre</a:t>
            </a:r>
          </a:p>
        </p:txBody>
      </p:sp>
    </p:spTree>
    <p:extLst>
      <p:ext uri="{BB962C8B-B14F-4D97-AF65-F5344CB8AC3E}">
        <p14:creationId xmlns:p14="http://schemas.microsoft.com/office/powerpoint/2010/main" val="1775525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1" name="TextBox 20">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95DA24-607B-AD97-C904-A25FB0F457A3}"/>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2600"/>
              <a:t>A.  Analyse du besoin : des besoins qui se contredisent</a:t>
            </a:r>
          </a:p>
        </p:txBody>
      </p:sp>
      <p:sp>
        <p:nvSpPr>
          <p:cNvPr id="33" name="Rectangle 32">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besoins_contradictoires.png"/>
          <p:cNvPicPr>
            <a:picLocks noGrp="1" noChangeAspect="1"/>
          </p:cNvPicPr>
          <p:nvPr>
            <p:ph idx="1"/>
          </p:nvPr>
        </p:nvPicPr>
        <p:blipFill>
          <a:blip r:embed="rId6"/>
          <a:srcRect t="3047" r="-1" b="8700"/>
          <a:stretch>
            <a:fillRect/>
          </a:stretch>
        </p:blipFill>
        <p:spPr>
          <a:xfrm>
            <a:off x="1005401" y="-1"/>
            <a:ext cx="10380133" cy="4030679"/>
          </a:xfrm>
          <a:prstGeom prst="rect">
            <a:avLst/>
          </a:prstGeom>
          <a:ln>
            <a:solidFill>
              <a:schemeClr val="accent6"/>
            </a:solidFill>
          </a:ln>
        </p:spPr>
      </p:pic>
      <p:sp>
        <p:nvSpPr>
          <p:cNvPr id="35" name="Rectangle 34">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8535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1" name="TextBox 20">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6BEB9-78C2-DD19-0494-4054D6CD2C01}"/>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4100"/>
              <a:t>Du besoin exprimé au besoin réel</a:t>
            </a:r>
          </a:p>
        </p:txBody>
      </p:sp>
      <p:sp>
        <p:nvSpPr>
          <p:cNvPr id="33" name="Rectangle 32">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vrai_besoin.png"/>
          <p:cNvPicPr>
            <a:picLocks noGrp="1" noChangeAspect="1"/>
          </p:cNvPicPr>
          <p:nvPr>
            <p:ph idx="1"/>
          </p:nvPr>
        </p:nvPicPr>
        <p:blipFill>
          <a:blip r:embed="rId6"/>
          <a:srcRect r="-1" b="7545"/>
          <a:stretch>
            <a:fillRect/>
          </a:stretch>
        </p:blipFill>
        <p:spPr>
          <a:xfrm>
            <a:off x="1005401" y="-1"/>
            <a:ext cx="10380133" cy="4030679"/>
          </a:xfrm>
          <a:prstGeom prst="rect">
            <a:avLst/>
          </a:prstGeom>
          <a:ln>
            <a:solidFill>
              <a:schemeClr val="accent6"/>
            </a:solidFill>
          </a:ln>
        </p:spPr>
      </p:pic>
      <p:sp>
        <p:nvSpPr>
          <p:cNvPr id="35" name="Rectangle 34">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8109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1" name="TextBox 20">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BE0837-8452-ABB0-8B52-314A1301E6E2}"/>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3000"/>
              <a:t>B.  Gestion de projet : du séquentiel à l'itératif</a:t>
            </a:r>
          </a:p>
        </p:txBody>
      </p:sp>
      <p:sp>
        <p:nvSpPr>
          <p:cNvPr id="33" name="Rectangle 32">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waterfall_scrum.png"/>
          <p:cNvPicPr>
            <a:picLocks noGrp="1" noChangeAspect="1"/>
          </p:cNvPicPr>
          <p:nvPr>
            <p:ph idx="1"/>
          </p:nvPr>
        </p:nvPicPr>
        <p:blipFill>
          <a:blip r:embed="rId6"/>
          <a:srcRect t="8260" r="-1" b="7324"/>
          <a:stretch>
            <a:fillRect/>
          </a:stretch>
        </p:blipFill>
        <p:spPr>
          <a:xfrm>
            <a:off x="1005401" y="-1"/>
            <a:ext cx="10380133" cy="4030679"/>
          </a:xfrm>
          <a:prstGeom prst="rect">
            <a:avLst/>
          </a:prstGeom>
          <a:ln>
            <a:solidFill>
              <a:schemeClr val="accent6"/>
            </a:solidFill>
          </a:ln>
        </p:spPr>
      </p:pic>
      <p:sp>
        <p:nvSpPr>
          <p:cNvPr id="35" name="Rectangle 34">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865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1" name="TextBox 20">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E109CE-D30E-F095-76AE-F921644D9FCA}"/>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3700"/>
              <a:t>Parler d'architecture à chaque niveau</a:t>
            </a:r>
          </a:p>
        </p:txBody>
      </p:sp>
      <p:sp>
        <p:nvSpPr>
          <p:cNvPr id="33" name="Rectangle 32">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c4_model.png"/>
          <p:cNvPicPr>
            <a:picLocks noGrp="1" noChangeAspect="1"/>
          </p:cNvPicPr>
          <p:nvPr>
            <p:ph idx="1"/>
          </p:nvPr>
        </p:nvPicPr>
        <p:blipFill>
          <a:blip r:embed="rId6"/>
          <a:srcRect t="2939" r="-1" b="8809"/>
          <a:stretch>
            <a:fillRect/>
          </a:stretch>
        </p:blipFill>
        <p:spPr>
          <a:xfrm>
            <a:off x="1005401" y="-1"/>
            <a:ext cx="10380133" cy="4030679"/>
          </a:xfrm>
          <a:prstGeom prst="rect">
            <a:avLst/>
          </a:prstGeom>
          <a:ln>
            <a:solidFill>
              <a:schemeClr val="accent6"/>
            </a:solidFill>
          </a:ln>
        </p:spPr>
      </p:pic>
      <p:sp>
        <p:nvSpPr>
          <p:cNvPr id="35" name="Rectangle 34">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0020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6E0D-0BB8-1144-B1F1-9E78E4849FE5}"/>
              </a:ext>
            </a:extLst>
          </p:cNvPr>
          <p:cNvSpPr>
            <a:spLocks noGrp="1"/>
          </p:cNvSpPr>
          <p:nvPr>
            <p:ph type="title"/>
          </p:nvPr>
        </p:nvSpPr>
        <p:spPr/>
        <p:txBody>
          <a:bodyPr/>
          <a:lstStyle/>
          <a:p>
            <a:r>
              <a:t>C.  Projet d'interconnexion : ce qui nous relie</a:t>
            </a:r>
          </a:p>
        </p:txBody>
      </p:sp>
      <p:sp>
        <p:nvSpPr>
          <p:cNvPr id="3" name="Content Placeholder 2">
            <a:extLst>
              <a:ext uri="{FF2B5EF4-FFF2-40B4-BE49-F238E27FC236}">
                <a16:creationId xmlns:a16="http://schemas.microsoft.com/office/drawing/2014/main" id="{7E44F51A-9B12-BCD5-40B3-050282E0B6FE}"/>
              </a:ext>
            </a:extLst>
          </p:cNvPr>
          <p:cNvSpPr>
            <a:spLocks noGrp="1"/>
          </p:cNvSpPr>
          <p:nvPr>
            <p:ph idx="1"/>
          </p:nvPr>
        </p:nvSpPr>
        <p:spPr>
          <a:xfrm>
            <a:off x="2770632" y="2011680"/>
            <a:ext cx="7799831" cy="3931920"/>
          </a:xfrm>
        </p:spPr>
        <p:txBody>
          <a:bodyPr wrap="square" anchor="t">
            <a:noAutofit/>
          </a:bodyPr>
          <a:lstStyle/>
          <a:p>
            <a:pPr marL="0" indent="0">
              <a:buNone/>
            </a:pPr>
            <a:endParaRPr/>
          </a:p>
        </p:txBody>
      </p:sp>
      <p:pic>
        <p:nvPicPr>
          <p:cNvPr id="4" name="Picture 3" descr="outils_interconnexion.png"/>
          <p:cNvPicPr>
            <a:picLocks noChangeAspect="1"/>
          </p:cNvPicPr>
          <p:nvPr/>
        </p:nvPicPr>
        <p:blipFill>
          <a:blip r:embed="rId3"/>
          <a:stretch>
            <a:fillRect/>
          </a:stretch>
        </p:blipFill>
        <p:spPr>
          <a:xfrm>
            <a:off x="542689" y="2966580"/>
            <a:ext cx="11101831" cy="3105609"/>
          </a:xfrm>
          <a:prstGeom prst="rect">
            <a:avLst/>
          </a:prstGeom>
        </p:spPr>
      </p:pic>
    </p:spTree>
    <p:extLst>
      <p:ext uri="{BB962C8B-B14F-4D97-AF65-F5344CB8AC3E}">
        <p14:creationId xmlns:p14="http://schemas.microsoft.com/office/powerpoint/2010/main" val="1873216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FAD17B9-9E6C-4DD1-9728-97B5E5FC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quipe2.jpg"/>
          <p:cNvPicPr>
            <a:picLocks noChangeAspect="1"/>
          </p:cNvPicPr>
          <p:nvPr/>
        </p:nvPicPr>
        <p:blipFill>
          <a:blip r:embed="rId3">
            <a:duotone>
              <a:schemeClr val="bg2">
                <a:shade val="45000"/>
                <a:satMod val="135000"/>
              </a:schemeClr>
              <a:prstClr val="white"/>
            </a:duotone>
            <a:alphaModFix amt="25000"/>
          </a:blip>
          <a:srcRect t="10163" r="-1" b="5565"/>
          <a:stretch>
            <a:fillRect/>
          </a:stretch>
        </p:blipFill>
        <p:spPr>
          <a:xfrm>
            <a:off x="153" y="10"/>
            <a:ext cx="12191695" cy="6857990"/>
          </a:xfrm>
          <a:prstGeom prst="rect">
            <a:avLst/>
          </a:prstGeom>
        </p:spPr>
      </p:pic>
      <p:pic>
        <p:nvPicPr>
          <p:cNvPr id="26" name="Picture 13">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2" name="Title 1">
            <a:extLst>
              <a:ext uri="{FF2B5EF4-FFF2-40B4-BE49-F238E27FC236}">
                <a16:creationId xmlns:a16="http://schemas.microsoft.com/office/drawing/2014/main" id="{997425B9-A78F-4EE3-0B84-4167A15D03A7}"/>
              </a:ext>
            </a:extLst>
          </p:cNvPr>
          <p:cNvSpPr>
            <a:spLocks noGrp="1"/>
          </p:cNvSpPr>
          <p:nvPr>
            <p:ph type="title"/>
          </p:nvPr>
        </p:nvSpPr>
        <p:spPr>
          <a:xfrm>
            <a:off x="2611808" y="808056"/>
            <a:ext cx="7958331" cy="1077229"/>
          </a:xfrm>
        </p:spPr>
        <p:txBody>
          <a:bodyPr>
            <a:normAutofit/>
          </a:bodyPr>
          <a:lstStyle/>
          <a:p>
            <a:pPr algn="l"/>
            <a:r>
              <a:rPr lang="fr-FR"/>
              <a:t>Le désaccord comme méthode</a:t>
            </a:r>
          </a:p>
        </p:txBody>
      </p:sp>
      <p:sp>
        <p:nvSpPr>
          <p:cNvPr id="27" name="Rectangle 26">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B29DEB-EFC3-DA47-DC85-D5333B175740}"/>
              </a:ext>
            </a:extLst>
          </p:cNvPr>
          <p:cNvSpPr>
            <a:spLocks noGrp="1"/>
          </p:cNvSpPr>
          <p:nvPr>
            <p:ph idx="1"/>
          </p:nvPr>
        </p:nvSpPr>
        <p:spPr>
          <a:xfrm>
            <a:off x="2160637" y="2052116"/>
            <a:ext cx="8409502" cy="3997828"/>
          </a:xfrm>
        </p:spPr>
        <p:txBody>
          <a:bodyPr>
            <a:normAutofit/>
          </a:bodyPr>
          <a:lstStyle/>
          <a:p>
            <a:r>
              <a:rPr lang="fr-FR" sz="3200"/>
              <a:t>Son expérience et son recul</a:t>
            </a:r>
          </a:p>
          <a:p>
            <a:r>
              <a:rPr lang="fr-FR" sz="3200"/>
              <a:t>Mon regard neuf et non biaisé</a:t>
            </a:r>
          </a:p>
          <a:p>
            <a:r>
              <a:rPr lang="fr-FR" sz="3200"/>
              <a:t>« On ne peut pas avancer sans discuter »</a:t>
            </a:r>
          </a:p>
        </p:txBody>
      </p:sp>
      <p:sp>
        <p:nvSpPr>
          <p:cNvPr id="5" name="TextBox 4"/>
          <p:cNvSpPr txBox="1"/>
          <p:nvPr/>
        </p:nvSpPr>
        <p:spPr>
          <a:xfrm>
            <a:off x="7965263" y="6053328"/>
            <a:ext cx="2605200" cy="246221"/>
          </a:xfrm>
          <a:prstGeom prst="rect">
            <a:avLst/>
          </a:prstGeom>
          <a:noFill/>
        </p:spPr>
        <p:txBody>
          <a:bodyPr wrap="none">
            <a:spAutoFit/>
          </a:bodyPr>
          <a:lstStyle/>
          <a:p>
            <a:pPr algn="r">
              <a:spcAft>
                <a:spcPts val="600"/>
              </a:spcAft>
            </a:pPr>
            <a:r>
              <a:rPr lang="fr-FR" sz="1000" i="1">
                <a:solidFill>
                  <a:srgbClr val="93A79C"/>
                </a:solidFill>
              </a:rPr>
              <a:t>Photo d'illustration : Unsplash, licence libre</a:t>
            </a:r>
          </a:p>
        </p:txBody>
      </p:sp>
    </p:spTree>
    <p:extLst>
      <p:ext uri="{BB962C8B-B14F-4D97-AF65-F5344CB8AC3E}">
        <p14:creationId xmlns:p14="http://schemas.microsoft.com/office/powerpoint/2010/main" val="2360169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C8693A-B687-4F5E-B86B-B4F11D52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51084F9-D042-49BE-9E1A-43E583B98F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EE65CA45-264D-4FD3-9249-3CB04EC97E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5" name="Rectangle 14">
            <a:extLst>
              <a:ext uri="{FF2B5EF4-FFF2-40B4-BE49-F238E27FC236}">
                <a16:creationId xmlns:a16="http://schemas.microsoft.com/office/drawing/2014/main" id="{E7B58214-716F-43B8-8272-85CE2B9AB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5C070E-7DB1-4147-B6A8-D14B9C40E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31070C9-36CD-4B65-8159-324995821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038AA0-689A-78B3-0195-203CDF8C505C}"/>
              </a:ext>
            </a:extLst>
          </p:cNvPr>
          <p:cNvSpPr>
            <a:spLocks noGrp="1"/>
          </p:cNvSpPr>
          <p:nvPr>
            <p:ph type="title"/>
          </p:nvPr>
        </p:nvSpPr>
        <p:spPr>
          <a:xfrm>
            <a:off x="1969803" y="808056"/>
            <a:ext cx="8608037" cy="1077229"/>
          </a:xfrm>
        </p:spPr>
        <p:txBody>
          <a:bodyPr>
            <a:normAutofit/>
          </a:bodyPr>
          <a:lstStyle/>
          <a:p>
            <a:pPr algn="l"/>
            <a:r>
              <a:t>On n'est jamais seul</a:t>
            </a:r>
            <a:endParaRPr lang="fr-FR"/>
          </a:p>
        </p:txBody>
      </p:sp>
      <p:sp>
        <p:nvSpPr>
          <p:cNvPr id="3" name="Content Placeholder 2">
            <a:extLst>
              <a:ext uri="{FF2B5EF4-FFF2-40B4-BE49-F238E27FC236}">
                <a16:creationId xmlns:a16="http://schemas.microsoft.com/office/drawing/2014/main" id="{ACA65D5A-82AC-42C9-409B-A1051B1417B5}"/>
              </a:ext>
            </a:extLst>
          </p:cNvPr>
          <p:cNvSpPr>
            <a:spLocks noGrp="1"/>
          </p:cNvSpPr>
          <p:nvPr>
            <p:ph idx="1"/>
          </p:nvPr>
        </p:nvSpPr>
        <p:spPr>
          <a:xfrm>
            <a:off x="1975805" y="2052116"/>
            <a:ext cx="2908167" cy="3997828"/>
          </a:xfrm>
        </p:spPr>
        <p:txBody>
          <a:bodyPr>
            <a:normAutofit/>
          </a:bodyPr>
          <a:lstStyle/>
          <a:p>
            <a:r>
              <a:rPr lang="fr-FR" sz="1600"/>
              <a:t>Bloqué plusieurs jours sur les tableaux HTML</a:t>
            </a:r>
          </a:p>
          <a:p>
            <a:r>
              <a:rPr lang="fr-FR" sz="1600"/>
              <a:t>Yamna propose une solution plus simple</a:t>
            </a:r>
          </a:p>
          <a:p>
            <a:r>
              <a:rPr lang="fr-FR" sz="1600"/>
              <a:t>Demander de l'aide fait gagner du temps</a:t>
            </a:r>
          </a:p>
        </p:txBody>
      </p:sp>
      <p:pic>
        <p:nvPicPr>
          <p:cNvPr id="4" name="Picture 3" descr="image.png"/>
          <p:cNvPicPr>
            <a:picLocks noChangeAspect="1"/>
          </p:cNvPicPr>
          <p:nvPr/>
        </p:nvPicPr>
        <p:blipFill>
          <a:blip r:embed="rId6"/>
          <a:srcRect l="5635" r="20441"/>
          <a:stretch>
            <a:fillRect/>
          </a:stretch>
        </p:blipFill>
        <p:spPr>
          <a:xfrm>
            <a:off x="5432992" y="2348779"/>
            <a:ext cx="4818974" cy="3373468"/>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21" name="Rectangle 20">
            <a:extLst>
              <a:ext uri="{FF2B5EF4-FFF2-40B4-BE49-F238E27FC236}">
                <a16:creationId xmlns:a16="http://schemas.microsoft.com/office/drawing/2014/main" id="{89C35FB2-5194-4BE0-92D0-464E2B711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6075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4E7D395-0531-4A17-A276-FDA3EB7792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229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337191" y="1064365"/>
            <a:ext cx="2856582" cy="3313671"/>
          </a:xfrm>
        </p:spPr>
        <p:txBody>
          <a:bodyPr>
            <a:normAutofit/>
          </a:bodyPr>
          <a:lstStyle/>
          <a:p>
            <a:pPr algn="l"/>
            <a:r>
              <a:rPr lang="fr-FR">
                <a:solidFill>
                  <a:schemeClr val="bg1"/>
                </a:solidFill>
              </a:rPr>
              <a:t>Le besoin mal compris, un gaspillage documenté</a:t>
            </a:r>
          </a:p>
        </p:txBody>
      </p:sp>
      <p:sp>
        <p:nvSpPr>
          <p:cNvPr id="15" name="Rectangle 14">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769"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aphicFrame>
        <p:nvGraphicFramePr>
          <p:cNvPr id="5" name="Content Placeholder 2">
            <a:extLst>
              <a:ext uri="{FF2B5EF4-FFF2-40B4-BE49-F238E27FC236}">
                <a16:creationId xmlns:a16="http://schemas.microsoft.com/office/drawing/2014/main" id="{E01D2811-1421-571A-D928-EEBBA2F3696A}"/>
              </a:ext>
            </a:extLst>
          </p:cNvPr>
          <p:cNvGraphicFramePr>
            <a:graphicFrameLocks noGrp="1"/>
          </p:cNvGraphicFramePr>
          <p:nvPr>
            <p:ph idx="1"/>
            <p:extLst>
              <p:ext uri="{D42A27DB-BD31-4B8C-83A1-F6EECF244321}">
                <p14:modId xmlns:p14="http://schemas.microsoft.com/office/powerpoint/2010/main" val="3316895674"/>
              </p:ext>
            </p:extLst>
          </p:nvPr>
        </p:nvGraphicFramePr>
        <p:xfrm>
          <a:off x="5507182" y="897534"/>
          <a:ext cx="5889686" cy="53192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21211-3D9D-30B2-5A44-9200D379622B}"/>
              </a:ext>
            </a:extLst>
          </p:cNvPr>
          <p:cNvSpPr>
            <a:spLocks noGrp="1"/>
          </p:cNvSpPr>
          <p:nvPr>
            <p:ph type="title"/>
          </p:nvPr>
        </p:nvSpPr>
        <p:spPr/>
        <p:txBody>
          <a:bodyPr/>
          <a:lstStyle/>
          <a:p>
            <a:r>
              <a:t>III.  Arbitrer et décider</a:t>
            </a:r>
          </a:p>
        </p:txBody>
      </p:sp>
      <p:sp>
        <p:nvSpPr>
          <p:cNvPr id="3" name="Content Placeholder 2">
            <a:extLst>
              <a:ext uri="{FF2B5EF4-FFF2-40B4-BE49-F238E27FC236}">
                <a16:creationId xmlns:a16="http://schemas.microsoft.com/office/drawing/2014/main" id="{8BA22065-D77B-707C-EC70-D96F723D0969}"/>
              </a:ext>
            </a:extLst>
          </p:cNvPr>
          <p:cNvSpPr>
            <a:spLocks noGrp="1"/>
          </p:cNvSpPr>
          <p:nvPr>
            <p:ph idx="1"/>
          </p:nvPr>
        </p:nvSpPr>
        <p:spPr>
          <a:xfrm>
            <a:off x="2770632" y="2011680"/>
            <a:ext cx="7799831" cy="3931920"/>
          </a:xfrm>
        </p:spPr>
        <p:txBody>
          <a:bodyPr wrap="square" anchor="t">
            <a:noAutofit/>
          </a:bodyPr>
          <a:lstStyle/>
          <a:p>
            <a:endParaRPr/>
          </a:p>
        </p:txBody>
      </p:sp>
      <p:pic>
        <p:nvPicPr>
          <p:cNvPr id="4" name="Picture 3" descr="chercher_avant.png"/>
          <p:cNvPicPr>
            <a:picLocks noChangeAspect="1"/>
          </p:cNvPicPr>
          <p:nvPr/>
        </p:nvPicPr>
        <p:blipFill>
          <a:blip r:embed="rId3"/>
          <a:stretch>
            <a:fillRect/>
          </a:stretch>
        </p:blipFill>
        <p:spPr>
          <a:xfrm>
            <a:off x="-1474796" y="952818"/>
            <a:ext cx="15144059" cy="6051817"/>
          </a:xfrm>
          <a:prstGeom prst="rect">
            <a:avLst/>
          </a:prstGeom>
        </p:spPr>
      </p:pic>
    </p:spTree>
    <p:extLst>
      <p:ext uri="{BB962C8B-B14F-4D97-AF65-F5344CB8AC3E}">
        <p14:creationId xmlns:p14="http://schemas.microsoft.com/office/powerpoint/2010/main" val="2310727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C14D3-A6E5-A1AB-0E2A-602254E1A08B}"/>
              </a:ext>
            </a:extLst>
          </p:cNvPr>
          <p:cNvSpPr>
            <a:spLocks noGrp="1"/>
          </p:cNvSpPr>
          <p:nvPr>
            <p:ph type="title"/>
          </p:nvPr>
        </p:nvSpPr>
        <p:spPr/>
        <p:txBody>
          <a:bodyPr/>
          <a:lstStyle/>
          <a:p>
            <a:r>
              <a:t>La question qu'on m'a confiée</a:t>
            </a:r>
          </a:p>
        </p:txBody>
      </p:sp>
      <p:sp>
        <p:nvSpPr>
          <p:cNvPr id="3" name="Content Placeholder 2">
            <a:extLst>
              <a:ext uri="{FF2B5EF4-FFF2-40B4-BE49-F238E27FC236}">
                <a16:creationId xmlns:a16="http://schemas.microsoft.com/office/drawing/2014/main" id="{6019731C-1EEB-B202-CBCA-FA95A93C5A12}"/>
              </a:ext>
            </a:extLst>
          </p:cNvPr>
          <p:cNvSpPr>
            <a:spLocks noGrp="1"/>
          </p:cNvSpPr>
          <p:nvPr>
            <p:ph idx="1"/>
          </p:nvPr>
        </p:nvSpPr>
        <p:spPr>
          <a:xfrm>
            <a:off x="2770632" y="1993392"/>
            <a:ext cx="7799831" cy="1051560"/>
          </a:xfrm>
        </p:spPr>
        <p:txBody>
          <a:bodyPr wrap="square" anchor="t">
            <a:noAutofit/>
          </a:bodyPr>
          <a:lstStyle/>
          <a:p>
            <a:r>
              <a:t>SUNset : PHP, puis Java, et ensuite ?</a:t>
            </a:r>
          </a:p>
          <a:p>
            <a:r>
              <a:t>Ma mission : éclairer la décision, pas la prendre</a:t>
            </a:r>
          </a:p>
        </p:txBody>
      </p:sp>
      <p:pic>
        <p:nvPicPr>
          <p:cNvPr id="4" name="Picture 3" descr="sunset_versions.png"/>
          <p:cNvPicPr>
            <a:picLocks noChangeAspect="1"/>
          </p:cNvPicPr>
          <p:nvPr/>
        </p:nvPicPr>
        <p:blipFill>
          <a:blip r:embed="rId3"/>
          <a:stretch>
            <a:fillRect/>
          </a:stretch>
        </p:blipFill>
        <p:spPr>
          <a:xfrm>
            <a:off x="978118" y="3046836"/>
            <a:ext cx="11377602" cy="4092453"/>
          </a:xfrm>
          <a:prstGeom prst="rect">
            <a:avLst/>
          </a:prstGeom>
        </p:spPr>
      </p:pic>
    </p:spTree>
    <p:extLst>
      <p:ext uri="{BB962C8B-B14F-4D97-AF65-F5344CB8AC3E}">
        <p14:creationId xmlns:p14="http://schemas.microsoft.com/office/powerpoint/2010/main" val="3986334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1C66-0DF8-DB6C-480F-5BC778EB73B3}"/>
              </a:ext>
            </a:extLst>
          </p:cNvPr>
          <p:cNvSpPr>
            <a:spLocks noGrp="1"/>
          </p:cNvSpPr>
          <p:nvPr>
            <p:ph type="title"/>
          </p:nvPr>
        </p:nvSpPr>
        <p:spPr/>
        <p:txBody>
          <a:bodyPr/>
          <a:lstStyle/>
          <a:p>
            <a:r>
              <a:t>Chercher avant de construire</a:t>
            </a:r>
          </a:p>
        </p:txBody>
      </p:sp>
      <p:sp>
        <p:nvSpPr>
          <p:cNvPr id="3" name="Content Placeholder 2">
            <a:extLst>
              <a:ext uri="{FF2B5EF4-FFF2-40B4-BE49-F238E27FC236}">
                <a16:creationId xmlns:a16="http://schemas.microsoft.com/office/drawing/2014/main" id="{71FF13E8-33FE-A4CC-63E9-2D2915DBE85B}"/>
              </a:ext>
            </a:extLst>
          </p:cNvPr>
          <p:cNvSpPr>
            <a:spLocks noGrp="1"/>
          </p:cNvSpPr>
          <p:nvPr>
            <p:ph idx="1"/>
          </p:nvPr>
        </p:nvSpPr>
        <p:spPr>
          <a:xfrm>
            <a:off x="2770632" y="2011680"/>
            <a:ext cx="7799831" cy="3931920"/>
          </a:xfrm>
        </p:spPr>
        <p:txBody>
          <a:bodyPr wrap="square" anchor="t">
            <a:noAutofit/>
          </a:bodyPr>
          <a:lstStyle/>
          <a:p>
            <a:endParaRPr/>
          </a:p>
        </p:txBody>
      </p:sp>
      <p:pic>
        <p:nvPicPr>
          <p:cNvPr id="4" name="Picture 3" descr="chercher_avant.png"/>
          <p:cNvPicPr>
            <a:picLocks noChangeAspect="1"/>
          </p:cNvPicPr>
          <p:nvPr/>
        </p:nvPicPr>
        <p:blipFill>
          <a:blip r:embed="rId3"/>
          <a:stretch>
            <a:fillRect/>
          </a:stretch>
        </p:blipFill>
        <p:spPr>
          <a:xfrm>
            <a:off x="-3651939" y="2063162"/>
            <a:ext cx="19498344" cy="7757245"/>
          </a:xfrm>
          <a:prstGeom prst="rect">
            <a:avLst/>
          </a:prstGeom>
        </p:spPr>
      </p:pic>
    </p:spTree>
    <p:extLst>
      <p:ext uri="{BB962C8B-B14F-4D97-AF65-F5344CB8AC3E}">
        <p14:creationId xmlns:p14="http://schemas.microsoft.com/office/powerpoint/2010/main" val="2863872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C8693A-B687-4F5E-B86B-B4F11D52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51084F9-D042-49BE-9E1A-43E583B98F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EE65CA45-264D-4FD3-9249-3CB04EC97E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E7B58214-716F-43B8-8272-85CE2B9AB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A5C070E-7DB1-4147-B6A8-D14B9C40E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31070C9-36CD-4B65-8159-324995821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360CA-CA32-2896-12D0-8BF3387CF2A1}"/>
              </a:ext>
            </a:extLst>
          </p:cNvPr>
          <p:cNvSpPr>
            <a:spLocks noGrp="1"/>
          </p:cNvSpPr>
          <p:nvPr>
            <p:ph type="title"/>
          </p:nvPr>
        </p:nvSpPr>
        <p:spPr>
          <a:xfrm>
            <a:off x="1969803" y="808056"/>
            <a:ext cx="8608037" cy="1077229"/>
          </a:xfrm>
        </p:spPr>
        <p:txBody>
          <a:bodyPr>
            <a:normAutofit/>
          </a:bodyPr>
          <a:lstStyle/>
          <a:p>
            <a:pPr algn="l"/>
            <a:r>
              <a:t>Les deux candidats : DUO ESS et USO</a:t>
            </a:r>
            <a:endParaRPr lang="fr-FR"/>
          </a:p>
        </p:txBody>
      </p:sp>
      <p:sp>
        <p:nvSpPr>
          <p:cNvPr id="3" name="Content Placeholder 2">
            <a:extLst>
              <a:ext uri="{FF2B5EF4-FFF2-40B4-BE49-F238E27FC236}">
                <a16:creationId xmlns:a16="http://schemas.microsoft.com/office/drawing/2014/main" id="{EE0963D4-2280-C5A2-E714-4311ABB442BC}"/>
              </a:ext>
            </a:extLst>
          </p:cNvPr>
          <p:cNvSpPr>
            <a:spLocks noGrp="1"/>
          </p:cNvSpPr>
          <p:nvPr>
            <p:ph idx="1"/>
          </p:nvPr>
        </p:nvSpPr>
        <p:spPr>
          <a:xfrm>
            <a:off x="1975805" y="2052116"/>
            <a:ext cx="2908167" cy="3997828"/>
          </a:xfrm>
        </p:spPr>
        <p:txBody>
          <a:bodyPr>
            <a:normAutofit/>
          </a:bodyPr>
          <a:lstStyle/>
          <a:p>
            <a:r>
              <a:rPr lang="fr-FR" sz="1600"/>
              <a:t>DUO ESS - European Spallation Source, Suède</a:t>
            </a:r>
          </a:p>
          <a:p>
            <a:r>
              <a:rPr lang="fr-FR" sz="1600"/>
              <a:t>USO - User System Online, synchrotron canadien</a:t>
            </a:r>
          </a:p>
          <a:p>
            <a:r>
              <a:rPr lang="fr-FR" sz="1600"/>
              <a:t>Méthode : rejouer le workflow, fonction par fonction</a:t>
            </a:r>
          </a:p>
        </p:txBody>
      </p:sp>
      <p:pic>
        <p:nvPicPr>
          <p:cNvPr id="4" name="Picture 3" descr="image.png"/>
          <p:cNvPicPr>
            <a:picLocks noChangeAspect="1"/>
          </p:cNvPicPr>
          <p:nvPr/>
        </p:nvPicPr>
        <p:blipFill>
          <a:blip r:embed="rId6"/>
          <a:srcRect l="10719" r="1" b="1"/>
          <a:stretch>
            <a:fillRect/>
          </a:stretch>
        </p:blipFill>
        <p:spPr>
          <a:xfrm>
            <a:off x="5432992" y="2348779"/>
            <a:ext cx="4818974" cy="3373468"/>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22" name="Rectangle 21">
            <a:extLst>
              <a:ext uri="{FF2B5EF4-FFF2-40B4-BE49-F238E27FC236}">
                <a16:creationId xmlns:a16="http://schemas.microsoft.com/office/drawing/2014/main" id="{89C35FB2-5194-4BE0-92D0-464E2B711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2288" y="6053328"/>
            <a:ext cx="2698175" cy="246221"/>
          </a:xfrm>
          <a:prstGeom prst="rect">
            <a:avLst/>
          </a:prstGeom>
          <a:noFill/>
        </p:spPr>
        <p:txBody>
          <a:bodyPr wrap="none">
            <a:spAutoFit/>
          </a:bodyPr>
          <a:lstStyle/>
          <a:p>
            <a:pPr algn="r">
              <a:spcAft>
                <a:spcPts val="600"/>
              </a:spcAft>
            </a:pPr>
            <a:r>
              <a:rPr sz="1000" i="1">
                <a:solidFill>
                  <a:srgbClr val="93A79C"/>
                </a:solidFill>
              </a:rPr>
              <a:t>DUO ESS deploye en interne pour etre teste</a:t>
            </a:r>
            <a:endParaRPr lang="fr-FR" sz="1000" i="1">
              <a:solidFill>
                <a:srgbClr val="93A79C"/>
              </a:solidFill>
            </a:endParaRPr>
          </a:p>
        </p:txBody>
      </p:sp>
    </p:spTree>
    <p:extLst>
      <p:ext uri="{BB962C8B-B14F-4D97-AF65-F5344CB8AC3E}">
        <p14:creationId xmlns:p14="http://schemas.microsoft.com/office/powerpoint/2010/main" val="702165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4E7D395-0531-4A17-A276-FDA3EB7792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229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a:extLst>
              <a:ext uri="{FF2B5EF4-FFF2-40B4-BE49-F238E27FC236}">
                <a16:creationId xmlns:a16="http://schemas.microsoft.com/office/drawing/2014/main" id="{62E34CAD-C7E8-763C-A9B8-F2C11B0EA625}"/>
              </a:ext>
            </a:extLst>
          </p:cNvPr>
          <p:cNvSpPr>
            <a:spLocks noGrp="1"/>
          </p:cNvSpPr>
          <p:nvPr>
            <p:ph type="title"/>
          </p:nvPr>
        </p:nvSpPr>
        <p:spPr>
          <a:xfrm>
            <a:off x="1337191" y="1064365"/>
            <a:ext cx="2856582" cy="3313671"/>
          </a:xfrm>
        </p:spPr>
        <p:txBody>
          <a:bodyPr>
            <a:normAutofit/>
          </a:bodyPr>
          <a:lstStyle/>
          <a:p>
            <a:pPr algn="l"/>
            <a:r>
              <a:rPr lang="en-US">
                <a:solidFill>
                  <a:schemeClr val="bg1"/>
                </a:solidFill>
              </a:rPr>
              <a:t>Ne pas construire est aussi un livrable</a:t>
            </a:r>
          </a:p>
        </p:txBody>
      </p:sp>
      <p:sp>
        <p:nvSpPr>
          <p:cNvPr id="15" name="Rectangle 14">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769"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aphicFrame>
        <p:nvGraphicFramePr>
          <p:cNvPr id="5" name="Content Placeholder 2">
            <a:extLst>
              <a:ext uri="{FF2B5EF4-FFF2-40B4-BE49-F238E27FC236}">
                <a16:creationId xmlns:a16="http://schemas.microsoft.com/office/drawing/2014/main" id="{66B94E9F-8382-3241-DDCC-A2C2263CE2FC}"/>
              </a:ext>
            </a:extLst>
          </p:cNvPr>
          <p:cNvGraphicFramePr>
            <a:graphicFrameLocks noGrp="1"/>
          </p:cNvGraphicFramePr>
          <p:nvPr>
            <p:ph idx="1"/>
            <p:extLst>
              <p:ext uri="{D42A27DB-BD31-4B8C-83A1-F6EECF244321}">
                <p14:modId xmlns:p14="http://schemas.microsoft.com/office/powerpoint/2010/main" val="3881683597"/>
              </p:ext>
            </p:extLst>
          </p:nvPr>
        </p:nvGraphicFramePr>
        <p:xfrm>
          <a:off x="5507182" y="897534"/>
          <a:ext cx="5889686" cy="53192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40687075"/>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B2E9-57DF-B9E7-B016-593EE2F5F07B}"/>
              </a:ext>
            </a:extLst>
          </p:cNvPr>
          <p:cNvSpPr>
            <a:spLocks noGrp="1"/>
          </p:cNvSpPr>
          <p:nvPr>
            <p:ph type="title"/>
          </p:nvPr>
        </p:nvSpPr>
        <p:spPr/>
        <p:txBody>
          <a:bodyPr/>
          <a:lstStyle/>
          <a:p>
            <a:r>
              <a:t>Quatre grilles pour décider</a:t>
            </a:r>
          </a:p>
        </p:txBody>
      </p:sp>
      <p:pic>
        <p:nvPicPr>
          <p:cNvPr id="4" name="Picture 3" descr="quatre_grilles.png"/>
          <p:cNvPicPr>
            <a:picLocks noChangeAspect="1"/>
          </p:cNvPicPr>
          <p:nvPr/>
        </p:nvPicPr>
        <p:blipFill>
          <a:blip r:embed="rId3"/>
          <a:stretch>
            <a:fillRect/>
          </a:stretch>
        </p:blipFill>
        <p:spPr>
          <a:xfrm>
            <a:off x="593598" y="995681"/>
            <a:ext cx="11000013" cy="6154781"/>
          </a:xfrm>
          <a:prstGeom prst="rect">
            <a:avLst/>
          </a:prstGeom>
        </p:spPr>
      </p:pic>
    </p:spTree>
    <p:extLst>
      <p:ext uri="{BB962C8B-B14F-4D97-AF65-F5344CB8AC3E}">
        <p14:creationId xmlns:p14="http://schemas.microsoft.com/office/powerpoint/2010/main" val="2890805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3534B-323F-04AF-B1D3-E918DDDB361C}"/>
              </a:ext>
            </a:extLst>
          </p:cNvPr>
          <p:cNvSpPr>
            <a:spLocks noGrp="1"/>
          </p:cNvSpPr>
          <p:nvPr>
            <p:ph type="title"/>
          </p:nvPr>
        </p:nvSpPr>
        <p:spPr/>
        <p:txBody>
          <a:bodyPr/>
          <a:lstStyle/>
          <a:p>
            <a:r>
              <a:t>Les limites de ma position</a:t>
            </a:r>
          </a:p>
        </p:txBody>
      </p:sp>
      <p:graphicFrame>
        <p:nvGraphicFramePr>
          <p:cNvPr id="5" name="Content Placeholder 2">
            <a:extLst>
              <a:ext uri="{FF2B5EF4-FFF2-40B4-BE49-F238E27FC236}">
                <a16:creationId xmlns:a16="http://schemas.microsoft.com/office/drawing/2014/main" id="{A33C0306-82F6-B289-BE66-9DE69B4D919D}"/>
              </a:ext>
            </a:extLst>
          </p:cNvPr>
          <p:cNvGraphicFramePr>
            <a:graphicFrameLocks noGrp="1"/>
          </p:cNvGraphicFramePr>
          <p:nvPr>
            <p:ph idx="1"/>
          </p:nvPr>
        </p:nvGraphicFramePr>
        <p:xfrm>
          <a:off x="2770632" y="2011680"/>
          <a:ext cx="7799831" cy="3931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778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Ce choix, multiplié par cent laboratoires</a:t>
            </a:r>
          </a:p>
        </p:txBody>
      </p:sp>
      <p:sp>
        <p:nvSpPr>
          <p:cNvPr id="3" name="Content Placeholder 2"/>
          <p:cNvSpPr>
            <a:spLocks noGrp="1"/>
          </p:cNvSpPr>
          <p:nvPr>
            <p:ph idx="1"/>
          </p:nvPr>
        </p:nvSpPr>
        <p:spPr>
          <a:xfrm>
            <a:off x="2770632" y="2011680"/>
            <a:ext cx="7799831" cy="3931920"/>
          </a:xfrm>
        </p:spPr>
        <p:txBody>
          <a:bodyPr wrap="square" anchor="t">
            <a:noAutofit/>
          </a:bodyPr>
          <a:lstStyle/>
          <a:p>
            <a:r>
              <a:rPr sz="1900"/>
              <a:t>Chaque institution de recherche affronte les mêmes besoins de gestion</a:t>
            </a:r>
          </a:p>
          <a:p>
            <a:r>
              <a:rPr sz="1900"/>
              <a:t>DUO ESS, USO : des initiatives nées pour sortir de cette redondance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2" name="Picture 11">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4" name="Rectangle 13">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6" name="Rectangle 15">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8" name="Rectangle 17">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0" name="Rectangle 19">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2" name="TextBox 21">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4" name="Rectangle 23">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8" name="Picture 27">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0" name="Rectangle 29">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019652-A960-06C8-D260-62B30EA41996}"/>
              </a:ext>
            </a:extLst>
          </p:cNvPr>
          <p:cNvSpPr>
            <a:spLocks noGrp="1"/>
          </p:cNvSpPr>
          <p:nvPr>
            <p:ph type="title"/>
          </p:nvPr>
        </p:nvSpPr>
        <p:spPr>
          <a:xfrm>
            <a:off x="1974254" y="5166421"/>
            <a:ext cx="8445357" cy="883524"/>
          </a:xfrm>
        </p:spPr>
        <p:txBody>
          <a:bodyPr vert="horz" lIns="91440" tIns="45720" rIns="91440" bIns="45720" rtlCol="0" anchor="t">
            <a:normAutofit/>
          </a:bodyPr>
          <a:lstStyle/>
          <a:p>
            <a:r>
              <a:rPr lang="en-US" sz="4800"/>
              <a:t>IV.  Une approche durable</a:t>
            </a:r>
          </a:p>
        </p:txBody>
      </p:sp>
      <p:sp>
        <p:nvSpPr>
          <p:cNvPr id="5" name="TextBox 4"/>
          <p:cNvSpPr txBox="1"/>
          <p:nvPr/>
        </p:nvSpPr>
        <p:spPr>
          <a:xfrm>
            <a:off x="2133536" y="4752007"/>
            <a:ext cx="8286075" cy="414413"/>
          </a:xfrm>
          <a:prstGeom prst="rect">
            <a:avLst/>
          </a:prstGeom>
        </p:spPr>
        <p:txBody>
          <a:bodyPr vert="horz" lIns="91440" tIns="0" rIns="91440" bIns="45720" rtlCol="0" anchor="b">
            <a:normAutofit/>
          </a:bodyPr>
          <a:lstStyle/>
          <a:p>
            <a:pPr algn="r" defTabSz="914400">
              <a:lnSpc>
                <a:spcPct val="120000"/>
              </a:lnSpc>
              <a:spcBef>
                <a:spcPts val="1000"/>
              </a:spcBef>
              <a:spcAft>
                <a:spcPts val="600"/>
              </a:spcAft>
              <a:buClr>
                <a:schemeClr val="accent6"/>
              </a:buClr>
              <a:buSzPct val="90000"/>
            </a:pPr>
            <a:r>
              <a:rPr lang="en-US" i="1"/>
              <a:t>Photo d'illustration : Unsplash, licence libre</a:t>
            </a:r>
          </a:p>
        </p:txBody>
      </p:sp>
      <p:sp>
        <p:nvSpPr>
          <p:cNvPr id="34" name="Rectangle 33">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jpg"/>
          <p:cNvPicPr>
            <a:picLocks noChangeAspect="1"/>
          </p:cNvPicPr>
          <p:nvPr/>
        </p:nvPicPr>
        <p:blipFill>
          <a:blip r:embed="rId6"/>
          <a:srcRect t="29039" r="-1" b="12787"/>
          <a:stretch>
            <a:fillRect/>
          </a:stretch>
        </p:blipFill>
        <p:spPr>
          <a:xfrm>
            <a:off x="1005401" y="-1"/>
            <a:ext cx="10380133" cy="4030679"/>
          </a:xfrm>
          <a:prstGeom prst="rect">
            <a:avLst/>
          </a:prstGeom>
          <a:ln>
            <a:solidFill>
              <a:schemeClr val="accent6"/>
            </a:solidFill>
          </a:ln>
        </p:spPr>
      </p:pic>
      <p:sp>
        <p:nvSpPr>
          <p:cNvPr id="36" name="Rectangle 35">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7774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Sobriété numérique : où va réellement l'impact</a:t>
            </a:r>
          </a:p>
        </p:txBody>
      </p:sp>
      <p:sp>
        <p:nvSpPr>
          <p:cNvPr id="3" name="Content Placeholder 2"/>
          <p:cNvSpPr>
            <a:spLocks noGrp="1"/>
          </p:cNvSpPr>
          <p:nvPr>
            <p:ph idx="1"/>
          </p:nvPr>
        </p:nvSpPr>
        <p:spPr>
          <a:xfrm>
            <a:off x="2770632" y="2011680"/>
            <a:ext cx="7799831" cy="3931920"/>
          </a:xfrm>
        </p:spPr>
        <p:txBody>
          <a:bodyPr wrap="square" anchor="t">
            <a:noAutofit/>
          </a:bodyPr>
          <a:lstStyle/>
          <a:p>
            <a:endParaRPr/>
          </a:p>
        </p:txBody>
      </p:sp>
      <p:pic>
        <p:nvPicPr>
          <p:cNvPr id="4" name="Picture 3" descr="impact_numerique.png"/>
          <p:cNvPicPr>
            <a:picLocks noChangeAspect="1"/>
          </p:cNvPicPr>
          <p:nvPr/>
        </p:nvPicPr>
        <p:blipFill>
          <a:blip r:embed="rId3"/>
          <a:stretch>
            <a:fillRect/>
          </a:stretch>
        </p:blipFill>
        <p:spPr>
          <a:xfrm>
            <a:off x="1101598" y="1714136"/>
            <a:ext cx="9991271" cy="55887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24A1565-B7E1-4C59-84A2-5831F1160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B8B134C-47B2-49B8-B810-2931B20EA76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9" name="Picture 8">
            <a:extLst>
              <a:ext uri="{FF2B5EF4-FFF2-40B4-BE49-F238E27FC236}">
                <a16:creationId xmlns:a16="http://schemas.microsoft.com/office/drawing/2014/main" id="{1550BD34-8417-42DB-BEA7-96B1E41562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1" name="Rectangle 10">
            <a:extLst>
              <a:ext uri="{FF2B5EF4-FFF2-40B4-BE49-F238E27FC236}">
                <a16:creationId xmlns:a16="http://schemas.microsoft.com/office/drawing/2014/main" id="{EE04A24D-ECF7-4024-BAC2-981BA69CF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C3D135-9831-45A9-8FBE-2A2548C87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375ABF-52E0-4C78-B2CF-0A949D7D8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69804" y="808056"/>
            <a:ext cx="3969504" cy="1077229"/>
          </a:xfrm>
        </p:spPr>
        <p:txBody>
          <a:bodyPr>
            <a:normAutofit/>
          </a:bodyPr>
          <a:lstStyle/>
          <a:p>
            <a:pPr algn="l"/>
            <a:r>
              <a:rPr lang="en-US" sz="3100"/>
              <a:t>Les leviers à l'échelle du développeur</a:t>
            </a:r>
          </a:p>
        </p:txBody>
      </p:sp>
      <p:sp>
        <p:nvSpPr>
          <p:cNvPr id="3" name="Content Placeholder 2"/>
          <p:cNvSpPr>
            <a:spLocks noGrp="1"/>
          </p:cNvSpPr>
          <p:nvPr>
            <p:ph idx="1"/>
          </p:nvPr>
        </p:nvSpPr>
        <p:spPr>
          <a:xfrm>
            <a:off x="1106203" y="2095658"/>
            <a:ext cx="5595105" cy="4309886"/>
          </a:xfrm>
        </p:spPr>
        <p:txBody>
          <a:bodyPr vert="horz" lIns="91440" tIns="45720" rIns="91440" bIns="45720" rtlCol="0" anchor="ctr">
            <a:noAutofit/>
          </a:bodyPr>
          <a:lstStyle/>
          <a:p>
            <a:pPr marL="344170" indent="-344170"/>
            <a:r>
              <a:rPr lang="en-US" sz="2400" b="1" err="1"/>
              <a:t>Concevoir</a:t>
            </a:r>
            <a:r>
              <a:rPr lang="en-US" sz="2400" b="1"/>
              <a:t> : </a:t>
            </a:r>
            <a:r>
              <a:rPr lang="en-US" sz="2400"/>
              <a:t>la </a:t>
            </a:r>
            <a:r>
              <a:rPr lang="en-US" sz="2400" err="1"/>
              <a:t>fonctionnalité</a:t>
            </a:r>
            <a:r>
              <a:rPr lang="en-US" sz="2400"/>
              <a:t> </a:t>
            </a:r>
            <a:r>
              <a:rPr lang="en-US" sz="2400" err="1"/>
              <a:t>qu'on</a:t>
            </a:r>
            <a:r>
              <a:rPr lang="en-US" sz="2400"/>
              <a:t> ne </a:t>
            </a:r>
            <a:r>
              <a:rPr lang="en-US" sz="2400" err="1"/>
              <a:t>développe</a:t>
            </a:r>
            <a:r>
              <a:rPr lang="en-US" sz="2400"/>
              <a:t> pas</a:t>
            </a:r>
            <a:endParaRPr lang="en-US" sz="2400">
              <a:cs typeface="Arial"/>
            </a:endParaRPr>
          </a:p>
          <a:p>
            <a:pPr marL="344170" indent="-344170"/>
            <a:r>
              <a:rPr lang="en-US" sz="2400" b="1"/>
              <a:t>Coder : </a:t>
            </a:r>
            <a:r>
              <a:rPr lang="en-US" sz="2400" err="1"/>
              <a:t>algorithmes</a:t>
            </a:r>
            <a:r>
              <a:rPr lang="en-US" sz="2400"/>
              <a:t>, </a:t>
            </a:r>
            <a:r>
              <a:rPr lang="en-US" sz="2400" err="1"/>
              <a:t>dépendances</a:t>
            </a:r>
            <a:r>
              <a:rPr lang="en-US" sz="2400"/>
              <a:t>, cache</a:t>
            </a:r>
            <a:endParaRPr lang="en-US" sz="2400">
              <a:cs typeface="Arial"/>
            </a:endParaRPr>
          </a:p>
          <a:p>
            <a:pPr marL="344170" indent="-344170"/>
            <a:r>
              <a:rPr lang="en-US" sz="2400" b="1"/>
              <a:t>Exploiter : </a:t>
            </a:r>
            <a:r>
              <a:rPr lang="en-US" sz="2400"/>
              <a:t>données, </a:t>
            </a:r>
            <a:r>
              <a:rPr lang="en-US" sz="2400" err="1"/>
              <a:t>journaux</a:t>
            </a:r>
            <a:r>
              <a:rPr lang="en-US" sz="2400"/>
              <a:t>, </a:t>
            </a:r>
            <a:r>
              <a:rPr lang="en-US" sz="2400" err="1"/>
              <a:t>rétention</a:t>
            </a:r>
            <a:endParaRPr lang="en-US" sz="2400">
              <a:cs typeface="Arial"/>
            </a:endParaRPr>
          </a:p>
          <a:p>
            <a:pPr marL="344170" indent="-344170"/>
            <a:r>
              <a:rPr lang="en-US" sz="2400" b="1" err="1"/>
              <a:t>Mesurer</a:t>
            </a:r>
            <a:r>
              <a:rPr lang="en-US" sz="2400" b="1"/>
              <a:t> : </a:t>
            </a:r>
            <a:r>
              <a:rPr lang="en-US" sz="2400"/>
              <a:t>on ne </a:t>
            </a:r>
            <a:r>
              <a:rPr lang="en-US" sz="2400" err="1"/>
              <a:t>pilote</a:t>
            </a:r>
            <a:r>
              <a:rPr lang="en-US" sz="2400"/>
              <a:t> </a:t>
            </a:r>
            <a:r>
              <a:rPr lang="en-US" sz="2400" err="1"/>
              <a:t>que</a:t>
            </a:r>
            <a:r>
              <a:rPr lang="en-US" sz="2400"/>
              <a:t> </a:t>
            </a:r>
            <a:r>
              <a:rPr lang="en-US" sz="2400" err="1"/>
              <a:t>ce</a:t>
            </a:r>
            <a:r>
              <a:rPr lang="en-US" sz="2400"/>
              <a:t> </a:t>
            </a:r>
            <a:r>
              <a:rPr lang="en-US" sz="2400" err="1"/>
              <a:t>qu'on</a:t>
            </a:r>
            <a:r>
              <a:rPr lang="en-US" sz="2400"/>
              <a:t> </a:t>
            </a:r>
            <a:r>
              <a:rPr lang="en-US" sz="2400" err="1"/>
              <a:t>mesure</a:t>
            </a:r>
            <a:endParaRPr lang="en-US" sz="2400">
              <a:cs typeface="Arial"/>
            </a:endParaRPr>
          </a:p>
        </p:txBody>
      </p:sp>
      <p:pic>
        <p:nvPicPr>
          <p:cNvPr id="4" name="Picture 3" descr="image.jpg"/>
          <p:cNvPicPr>
            <a:picLocks noChangeAspect="1"/>
          </p:cNvPicPr>
          <p:nvPr/>
        </p:nvPicPr>
        <p:blipFill>
          <a:blip r:embed="rId6"/>
          <a:stretch>
            <a:fillRect/>
          </a:stretch>
        </p:blipFill>
        <p:spPr>
          <a:xfrm>
            <a:off x="6751768" y="2096128"/>
            <a:ext cx="3994617" cy="2666406"/>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17" name="Rectangle 16">
            <a:extLst>
              <a:ext uri="{FF2B5EF4-FFF2-40B4-BE49-F238E27FC236}">
                <a16:creationId xmlns:a16="http://schemas.microsoft.com/office/drawing/2014/main" id="{34BB1BDF-EAFF-49B6-ABF3-7F9B3201C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965263" y="6053328"/>
            <a:ext cx="2605200" cy="246221"/>
          </a:xfrm>
          <a:prstGeom prst="rect">
            <a:avLst/>
          </a:prstGeom>
          <a:noFill/>
        </p:spPr>
        <p:txBody>
          <a:bodyPr wrap="none">
            <a:spAutoFit/>
          </a:bodyPr>
          <a:lstStyle/>
          <a:p>
            <a:pPr algn="r">
              <a:spcAft>
                <a:spcPts val="600"/>
              </a:spcAft>
            </a:pPr>
            <a:r>
              <a:rPr lang="en-US" sz="1000" i="1">
                <a:solidFill>
                  <a:srgbClr val="93A79C"/>
                </a:solidFill>
              </a:rPr>
              <a:t>Photo </a:t>
            </a:r>
            <a:r>
              <a:rPr lang="en-US" sz="1000" i="1" err="1">
                <a:solidFill>
                  <a:srgbClr val="93A79C"/>
                </a:solidFill>
              </a:rPr>
              <a:t>d'illustration</a:t>
            </a:r>
            <a:r>
              <a:rPr lang="en-US" sz="1000" i="1">
                <a:solidFill>
                  <a:srgbClr val="93A79C"/>
                </a:solidFill>
              </a:rPr>
              <a:t> : </a:t>
            </a:r>
            <a:r>
              <a:rPr lang="en-US" sz="1000" i="1" err="1">
                <a:solidFill>
                  <a:srgbClr val="93A79C"/>
                </a:solidFill>
              </a:rPr>
              <a:t>Unsplash</a:t>
            </a:r>
            <a:r>
              <a:rPr lang="en-US" sz="1000" i="1">
                <a:solidFill>
                  <a:srgbClr val="93A79C"/>
                </a:solidFill>
              </a:rPr>
              <a:t>, </a:t>
            </a:r>
            <a:r>
              <a:rPr lang="en-US" sz="1000" i="1" err="1">
                <a:solidFill>
                  <a:srgbClr val="93A79C"/>
                </a:solidFill>
              </a:rPr>
              <a:t>licence</a:t>
            </a:r>
            <a:r>
              <a:rPr lang="en-US" sz="1000" i="1">
                <a:solidFill>
                  <a:srgbClr val="93A79C"/>
                </a:solidFill>
              </a:rPr>
              <a:t> libre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  L'approche cyclique</a:t>
            </a:r>
          </a:p>
        </p:txBody>
      </p:sp>
      <p:sp>
        <p:nvSpPr>
          <p:cNvPr id="3" name="Content Placeholder 2"/>
          <p:cNvSpPr>
            <a:spLocks noGrp="1"/>
          </p:cNvSpPr>
          <p:nvPr>
            <p:ph idx="1"/>
          </p:nvPr>
        </p:nvSpPr>
        <p:spPr>
          <a:xfrm>
            <a:off x="2770632" y="2011680"/>
            <a:ext cx="7799831" cy="3931920"/>
          </a:xfrm>
        </p:spPr>
        <p:txBody>
          <a:bodyPr wrap="square" anchor="t">
            <a:noAutofit/>
          </a:bodyPr>
          <a:lstStyle/>
          <a:p>
            <a:endParaRPr/>
          </a:p>
        </p:txBody>
      </p:sp>
      <p:pic>
        <p:nvPicPr>
          <p:cNvPr id="4" name="Picture 3" descr="approche_cyclique.png"/>
          <p:cNvPicPr>
            <a:picLocks noChangeAspect="1"/>
          </p:cNvPicPr>
          <p:nvPr/>
        </p:nvPicPr>
        <p:blipFill>
          <a:blip r:embed="rId3"/>
          <a:stretch>
            <a:fillRect/>
          </a:stretch>
        </p:blipFill>
        <p:spPr>
          <a:xfrm>
            <a:off x="891032" y="1244998"/>
            <a:ext cx="11406631" cy="576500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Mes actions, relues sous cet angle</a:t>
            </a:r>
          </a:p>
        </p:txBody>
      </p:sp>
      <p:sp>
        <p:nvSpPr>
          <p:cNvPr id="3" name="Content Placeholder 2"/>
          <p:cNvSpPr>
            <a:spLocks noGrp="1"/>
          </p:cNvSpPr>
          <p:nvPr>
            <p:ph idx="1"/>
          </p:nvPr>
        </p:nvSpPr>
        <p:spPr>
          <a:xfrm>
            <a:off x="2770632" y="2011680"/>
            <a:ext cx="7799831" cy="3931920"/>
          </a:xfrm>
        </p:spPr>
        <p:txBody>
          <a:bodyPr wrap="square" anchor="t">
            <a:noAutofit/>
          </a:bodyPr>
          <a:lstStyle/>
          <a:p>
            <a:endParaRPr/>
          </a:p>
        </p:txBody>
      </p:sp>
      <p:pic>
        <p:nvPicPr>
          <p:cNvPr id="4" name="Picture 3" descr="trois_gestes.png"/>
          <p:cNvPicPr>
            <a:picLocks noChangeAspect="1"/>
          </p:cNvPicPr>
          <p:nvPr/>
        </p:nvPicPr>
        <p:blipFill>
          <a:blip r:embed="rId3"/>
          <a:stretch>
            <a:fillRect/>
          </a:stretch>
        </p:blipFill>
        <p:spPr>
          <a:xfrm>
            <a:off x="898290" y="2014128"/>
            <a:ext cx="10601087" cy="359536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D557CE-2AB8-44E1-AABA-A21D2274F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8DCB6E5-A344-4A17-A353-EC4D71E6C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4D82F4F2-6117-4CCD-94A7-4AFD603EC3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3CCA9FB2-FFC7-4B6D-8E30-9D2CC14E7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F6D6F6-E7F9-4521-BD22-74A61D8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B566E74-1425-46AC-885D-D2DAEE365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69804" y="808056"/>
            <a:ext cx="3317492" cy="1077229"/>
          </a:xfrm>
        </p:spPr>
        <p:txBody>
          <a:bodyPr>
            <a:normAutofit fontScale="90000"/>
          </a:bodyPr>
          <a:lstStyle/>
          <a:p>
            <a:pPr algn="l"/>
            <a:r>
              <a:rPr lang="en-US" sz="2900"/>
              <a:t>Mes </a:t>
            </a:r>
            <a:r>
              <a:rPr lang="en-US" sz="2900" err="1"/>
              <a:t>leçons</a:t>
            </a:r>
            <a:r>
              <a:rPr lang="en-US" sz="2900"/>
              <a:t> apprises : La technique </a:t>
            </a:r>
            <a:r>
              <a:rPr lang="en-US" sz="2900" err="1"/>
              <a:t>seule</a:t>
            </a:r>
            <a:r>
              <a:rPr lang="en-US" sz="2900"/>
              <a:t> ne </a:t>
            </a:r>
            <a:r>
              <a:rPr lang="en-US" sz="2900" err="1"/>
              <a:t>suffit</a:t>
            </a:r>
            <a:r>
              <a:rPr lang="en-US" sz="2900"/>
              <a:t> pas</a:t>
            </a:r>
          </a:p>
        </p:txBody>
      </p:sp>
      <p:sp>
        <p:nvSpPr>
          <p:cNvPr id="3" name="Content Placeholder 2"/>
          <p:cNvSpPr>
            <a:spLocks noGrp="1"/>
          </p:cNvSpPr>
          <p:nvPr>
            <p:ph idx="1"/>
          </p:nvPr>
        </p:nvSpPr>
        <p:spPr>
          <a:xfrm>
            <a:off x="1280375" y="2095658"/>
            <a:ext cx="4326235" cy="3954286"/>
          </a:xfrm>
        </p:spPr>
        <p:txBody>
          <a:bodyPr>
            <a:normAutofit lnSpcReduction="10000"/>
          </a:bodyPr>
          <a:lstStyle/>
          <a:p>
            <a:pPr marL="344170" indent="-344170"/>
            <a:r>
              <a:rPr lang="en-US" sz="2800"/>
              <a:t>Un </a:t>
            </a:r>
            <a:r>
              <a:rPr lang="en-US" sz="2800" err="1"/>
              <a:t>programme</a:t>
            </a:r>
            <a:r>
              <a:rPr lang="en-US" sz="2800"/>
              <a:t> ne </a:t>
            </a:r>
            <a:r>
              <a:rPr lang="en-US" sz="2800" err="1"/>
              <a:t>résout</a:t>
            </a:r>
            <a:r>
              <a:rPr lang="en-US" sz="2800"/>
              <a:t> jamais un </a:t>
            </a:r>
            <a:r>
              <a:rPr lang="en-US" sz="2800" err="1"/>
              <a:t>problème</a:t>
            </a:r>
            <a:r>
              <a:rPr lang="en-US" sz="2800"/>
              <a:t> technique</a:t>
            </a:r>
            <a:endParaRPr lang="en-US"/>
          </a:p>
          <a:p>
            <a:pPr marL="344170" indent="-344170"/>
            <a:r>
              <a:rPr lang="en-US" sz="2800">
                <a:solidFill>
                  <a:srgbClr val="FF0000"/>
                </a:solidFill>
              </a:rPr>
              <a:t>Il </a:t>
            </a:r>
            <a:r>
              <a:rPr lang="en-US" sz="2800" err="1">
                <a:solidFill>
                  <a:srgbClr val="FF0000"/>
                </a:solidFill>
              </a:rPr>
              <a:t>résout</a:t>
            </a:r>
            <a:r>
              <a:rPr lang="en-US" sz="2800">
                <a:solidFill>
                  <a:srgbClr val="FF0000"/>
                </a:solidFill>
              </a:rPr>
              <a:t> un </a:t>
            </a:r>
            <a:r>
              <a:rPr lang="en-US" sz="2800" err="1">
                <a:solidFill>
                  <a:srgbClr val="FF0000"/>
                </a:solidFill>
              </a:rPr>
              <a:t>problème</a:t>
            </a:r>
            <a:r>
              <a:rPr lang="en-US" sz="2800">
                <a:solidFill>
                  <a:srgbClr val="FF0000"/>
                </a:solidFill>
              </a:rPr>
              <a:t> </a:t>
            </a:r>
            <a:r>
              <a:rPr lang="en-US" sz="2800" err="1">
                <a:solidFill>
                  <a:srgbClr val="FF0000"/>
                </a:solidFill>
              </a:rPr>
              <a:t>humain</a:t>
            </a:r>
            <a:endParaRPr lang="en-US" sz="2800" err="1">
              <a:solidFill>
                <a:srgbClr val="FF0000"/>
              </a:solidFill>
              <a:cs typeface="Arial" panose="020B0604020202020204"/>
            </a:endParaRPr>
          </a:p>
          <a:p>
            <a:pPr marL="344170" indent="-344170"/>
            <a:r>
              <a:rPr lang="en-US" sz="2800" err="1"/>
              <a:t>Médiation</a:t>
            </a:r>
            <a:r>
              <a:rPr lang="en-US" sz="2800"/>
              <a:t>, </a:t>
            </a:r>
            <a:r>
              <a:rPr lang="en-US" sz="2800" err="1"/>
              <a:t>écoute</a:t>
            </a:r>
            <a:r>
              <a:rPr lang="en-US" sz="2800"/>
              <a:t> active, </a:t>
            </a:r>
            <a:r>
              <a:rPr lang="en-US" sz="2800" err="1"/>
              <a:t>traduction</a:t>
            </a:r>
            <a:endParaRPr lang="en-US" sz="2800" err="1">
              <a:cs typeface="Arial"/>
            </a:endParaRPr>
          </a:p>
        </p:txBody>
      </p:sp>
      <p:pic>
        <p:nvPicPr>
          <p:cNvPr id="4" name="Picture 3" descr="mains.jpg"/>
          <p:cNvPicPr>
            <a:picLocks noChangeAspect="1"/>
          </p:cNvPicPr>
          <p:nvPr/>
        </p:nvPicPr>
        <p:blipFill>
          <a:blip r:embed="rId6"/>
          <a:stretch>
            <a:fillRect/>
          </a:stretch>
        </p:blipFill>
        <p:spPr>
          <a:xfrm>
            <a:off x="6094766" y="1900112"/>
            <a:ext cx="4651619" cy="3058439"/>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22" name="Rectangle 21">
            <a:extLst>
              <a:ext uri="{FF2B5EF4-FFF2-40B4-BE49-F238E27FC236}">
                <a16:creationId xmlns:a16="http://schemas.microsoft.com/office/drawing/2014/main" id="{06858379-D070-40E4-8A3D-F29E90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965263" y="6053328"/>
            <a:ext cx="2605200" cy="246221"/>
          </a:xfrm>
          <a:prstGeom prst="rect">
            <a:avLst/>
          </a:prstGeom>
          <a:noFill/>
        </p:spPr>
        <p:txBody>
          <a:bodyPr wrap="none">
            <a:spAutoFit/>
          </a:bodyPr>
          <a:lstStyle/>
          <a:p>
            <a:pPr algn="r">
              <a:spcAft>
                <a:spcPts val="600"/>
              </a:spcAft>
            </a:pPr>
            <a:r>
              <a:rPr sz="1000" i="1">
                <a:solidFill>
                  <a:srgbClr val="93A79C"/>
                </a:solidFill>
              </a:rPr>
              <a:t>Photo d'illustration : Unsplash, licence libre</a:t>
            </a:r>
            <a:endParaRPr lang="en-US" sz="1000" i="1">
              <a:solidFill>
                <a:srgbClr val="93A79C"/>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a:extLst>
              <a:ext uri="{FF2B5EF4-FFF2-40B4-BE49-F238E27FC236}">
                <a16:creationId xmlns:a16="http://schemas.microsoft.com/office/drawing/2014/main" id="{D377EE36-E59D-4778-8F99-4B470DA4A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id="{2586C6C5-47AF-450A-932D-880EF823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1" name="TextBox 20">
            <a:extLst>
              <a:ext uri="{FF2B5EF4-FFF2-40B4-BE49-F238E27FC236}">
                <a16:creationId xmlns:a16="http://schemas.microsoft.com/office/drawing/2014/main" id="{A587901A-AA64-4940-9803-F6767785115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4DA9E8CC-6C73-43E6-AF09-B4B1083BC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DFF5FD-BEF9-4B06-B7C2-58C5CFC92B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C9A18D1D-88E7-41EF-892F-C99BDEEE5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113E1A2F-E5D7-4888-BA8C-1CDDC7CE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25649A-4F9D-4D90-8F0A-433D7A1F6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74254" y="5166421"/>
            <a:ext cx="8445357" cy="883524"/>
          </a:xfrm>
        </p:spPr>
        <p:txBody>
          <a:bodyPr vert="horz" lIns="91440" tIns="45720" rIns="91440" bIns="45720" rtlCol="0" anchor="t">
            <a:normAutofit/>
          </a:bodyPr>
          <a:lstStyle/>
          <a:p>
            <a:r>
              <a:rPr lang="en-US" sz="3700"/>
              <a:t>Une expertise qui ne se découpe pas</a:t>
            </a:r>
          </a:p>
        </p:txBody>
      </p:sp>
      <p:sp>
        <p:nvSpPr>
          <p:cNvPr id="33" name="Rectangle 32">
            <a:extLst>
              <a:ext uri="{FF2B5EF4-FFF2-40B4-BE49-F238E27FC236}">
                <a16:creationId xmlns:a16="http://schemas.microsoft.com/office/drawing/2014/main" id="{B6F31202-25B1-43E6-94C1-CDCAFFE33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expertise_holistique.png"/>
          <p:cNvPicPr>
            <a:picLocks noGrp="1" noChangeAspect="1"/>
          </p:cNvPicPr>
          <p:nvPr>
            <p:ph idx="1"/>
          </p:nvPr>
        </p:nvPicPr>
        <p:blipFill>
          <a:blip r:embed="rId6"/>
          <a:srcRect t="2749" r="-1" b="172"/>
          <a:stretch>
            <a:fillRect/>
          </a:stretch>
        </p:blipFill>
        <p:spPr>
          <a:xfrm>
            <a:off x="1005401" y="-1"/>
            <a:ext cx="10380133" cy="4030679"/>
          </a:xfrm>
          <a:prstGeom prst="rect">
            <a:avLst/>
          </a:prstGeom>
          <a:ln>
            <a:solidFill>
              <a:schemeClr val="accent6"/>
            </a:solidFill>
          </a:ln>
        </p:spPr>
      </p:pic>
      <p:sp>
        <p:nvSpPr>
          <p:cNvPr id="35" name="Rectangle 34">
            <a:extLst>
              <a:ext uri="{FF2B5EF4-FFF2-40B4-BE49-F238E27FC236}">
                <a16:creationId xmlns:a16="http://schemas.microsoft.com/office/drawing/2014/main" id="{588507C5-B772-411D-B50E-0C075AD25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AD17B9-9E6C-4DD1-9728-97B5E5FC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ureau.jpg"/>
          <p:cNvPicPr>
            <a:picLocks noChangeAspect="1"/>
          </p:cNvPicPr>
          <p:nvPr/>
        </p:nvPicPr>
        <p:blipFill>
          <a:blip r:embed="rId3">
            <a:duotone>
              <a:schemeClr val="bg2">
                <a:shade val="45000"/>
                <a:satMod val="135000"/>
              </a:schemeClr>
              <a:prstClr val="white"/>
            </a:duotone>
            <a:alphaModFix amt="25000"/>
          </a:blip>
          <a:srcRect r="-1" b="15728"/>
          <a:stretch>
            <a:fillRect/>
          </a:stretch>
        </p:blipFill>
        <p:spPr>
          <a:xfrm>
            <a:off x="153" y="10"/>
            <a:ext cx="12191695" cy="6857990"/>
          </a:xfrm>
          <a:prstGeom prst="rect">
            <a:avLst/>
          </a:prstGeom>
        </p:spPr>
      </p:pic>
      <p:pic>
        <p:nvPicPr>
          <p:cNvPr id="14" name="Picture 13">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2" name="Title 1"/>
          <p:cNvSpPr>
            <a:spLocks noGrp="1"/>
          </p:cNvSpPr>
          <p:nvPr>
            <p:ph type="title"/>
          </p:nvPr>
        </p:nvSpPr>
        <p:spPr>
          <a:xfrm>
            <a:off x="2611808" y="808056"/>
            <a:ext cx="7958331" cy="1077229"/>
          </a:xfrm>
        </p:spPr>
        <p:txBody>
          <a:bodyPr>
            <a:normAutofit/>
          </a:bodyPr>
          <a:lstStyle/>
          <a:p>
            <a:pPr algn="l"/>
            <a:r>
              <a:t>Mon projet professionnel</a:t>
            </a:r>
            <a:endParaRPr lang="en-US"/>
          </a:p>
        </p:txBody>
      </p:sp>
      <p:sp>
        <p:nvSpPr>
          <p:cNvPr id="16" name="Rectangle 15">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2">
            <a:extLst>
              <a:ext uri="{FF2B5EF4-FFF2-40B4-BE49-F238E27FC236}">
                <a16:creationId xmlns:a16="http://schemas.microsoft.com/office/drawing/2014/main" id="{932D2582-9A42-DFD9-E2DF-E936EE36D189}"/>
              </a:ext>
            </a:extLst>
          </p:cNvPr>
          <p:cNvGraphicFramePr>
            <a:graphicFrameLocks noGrp="1"/>
          </p:cNvGraphicFramePr>
          <p:nvPr>
            <p:ph idx="1"/>
          </p:nvPr>
        </p:nvGraphicFramePr>
        <p:xfrm>
          <a:off x="2610579" y="2052116"/>
          <a:ext cx="7959560" cy="399782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TextBox 4"/>
          <p:cNvSpPr txBox="1"/>
          <p:nvPr/>
        </p:nvSpPr>
        <p:spPr>
          <a:xfrm>
            <a:off x="7965263" y="6053328"/>
            <a:ext cx="2605200" cy="246221"/>
          </a:xfrm>
          <a:prstGeom prst="rect">
            <a:avLst/>
          </a:prstGeom>
          <a:noFill/>
        </p:spPr>
        <p:txBody>
          <a:bodyPr wrap="none">
            <a:spAutoFit/>
          </a:bodyPr>
          <a:lstStyle/>
          <a:p>
            <a:pPr algn="r">
              <a:spcAft>
                <a:spcPts val="600"/>
              </a:spcAft>
            </a:pPr>
            <a:r>
              <a:rPr sz="1000" i="1">
                <a:solidFill>
                  <a:srgbClr val="93A79C"/>
                </a:solidFill>
              </a:rPr>
              <a:t>Photo d'illustration : Unsplash, licence libre</a:t>
            </a:r>
            <a:endParaRPr lang="en-US" sz="1000" i="1">
              <a:solidFill>
                <a:srgbClr val="93A79C"/>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0294F1-7EE2-4EB9-A41B-908481D40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2"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3968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2611808" y="808056"/>
            <a:ext cx="7958331" cy="1077229"/>
          </a:xfrm>
        </p:spPr>
        <p:txBody>
          <a:bodyPr>
            <a:normAutofit/>
          </a:bodyPr>
          <a:lstStyle/>
          <a:p>
            <a:pPr algn="l"/>
            <a:r>
              <a:t>Retour à la problématique</a:t>
            </a:r>
            <a:endParaRPr lang="en-US"/>
          </a:p>
        </p:txBody>
      </p:sp>
      <p:graphicFrame>
        <p:nvGraphicFramePr>
          <p:cNvPr id="5" name="Content Placeholder 2">
            <a:extLst>
              <a:ext uri="{FF2B5EF4-FFF2-40B4-BE49-F238E27FC236}">
                <a16:creationId xmlns:a16="http://schemas.microsoft.com/office/drawing/2014/main" id="{9D2AAE4F-481E-1AFD-2E04-85BA2B86E75E}"/>
              </a:ext>
            </a:extLst>
          </p:cNvPr>
          <p:cNvGraphicFramePr>
            <a:graphicFrameLocks noGrp="1"/>
          </p:cNvGraphicFramePr>
          <p:nvPr>
            <p:ph idx="1"/>
            <p:extLst>
              <p:ext uri="{D42A27DB-BD31-4B8C-83A1-F6EECF244321}">
                <p14:modId xmlns:p14="http://schemas.microsoft.com/office/powerpoint/2010/main" val="3853079405"/>
              </p:ext>
            </p:extLst>
          </p:nvPr>
        </p:nvGraphicFramePr>
        <p:xfrm>
          <a:off x="2611807" y="2367883"/>
          <a:ext cx="7958331" cy="3366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jpg"/>
          <p:cNvPicPr>
            <a:picLocks noChangeAspect="1"/>
          </p:cNvPicPr>
          <p:nvPr/>
        </p:nvPicPr>
        <p:blipFill>
          <a:blip r:embed="rId4">
            <a:duotone>
              <a:schemeClr val="bg2">
                <a:shade val="45000"/>
                <a:satMod val="135000"/>
              </a:schemeClr>
              <a:prstClr val="white"/>
            </a:duotone>
          </a:blip>
          <a:srcRect t="13172" r="-1" b="11826"/>
          <a:stretch>
            <a:fillRect/>
          </a:stretch>
        </p:blipFill>
        <p:spPr>
          <a:xfrm>
            <a:off x="20" y="227"/>
            <a:ext cx="12191675" cy="6858000"/>
          </a:xfrm>
          <a:prstGeom prst="rect">
            <a:avLst/>
          </a:prstGeom>
        </p:spPr>
      </p:pic>
      <p:pic>
        <p:nvPicPr>
          <p:cNvPr id="11" name="Picture 10">
            <a:extLst>
              <a:ext uri="{FF2B5EF4-FFF2-40B4-BE49-F238E27FC236}">
                <a16:creationId xmlns:a16="http://schemas.microsoft.com/office/drawing/2014/main" id="{967F5611-5230-4249-948C-9599F8622A9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alphaModFix/>
            <a:extLst>
              <a:ext uri="{28A0092B-C50C-407E-A947-70E740481C1C}">
                <a14:useLocalDpi xmlns:a14="http://schemas.microsoft.com/office/drawing/2010/main" val="0"/>
              </a:ext>
            </a:extLst>
          </a:blip>
          <a:stretch>
            <a:fillRect/>
          </a:stretch>
        </p:blipFill>
        <p:spPr>
          <a:xfrm>
            <a:off x="-1828" y="0"/>
            <a:ext cx="12189867" cy="6858000"/>
          </a:xfrm>
          <a:prstGeom prst="rect">
            <a:avLst/>
          </a:prstGeom>
        </p:spPr>
      </p:pic>
      <p:sp>
        <p:nvSpPr>
          <p:cNvPr id="15" name="Rectangle 14">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28DF289-3FA7-47B8-A823-7F7292C92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12665" y="1170913"/>
            <a:ext cx="7958331" cy="1077229"/>
          </a:xfrm>
        </p:spPr>
        <p:txBody>
          <a:bodyPr>
            <a:normAutofit/>
          </a:bodyPr>
          <a:lstStyle/>
          <a:p>
            <a:pPr algn="ctr"/>
            <a:r>
              <a:rPr sz="4800"/>
              <a:t>Merci de </a:t>
            </a:r>
            <a:r>
              <a:rPr sz="4800" err="1"/>
              <a:t>votre</a:t>
            </a:r>
            <a:r>
              <a:rPr sz="4800"/>
              <a:t> attention</a:t>
            </a:r>
            <a:endParaRPr lang="en-US" sz="4800">
              <a:cs typeface="Arial" panose="020B0604020202020204"/>
            </a:endParaRPr>
          </a:p>
        </p:txBody>
      </p:sp>
      <p:sp>
        <p:nvSpPr>
          <p:cNvPr id="3" name="Content Placeholder 2"/>
          <p:cNvSpPr>
            <a:spLocks noGrp="1"/>
          </p:cNvSpPr>
          <p:nvPr>
            <p:ph idx="1"/>
          </p:nvPr>
        </p:nvSpPr>
        <p:spPr>
          <a:xfrm>
            <a:off x="1572808" y="2102915"/>
            <a:ext cx="9251331" cy="3954286"/>
          </a:xfrm>
        </p:spPr>
        <p:txBody>
          <a:bodyPr>
            <a:normAutofit/>
          </a:bodyPr>
          <a:lstStyle/>
          <a:p>
            <a:pPr marL="0" indent="0">
              <a:buNone/>
            </a:pPr>
            <a:r>
              <a:rPr lang="en-US" sz="3200"/>
              <a:t>« </a:t>
            </a:r>
            <a:r>
              <a:rPr lang="en-US" sz="3200" err="1"/>
              <a:t>L'avion</a:t>
            </a:r>
            <a:r>
              <a:rPr lang="en-US" sz="3200"/>
              <a:t> </a:t>
            </a:r>
            <a:r>
              <a:rPr lang="en-US" sz="3200" err="1"/>
              <a:t>n'est</a:t>
            </a:r>
            <a:r>
              <a:rPr lang="en-US" sz="3200"/>
              <a:t> pas un but, </a:t>
            </a:r>
            <a:r>
              <a:rPr lang="en-US" sz="3200" err="1"/>
              <a:t>c'est</a:t>
            </a:r>
            <a:r>
              <a:rPr lang="en-US" sz="3200"/>
              <a:t> un </a:t>
            </a:r>
            <a:r>
              <a:rPr lang="en-US" sz="3200" err="1"/>
              <a:t>outil</a:t>
            </a:r>
            <a:r>
              <a:rPr lang="en-US" sz="3200"/>
              <a:t>.</a:t>
            </a:r>
            <a:endParaRPr lang="en-US"/>
          </a:p>
          <a:p>
            <a:pPr marL="0" indent="0">
              <a:buNone/>
            </a:pPr>
            <a:r>
              <a:rPr lang="en-US" sz="3200"/>
              <a:t>Un </a:t>
            </a:r>
            <a:r>
              <a:rPr lang="en-US" sz="3200" err="1"/>
              <a:t>outil</a:t>
            </a:r>
            <a:r>
              <a:rPr lang="en-US" sz="3200"/>
              <a:t> </a:t>
            </a:r>
            <a:r>
              <a:rPr lang="en-US" sz="3200" err="1"/>
              <a:t>comme</a:t>
            </a:r>
            <a:r>
              <a:rPr lang="en-US" sz="3200"/>
              <a:t> la </a:t>
            </a:r>
            <a:r>
              <a:rPr lang="en-US" sz="3200" err="1"/>
              <a:t>charrue</a:t>
            </a:r>
            <a:r>
              <a:rPr lang="en-US" sz="3200"/>
              <a:t>. »</a:t>
            </a:r>
            <a:endParaRPr lang="en-US"/>
          </a:p>
          <a:p>
            <a:pPr marL="0" indent="0">
              <a:buNone/>
            </a:pPr>
            <a:r>
              <a:rPr lang="en-US"/>
              <a:t>Antoine de Saint-Exupéry, Terre des hommes, 1939</a:t>
            </a:r>
            <a:endParaRPr lang="en-US">
              <a:cs typeface="Arial" panose="020B0604020202020204"/>
            </a:endParaRPr>
          </a:p>
        </p:txBody>
      </p:sp>
      <p:sp>
        <p:nvSpPr>
          <p:cNvPr id="21" name="Rectangle 20">
            <a:extLst>
              <a:ext uri="{FF2B5EF4-FFF2-40B4-BE49-F238E27FC236}">
                <a16:creationId xmlns:a16="http://schemas.microsoft.com/office/drawing/2014/main" id="{EEA9B471-D6E2-406D-878F-E931B0D7E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CE6BFA1-000D-F0E9-9D19-996FA5CF97A1}"/>
              </a:ext>
            </a:extLst>
          </p:cNvPr>
          <p:cNvPicPr>
            <a:picLocks noChangeAspect="1"/>
          </p:cNvPicPr>
          <p:nvPr/>
        </p:nvPicPr>
        <p:blipFill>
          <a:blip r:embed="rId7"/>
          <a:stretch>
            <a:fillRect/>
          </a:stretch>
        </p:blipFill>
        <p:spPr>
          <a:xfrm>
            <a:off x="9049204" y="3842203"/>
            <a:ext cx="2751365" cy="274410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useBgFill="1">
        <p:nvSpPr>
          <p:cNvPr id="10" name="Rectangle 9">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3" y="-1"/>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FCFF961-4E84-4FD1-859C-B7F410031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793" y="0"/>
            <a:ext cx="4632503" cy="6858000"/>
          </a:xfrm>
          <a:prstGeom prst="rect">
            <a:avLst/>
          </a:prstGeom>
        </p:spPr>
      </p:pic>
      <p:sp>
        <p:nvSpPr>
          <p:cNvPr id="2" name="Title 1"/>
          <p:cNvSpPr>
            <a:spLocks noGrp="1"/>
          </p:cNvSpPr>
          <p:nvPr>
            <p:ph type="title"/>
          </p:nvPr>
        </p:nvSpPr>
        <p:spPr>
          <a:xfrm>
            <a:off x="1389300" y="1201723"/>
            <a:ext cx="2888120" cy="4454554"/>
          </a:xfrm>
        </p:spPr>
        <p:txBody>
          <a:bodyPr anchor="ctr">
            <a:normAutofit/>
          </a:bodyPr>
          <a:lstStyle/>
          <a:p>
            <a:r>
              <a:rPr lang="en-US" sz="3600"/>
              <a:t>Annexes</a:t>
            </a:r>
          </a:p>
        </p:txBody>
      </p:sp>
      <p:sp>
        <p:nvSpPr>
          <p:cNvPr id="14" name="Rectangle 13">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6" name="Rectangle 15">
            <a:extLst>
              <a:ext uri="{FF2B5EF4-FFF2-40B4-BE49-F238E27FC236}">
                <a16:creationId xmlns:a16="http://schemas.microsoft.com/office/drawing/2014/main" id="{DF737BB4-6553-47A8-893F-178A10C6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3" name="Content Placeholder 2"/>
          <p:cNvSpPr>
            <a:spLocks noGrp="1"/>
          </p:cNvSpPr>
          <p:nvPr>
            <p:ph idx="1"/>
          </p:nvPr>
        </p:nvSpPr>
        <p:spPr>
          <a:xfrm>
            <a:off x="5329969" y="647750"/>
            <a:ext cx="5850936" cy="5571066"/>
          </a:xfrm>
        </p:spPr>
        <p:txBody>
          <a:bodyPr anchor="ctr">
            <a:normAutofit/>
          </a:bodyPr>
          <a:lstStyle/>
          <a:p>
            <a:pPr marL="344170" indent="-344170"/>
            <a:r>
              <a:rPr sz="1800"/>
              <a:t>Un extrait de </a:t>
            </a:r>
            <a:r>
              <a:rPr lang="en-US" sz="1800"/>
              <a:t>scénario</a:t>
            </a:r>
            <a:r>
              <a:rPr sz="1800"/>
              <a:t> Gherkin </a:t>
            </a:r>
            <a:r>
              <a:rPr lang="en-US" sz="1800"/>
              <a:t>complet</a:t>
            </a:r>
            <a:endParaRPr lang="en-US" sz="1800">
              <a:cs typeface="Arial"/>
            </a:endParaRPr>
          </a:p>
          <a:p>
            <a:pPr marL="344170" indent="-344170"/>
            <a:r>
              <a:rPr sz="1800"/>
              <a:t>Les 5 </a:t>
            </a:r>
            <a:r>
              <a:rPr lang="en-US" sz="1800"/>
              <a:t> workflows et</a:t>
            </a:r>
            <a:r>
              <a:rPr sz="1800"/>
              <a:t> 16 </a:t>
            </a:r>
            <a:r>
              <a:rPr lang="en-US" sz="1800"/>
              <a:t>steps du</a:t>
            </a:r>
            <a:r>
              <a:rPr sz="1800"/>
              <a:t> </a:t>
            </a:r>
            <a:r>
              <a:rPr lang="en-US" sz="1800"/>
              <a:t>SUN set test auto</a:t>
            </a:r>
            <a:endParaRPr lang="en-US" sz="1800">
              <a:cs typeface="Arial"/>
            </a:endParaRPr>
          </a:p>
          <a:p>
            <a:pPr marL="344170" indent="-344170"/>
            <a:r>
              <a:rPr sz="1800"/>
              <a:t>Le </a:t>
            </a:r>
            <a:r>
              <a:rPr lang="en-US" sz="1800"/>
              <a:t>bilan</a:t>
            </a:r>
            <a:r>
              <a:rPr sz="1800"/>
              <a:t> de PoC </a:t>
            </a:r>
            <a:r>
              <a:rPr lang="en-US" sz="1800"/>
              <a:t>d'avril</a:t>
            </a:r>
            <a:r>
              <a:rPr sz="1800"/>
              <a:t> 2024</a:t>
            </a:r>
            <a:endParaRPr sz="1800">
              <a:cs typeface="Arial"/>
            </a:endParaRPr>
          </a:p>
          <a:p>
            <a:pPr marL="344170" indent="-344170"/>
            <a:r>
              <a:rPr lang="en-US" sz="1800"/>
              <a:t>Comparatif</a:t>
            </a:r>
            <a:r>
              <a:rPr sz="1800"/>
              <a:t> DUO ESS / USO</a:t>
            </a:r>
            <a:endParaRPr sz="1800">
              <a:cs typeface="Arial"/>
            </a:endParaRPr>
          </a:p>
          <a:p>
            <a:pPr marL="344170" indent="-344170"/>
            <a:r>
              <a:rPr lang="en-US" sz="1800"/>
              <a:t>Glossaire</a:t>
            </a:r>
            <a:r>
              <a:rPr sz="1800"/>
              <a:t> et sources</a:t>
            </a:r>
            <a:endParaRPr sz="1800">
              <a:cs typeface="Arial"/>
            </a:endParaRPr>
          </a:p>
          <a:p>
            <a:pPr marL="344170" indent="-344170"/>
            <a:r>
              <a:rPr lang="en-US" sz="1800">
                <a:cs typeface="Arial"/>
              </a:rPr>
              <a:t>Accessible sur </a:t>
            </a:r>
            <a:r>
              <a:rPr lang="en-US" sz="1800">
                <a:ea typeface="+mn-lt"/>
                <a:cs typeface="+mn-lt"/>
              </a:rPr>
              <a:t>https://alexyvanot.fr/blog/soutenance-esiea-20260723</a:t>
            </a:r>
            <a:endParaRPr lang="en-US" sz="1800">
              <a:cs typeface="Arial"/>
            </a:endParaRPr>
          </a:p>
        </p:txBody>
      </p:sp>
    </p:spTree>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2013 - 2022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{6F157846-654D-40F2-B45A-22D140DDF5B1}TF37254b02-f5b5-44b0-803d-e6af9466a024d8712c6d-28d3f990fef7</Template>
  <TotalTime>0</TotalTime>
  <Words>7450</Words>
  <Application>Microsoft Office PowerPoint</Application>
  <PresentationFormat>Grand écran</PresentationFormat>
  <Paragraphs>444</Paragraphs>
  <Slides>49</Slides>
  <Notes>47</Notes>
  <HiddenSlides>0</HiddenSlides>
  <MMClips>0</MMClips>
  <ScaleCrop>false</ScaleCrop>
  <HeadingPairs>
    <vt:vector size="4" baseType="variant">
      <vt:variant>
        <vt:lpstr>Thème</vt:lpstr>
      </vt:variant>
      <vt:variant>
        <vt:i4>1</vt:i4>
      </vt:variant>
      <vt:variant>
        <vt:lpstr>Titres des diapositives</vt:lpstr>
      </vt:variant>
      <vt:variant>
        <vt:i4>49</vt:i4>
      </vt:variant>
    </vt:vector>
  </HeadingPairs>
  <TitlesOfParts>
    <vt:vector size="50" baseType="lpstr">
      <vt:lpstr>Madison</vt:lpstr>
      <vt:lpstr>Le code comme levier de sobriété et de responsabilité</vt:lpstr>
      <vt:lpstr>Le numérique n'est pas immatériel</vt:lpstr>
      <vt:lpstr>Problématique</vt:lpstr>
      <vt:lpstr>Sommaire</vt:lpstr>
      <vt:lpstr>Le Synchrotron SOLEIL</vt:lpstr>
      <vt:lpstr>Le Synchrotron SOLEIL</vt:lpstr>
      <vt:lpstr>Présentation PowerPoint</vt:lpstr>
      <vt:lpstr>Présentation PowerPoint</vt:lpstr>
      <vt:lpstr>Présentation PowerPoint</vt:lpstr>
      <vt:lpstr>Le groupe ISG</vt:lpstr>
      <vt:lpstr>SUNset : la porte d'entrée de la science</vt:lpstr>
      <vt:lpstr>I.  Le socle technique</vt:lpstr>
      <vt:lpstr>A.  Mes compétences techniques</vt:lpstr>
      <vt:lpstr>Le diagnostic : une base fragile</vt:lpstr>
      <vt:lpstr>Le hackathon : repartir proprement</vt:lpstr>
      <vt:lpstr>B.  L'exigence de qualité : écrire les tests en français</vt:lpstr>
      <vt:lpstr>Un rapport qui se lit et s'interprête</vt:lpstr>
      <vt:lpstr>La chaîne d'intégration continue</vt:lpstr>
      <vt:lpstr>Ce que les tests attrapent vraiment</vt:lpstr>
      <vt:lpstr>Les faux positifs : la rigueur d'un outil</vt:lpstr>
      <vt:lpstr>Un principe, pas une exception</vt:lpstr>
      <vt:lpstr>II.  La dimension humaine</vt:lpstr>
      <vt:lpstr>A.  Analyse du besoin : des besoins qui se contredisent</vt:lpstr>
      <vt:lpstr>Du besoin exprimé au besoin réel</vt:lpstr>
      <vt:lpstr>B.  Gestion de projet : du séquentiel à l'itératif</vt:lpstr>
      <vt:lpstr>Parler d'architecture à chaque niveau</vt:lpstr>
      <vt:lpstr>C.  Projet d'interconnexion : ce qui nous relie</vt:lpstr>
      <vt:lpstr>Le désaccord comme méthode</vt:lpstr>
      <vt:lpstr>On n'est jamais seul</vt:lpstr>
      <vt:lpstr>Le besoin mal compris, un gaspillage documenté</vt:lpstr>
      <vt:lpstr>III.  Arbitrer et décider</vt:lpstr>
      <vt:lpstr>La question qu'on m'a confiée</vt:lpstr>
      <vt:lpstr>Chercher avant de construire</vt:lpstr>
      <vt:lpstr>Les deux candidats : DUO ESS et USO</vt:lpstr>
      <vt:lpstr>Ne pas construire est aussi un livrable</vt:lpstr>
      <vt:lpstr>Quatre grilles pour décider</vt:lpstr>
      <vt:lpstr>Les limites de ma position</vt:lpstr>
      <vt:lpstr>Ce choix, multiplié par cent laboratoires</vt:lpstr>
      <vt:lpstr>IV.  Une approche durable</vt:lpstr>
      <vt:lpstr>A.  Sobriété numérique : où va réellement l'impact</vt:lpstr>
      <vt:lpstr>Les leviers à l'échelle du développeur</vt:lpstr>
      <vt:lpstr>B.  L'approche cyclique</vt:lpstr>
      <vt:lpstr>Mes actions, relues sous cet angle</vt:lpstr>
      <vt:lpstr>Mes leçons apprises : La technique seule ne suffit pas</vt:lpstr>
      <vt:lpstr>Une expertise qui ne se découpe pas</vt:lpstr>
      <vt:lpstr>Mon projet professionnel</vt:lpstr>
      <vt:lpstr>Retour à la problématique</vt:lpstr>
      <vt:lpstr>Merci de votre attention</vt:lpstr>
      <vt:lpstr>Annexes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Alexy VANOT</dc:creator>
  <cp:lastModifiedBy>Alexy VANOT</cp:lastModifiedBy>
  <cp:revision>3</cp:revision>
  <dcterms:created xsi:type="dcterms:W3CDTF">2026-07-22T14:49:19Z</dcterms:created>
  <dcterms:modified xsi:type="dcterms:W3CDTF">2026-07-23T13:34:40Z</dcterms:modified>
</cp:coreProperties>
</file>